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9" r:id="rId4"/>
    <p:sldId id="258" r:id="rId5"/>
    <p:sldId id="263" r:id="rId6"/>
    <p:sldId id="262" r:id="rId7"/>
    <p:sldId id="264" r:id="rId8"/>
    <p:sldId id="265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27633337-DFFB-F922-ED63-15FB70A64B06}" name="Yonatan Orpeli" initials="YO" userId="S::yonatanorp@payoneer.com::82e52340-107c-412d-b13a-636431b9d36f" providerId="AD"/>
  <p188:author id="{8D2C5E87-E21B-12DE-16A8-31EDBCEE3C37}" name="Elad Schnarch" initials="ES" userId="S::eladsc@payoneer.com::c8211b92-c2c3-4040-ba73-40fcc850075d" providerId="AD"/>
  <p188:author id="{47925B97-AB38-487E-CD61-CA1383A77681}" name="Shilhav Ben-David" initials="" userId="S::shilhavbe@payoneer.com::fdeebf4e-21d5-427a-847e-cfc4e1df1fea" providerId="AD"/>
  <p188:author id="{CB3EEDAA-83E7-D62A-1BCC-0ECD9807FA09}" name="Yonatan Orpeli" initials="YO" userId="b70e888fc50a17c9" providerId="Windows Live"/>
  <p188:author id="{655FFDF9-C05E-F69D-E7FF-A889B8A13265}" name="Ido Seter" initials="" userId="S::idoset@payoneer.com::f3df1190-9caf-417a-82b7-f87c8e8a21c3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8F6FB"/>
    <a:srgbClr val="EDE9FE"/>
    <a:srgbClr val="6D28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20" d="100"/>
          <a:sy n="120" d="100"/>
        </p:scale>
        <p:origin x="800" y="18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8/10/relationships/authors" Target="author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15891A2-5CC1-FA4A-A960-8B123911D515}" type="datetimeFigureOut">
              <a:rPr lang="en-US" smtClean="0"/>
              <a:t>6/3/26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7969661-A26C-D946-B9B2-9682678C18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85846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algn="r" defTabSz="914400" rtl="1" eaLnBrk="1" latinLnBrk="0" hangingPunct="1"/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969661-A26C-D946-B9B2-9682678C189A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58638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640079" y="5873116"/>
            <a:ext cx="836295" cy="45719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venir Next LT Pro" panose="020B0504020202020204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09600" y="2674947"/>
            <a:ext cx="10972800" cy="15081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5800" b="1" dirty="0">
                <a:solidFill>
                  <a:srgbClr val="0F1419"/>
                </a:solidFill>
                <a:latin typeface="Avenir Next LT Pro" panose="020B0504020202020204" pitchFamily="34" charset="0"/>
              </a:rPr>
              <a:t>Agentic KYC</a:t>
            </a:r>
          </a:p>
          <a:p>
            <a:pPr algn="l">
              <a:lnSpc>
                <a:spcPct val="100000"/>
              </a:lnSpc>
            </a:pPr>
            <a:r>
              <a:rPr lang="en-US" sz="4000" dirty="0">
                <a:solidFill>
                  <a:srgbClr val="0F1419"/>
                </a:solidFill>
                <a:latin typeface="Avenir Next LT Pro" panose="020B0504020202020204" pitchFamily="34" charset="0"/>
              </a:rPr>
              <a:t>Quick Peek</a:t>
            </a:r>
            <a:endParaRPr lang="en-US" sz="5800" dirty="0">
              <a:solidFill>
                <a:srgbClr val="0F1419"/>
              </a:solidFill>
              <a:latin typeface="Avenir Next LT Pro" panose="020B0504020202020204" pitchFamily="34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40080" y="6080760"/>
            <a:ext cx="5486400" cy="1872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sz="1100" b="0" dirty="0">
                <a:solidFill>
                  <a:srgbClr val="5C6166"/>
                </a:solidFill>
                <a:latin typeface="Avenir Next LT Pro" panose="020B0504020202020204" pitchFamily="34" charset="0"/>
              </a:rPr>
              <a:t>June 2</a:t>
            </a:r>
            <a:r>
              <a:rPr lang="en-US" sz="1100" b="0" baseline="30000" dirty="0">
                <a:solidFill>
                  <a:srgbClr val="5C6166"/>
                </a:solidFill>
                <a:latin typeface="Avenir Next LT Pro" panose="020B0504020202020204" pitchFamily="34" charset="0"/>
              </a:rPr>
              <a:t>nd</a:t>
            </a:r>
            <a:r>
              <a:rPr lang="en-US" sz="1100" b="0" dirty="0">
                <a:solidFill>
                  <a:srgbClr val="5C6166"/>
                </a:solidFill>
                <a:latin typeface="Avenir Next LT Pro" panose="020B0504020202020204" pitchFamily="34" charset="0"/>
              </a:rPr>
              <a:t> 2026</a:t>
            </a:r>
            <a:endParaRPr sz="1100" b="0" dirty="0">
              <a:solidFill>
                <a:srgbClr val="5C6166"/>
              </a:solidFill>
              <a:latin typeface="Avenir Next LT Pro" panose="020B0504020202020204" pitchFamily="34" charset="0"/>
            </a:endParaRPr>
          </a:p>
        </p:txBody>
      </p:sp>
      <p:sp>
        <p:nvSpPr>
          <p:cNvPr id="2" name="AutoShape 2">
            <a:extLst>
              <a:ext uri="{FF2B5EF4-FFF2-40B4-BE49-F238E27FC236}">
                <a16:creationId xmlns:a16="http://schemas.microsoft.com/office/drawing/2014/main" id="{76D8CAED-07BE-F32D-BAD9-4B9E7E8AEF6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25B1D388-8226-0DFB-70A1-D0CA3EFDF7E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543" b="1284"/>
          <a:stretch>
            <a:fillRect/>
          </a:stretch>
        </p:blipFill>
        <p:spPr>
          <a:xfrm>
            <a:off x="6722745" y="3429"/>
            <a:ext cx="5469255" cy="685457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0E660F5-104F-84A7-AC36-98369ECF3AEB}"/>
              </a:ext>
            </a:extLst>
          </p:cNvPr>
          <p:cNvSpPr txBox="1"/>
          <p:nvPr/>
        </p:nvSpPr>
        <p:spPr>
          <a:xfrm>
            <a:off x="609600" y="5523960"/>
            <a:ext cx="5486400" cy="1872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sz="1100" dirty="0">
                <a:solidFill>
                  <a:srgbClr val="5C6166"/>
                </a:solidFill>
                <a:latin typeface="Avenir Next LT Pro" panose="020B0504020202020204" pitchFamily="34" charset="0"/>
              </a:rPr>
              <a:t>CLM</a:t>
            </a:r>
            <a:endParaRPr sz="1100" b="0" dirty="0">
              <a:solidFill>
                <a:srgbClr val="5C6166"/>
              </a:solidFill>
              <a:latin typeface="Avenir Next LT Pro" panose="020B05040202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ounded Rectangle 5">
            <a:extLst>
              <a:ext uri="{FF2B5EF4-FFF2-40B4-BE49-F238E27FC236}">
                <a16:creationId xmlns:a16="http://schemas.microsoft.com/office/drawing/2014/main" id="{4BFD9206-0F7B-ACC0-FCAC-F7F812ECA6E4}"/>
              </a:ext>
            </a:extLst>
          </p:cNvPr>
          <p:cNvSpPr/>
          <p:nvPr/>
        </p:nvSpPr>
        <p:spPr>
          <a:xfrm>
            <a:off x="3469174" y="2796926"/>
            <a:ext cx="2697480" cy="203911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venir Next LT Pro" panose="020B0504020202020204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640080" y="777240"/>
            <a:ext cx="411480" cy="36576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venir Next LT Pro" panose="020B0504020202020204" pitchFamily="34" charset="0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10820095" y="6446520"/>
            <a:ext cx="914400" cy="1551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5C6166"/>
                </a:solidFill>
                <a:latin typeface="Avenir Next LT Pro" panose="020B0504020202020204" pitchFamily="34" charset="0"/>
              </a:rPr>
              <a:t>2 / </a:t>
            </a:r>
            <a:r>
              <a:rPr lang="en-US" sz="900" b="0">
                <a:solidFill>
                  <a:srgbClr val="5C6166"/>
                </a:solidFill>
                <a:latin typeface="Avenir Next LT Pro" panose="020B0504020202020204" pitchFamily="34" charset="0"/>
              </a:rPr>
              <a:t>7</a:t>
            </a:r>
            <a:endParaRPr sz="900" b="0">
              <a:solidFill>
                <a:srgbClr val="5C6166"/>
              </a:solidFill>
              <a:latin typeface="Avenir Next LT Pro" panose="020B0504020202020204" pitchFamily="34" charset="0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4349C7C0-E48B-708C-8784-BFE01B57C4BC}"/>
              </a:ext>
            </a:extLst>
          </p:cNvPr>
          <p:cNvSpPr txBox="1"/>
          <p:nvPr/>
        </p:nvSpPr>
        <p:spPr>
          <a:xfrm>
            <a:off x="624839" y="1045240"/>
            <a:ext cx="10972800" cy="41806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0F1419"/>
                </a:solidFill>
                <a:latin typeface="Avenir Next LT Pro" panose="020B0504020202020204" pitchFamily="34" charset="0"/>
              </a:rPr>
              <a:t>A KYC agent that </a:t>
            </a:r>
            <a:r>
              <a:rPr lang="en-US" sz="2600" b="1">
                <a:solidFill>
                  <a:srgbClr val="0F1419"/>
                </a:solidFill>
                <a:latin typeface="Avenir Next LT Pro" panose="020B0504020202020204" pitchFamily="34" charset="0"/>
              </a:rPr>
              <a:t>reads</a:t>
            </a:r>
            <a:r>
              <a:rPr sz="2600" b="1">
                <a:solidFill>
                  <a:srgbClr val="0F1419"/>
                </a:solidFill>
                <a:latin typeface="Avenir Next LT Pro" panose="020B0504020202020204" pitchFamily="34" charset="0"/>
              </a:rPr>
              <a:t> the file, runs the rules, and explains itself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7C449EE0-E92F-B9E1-6A57-55D222B84903}"/>
              </a:ext>
            </a:extLst>
          </p:cNvPr>
          <p:cNvSpPr txBox="1"/>
          <p:nvPr/>
        </p:nvSpPr>
        <p:spPr>
          <a:xfrm>
            <a:off x="624839" y="1602500"/>
            <a:ext cx="11247120" cy="10075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lang="en-US" sz="1200" b="0" dirty="0">
                <a:solidFill>
                  <a:srgbClr val="1F262E"/>
                </a:solidFill>
                <a:latin typeface="Avenir Next LT Pro" panose="020B0504020202020204" pitchFamily="34" charset="0"/>
              </a:rPr>
              <a:t>Initially </a:t>
            </a:r>
            <a:r>
              <a:rPr lang="en-US" sz="1200" dirty="0">
                <a:solidFill>
                  <a:srgbClr val="1F262E"/>
                </a:solidFill>
                <a:latin typeface="Avenir Next LT Pro" panose="020B0504020202020204" pitchFamily="34" charset="0"/>
              </a:rPr>
              <a:t>b</a:t>
            </a:r>
            <a:r>
              <a:rPr sz="1200" b="0" dirty="0">
                <a:solidFill>
                  <a:srgbClr val="1F262E"/>
                </a:solidFill>
                <a:latin typeface="Avenir Next LT Pro" panose="020B0504020202020204" pitchFamily="34" charset="0"/>
              </a:rPr>
              <a:t>uilt end-to-end on Claude </a:t>
            </a:r>
            <a:r>
              <a:rPr lang="en-US" sz="1200" b="0" dirty="0">
                <a:solidFill>
                  <a:srgbClr val="1F262E"/>
                </a:solidFill>
                <a:latin typeface="Avenir Next LT Pro" panose="020B0504020202020204" pitchFamily="34" charset="0"/>
              </a:rPr>
              <a:t>plugin. </a:t>
            </a:r>
          </a:p>
          <a:p>
            <a:pPr algn="l">
              <a:lnSpc>
                <a:spcPct val="140000"/>
              </a:lnSpc>
            </a:pPr>
            <a:r>
              <a:rPr lang="en-US" sz="1200" dirty="0">
                <a:solidFill>
                  <a:srgbClr val="1F262E"/>
                </a:solidFill>
                <a:latin typeface="Avenir Next LT Pro" panose="020B0504020202020204" pitchFamily="34" charset="0"/>
              </a:rPr>
              <a:t>S</a:t>
            </a:r>
            <a:r>
              <a:rPr sz="1200" b="0" dirty="0">
                <a:solidFill>
                  <a:srgbClr val="1F262E"/>
                </a:solidFill>
                <a:latin typeface="Avenir Next LT Pro" panose="020B0504020202020204" pitchFamily="34" charset="0"/>
              </a:rPr>
              <a:t>kills </a:t>
            </a:r>
            <a:r>
              <a:rPr lang="en-US" sz="1200" b="0" dirty="0">
                <a:solidFill>
                  <a:srgbClr val="1F262E"/>
                </a:solidFill>
                <a:latin typeface="Avenir Next LT Pro" panose="020B0504020202020204" pitchFamily="34" charset="0"/>
              </a:rPr>
              <a:t>that </a:t>
            </a:r>
            <a:r>
              <a:rPr sz="1200" b="0" dirty="0">
                <a:solidFill>
                  <a:srgbClr val="1F262E"/>
                </a:solidFill>
                <a:latin typeface="Avenir Next LT Pro" panose="020B0504020202020204" pitchFamily="34" charset="0"/>
              </a:rPr>
              <a:t>run in sequence, plugged into </a:t>
            </a:r>
            <a:r>
              <a:rPr lang="en-US" sz="1200" b="0" dirty="0">
                <a:solidFill>
                  <a:srgbClr val="1F262E"/>
                </a:solidFill>
                <a:latin typeface="Avenir Next LT Pro" panose="020B0504020202020204" pitchFamily="34" charset="0"/>
              </a:rPr>
              <a:t>CLM’s</a:t>
            </a:r>
            <a:r>
              <a:rPr lang="he-IL" sz="1200" b="0" dirty="0">
                <a:solidFill>
                  <a:srgbClr val="1F262E"/>
                </a:solidFill>
                <a:latin typeface="Avenir Next LT Pro" panose="020B0504020202020204" pitchFamily="34" charset="0"/>
              </a:rPr>
              <a:t> </a:t>
            </a:r>
            <a:r>
              <a:rPr sz="1200" b="0" dirty="0">
                <a:solidFill>
                  <a:srgbClr val="1F262E"/>
                </a:solidFill>
                <a:latin typeface="Avenir Next LT Pro" panose="020B0504020202020204" pitchFamily="34" charset="0"/>
              </a:rPr>
              <a:t>vendor-orchestration layer</a:t>
            </a:r>
            <a:r>
              <a:rPr lang="he-IL" sz="1200" b="0" dirty="0">
                <a:solidFill>
                  <a:srgbClr val="1F262E"/>
                </a:solidFill>
                <a:latin typeface="Avenir Next LT Pro" panose="020B0504020202020204" pitchFamily="34" charset="0"/>
              </a:rPr>
              <a:t>.</a:t>
            </a:r>
          </a:p>
          <a:p>
            <a:pPr algn="l">
              <a:lnSpc>
                <a:spcPct val="140000"/>
              </a:lnSpc>
            </a:pPr>
            <a:r>
              <a:rPr lang="en-US" sz="1200" dirty="0">
                <a:solidFill>
                  <a:srgbClr val="1F262E"/>
                </a:solidFill>
                <a:latin typeface="Avenir Next LT Pro" panose="020B0504020202020204" pitchFamily="34" charset="0"/>
              </a:rPr>
              <a:t>High</a:t>
            </a:r>
            <a:r>
              <a:rPr lang="he-IL" sz="1200" dirty="0">
                <a:solidFill>
                  <a:srgbClr val="1F262E"/>
                </a:solidFill>
                <a:latin typeface="Avenir Next LT Pro" panose="020B0504020202020204" pitchFamily="34" charset="0"/>
              </a:rPr>
              <a:t> </a:t>
            </a:r>
            <a:r>
              <a:rPr lang="en-US" sz="1200" dirty="0">
                <a:solidFill>
                  <a:srgbClr val="1F262E"/>
                </a:solidFill>
                <a:latin typeface="Avenir Next LT Pro" panose="020B0504020202020204" pitchFamily="34" charset="0"/>
              </a:rPr>
              <a:t>performing, low</a:t>
            </a:r>
            <a:r>
              <a:rPr lang="he-IL" sz="1200" dirty="0">
                <a:solidFill>
                  <a:srgbClr val="1F262E"/>
                </a:solidFill>
                <a:latin typeface="Avenir Next LT Pro" panose="020B0504020202020204" pitchFamily="34" charset="0"/>
              </a:rPr>
              <a:t> </a:t>
            </a:r>
            <a:r>
              <a:rPr lang="en-US" sz="1200" dirty="0">
                <a:solidFill>
                  <a:srgbClr val="1F262E"/>
                </a:solidFill>
                <a:latin typeface="Avenir Next LT Pro" panose="020B0504020202020204" pitchFamily="34" charset="0"/>
              </a:rPr>
              <a:t>cost, completely auditable</a:t>
            </a:r>
          </a:p>
          <a:p>
            <a:pPr algn="l">
              <a:lnSpc>
                <a:spcPct val="140000"/>
              </a:lnSpc>
            </a:pPr>
            <a:r>
              <a:rPr lang="en-US" sz="1200" dirty="0">
                <a:solidFill>
                  <a:srgbClr val="1F262E"/>
                </a:solidFill>
                <a:latin typeface="Avenir Next LT Pro" panose="020B0504020202020204" pitchFamily="34" charset="0"/>
              </a:rPr>
              <a:t>Built to be </a:t>
            </a:r>
            <a:r>
              <a:rPr lang="en-US" sz="1200" dirty="0" err="1">
                <a:solidFill>
                  <a:srgbClr val="1F262E"/>
                </a:solidFill>
                <a:latin typeface="Avenir Next LT Pro" panose="020B0504020202020204" pitchFamily="34" charset="0"/>
              </a:rPr>
              <a:t>Angnostic</a:t>
            </a:r>
            <a:endParaRPr sz="1200" b="0" dirty="0">
              <a:solidFill>
                <a:srgbClr val="1F262E"/>
              </a:solidFill>
              <a:latin typeface="Avenir Next LT Pro" panose="020B0504020202020204" pitchFamily="34" charset="0"/>
            </a:endParaRPr>
          </a:p>
        </p:txBody>
      </p:sp>
      <p:sp>
        <p:nvSpPr>
          <p:cNvPr id="63" name="Rounded Rectangle 5">
            <a:extLst>
              <a:ext uri="{FF2B5EF4-FFF2-40B4-BE49-F238E27FC236}">
                <a16:creationId xmlns:a16="http://schemas.microsoft.com/office/drawing/2014/main" id="{98FA11B8-72C8-234F-3314-D2E56C1B5BF7}"/>
              </a:ext>
            </a:extLst>
          </p:cNvPr>
          <p:cNvSpPr/>
          <p:nvPr/>
        </p:nvSpPr>
        <p:spPr>
          <a:xfrm>
            <a:off x="624839" y="2782600"/>
            <a:ext cx="2697480" cy="203911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venir Next LT Pro" panose="020B0504020202020204" pitchFamily="34" charset="0"/>
            </a:endParaRP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07C527DB-1B18-2322-ABDD-0C09C4B98811}"/>
              </a:ext>
            </a:extLst>
          </p:cNvPr>
          <p:cNvSpPr/>
          <p:nvPr/>
        </p:nvSpPr>
        <p:spPr>
          <a:xfrm>
            <a:off x="899159" y="3056920"/>
            <a:ext cx="228600" cy="36576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venir Next LT Pro" panose="020B0504020202020204" pitchFamily="34" charset="0"/>
            </a:endParaRP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21453648-54A2-BC23-94E1-2191770857E6}"/>
              </a:ext>
            </a:extLst>
          </p:cNvPr>
          <p:cNvSpPr txBox="1"/>
          <p:nvPr/>
        </p:nvSpPr>
        <p:spPr>
          <a:xfrm>
            <a:off x="899159" y="3239800"/>
            <a:ext cx="2423160" cy="2585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0F1419"/>
                </a:solidFill>
                <a:latin typeface="Avenir Next LT Pro" panose="020B0504020202020204" pitchFamily="34" charset="0"/>
              </a:rPr>
              <a:t>Doc </a:t>
            </a:r>
            <a:r>
              <a:rPr lang="en-US" sz="1500" b="1">
                <a:solidFill>
                  <a:srgbClr val="0F1419"/>
                </a:solidFill>
                <a:latin typeface="Avenir Next LT Pro" panose="020B0504020202020204" pitchFamily="34" charset="0"/>
              </a:rPr>
              <a:t>Extraction</a:t>
            </a:r>
            <a:endParaRPr sz="1500" b="1">
              <a:solidFill>
                <a:srgbClr val="0F1419"/>
              </a:solidFill>
              <a:latin typeface="Avenir Next LT Pro" panose="020B0504020202020204" pitchFamily="34" charset="0"/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2A4E0A93-C686-3DF6-5CC2-B7D2D6DD1BBB}"/>
              </a:ext>
            </a:extLst>
          </p:cNvPr>
          <p:cNvSpPr txBox="1"/>
          <p:nvPr/>
        </p:nvSpPr>
        <p:spPr>
          <a:xfrm>
            <a:off x="830579" y="3629667"/>
            <a:ext cx="2240280" cy="97295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>
                <a:solidFill>
                  <a:srgbClr val="1F262E"/>
                </a:solidFill>
                <a:latin typeface="Avenir Next LT Pro" panose="020B0504020202020204" pitchFamily="34" charset="0"/>
              </a:rPr>
              <a:t>Extracts structured fields from I</a:t>
            </a:r>
            <a:r>
              <a:rPr lang="en-US" sz="1200" b="0">
                <a:solidFill>
                  <a:srgbClr val="1F262E"/>
                </a:solidFill>
                <a:latin typeface="Avenir Next LT Pro" panose="020B0504020202020204" pitchFamily="34" charset="0"/>
              </a:rPr>
              <a:t>d</a:t>
            </a:r>
            <a:r>
              <a:rPr sz="1200" b="0">
                <a:solidFill>
                  <a:srgbClr val="1F262E"/>
                </a:solidFill>
                <a:latin typeface="Avenir Next LT Pro" panose="020B0504020202020204" pitchFamily="34" charset="0"/>
              </a:rPr>
              <a:t>s</a:t>
            </a:r>
            <a:r>
              <a:rPr lang="he-IL" sz="1200">
                <a:solidFill>
                  <a:srgbClr val="1F262E"/>
                </a:solidFill>
                <a:latin typeface="Avenir Next LT Pro" panose="020B0504020202020204" pitchFamily="34" charset="0"/>
              </a:rPr>
              <a:t> </a:t>
            </a:r>
            <a:r>
              <a:rPr sz="1200" b="0">
                <a:solidFill>
                  <a:srgbClr val="1F262E"/>
                </a:solidFill>
                <a:latin typeface="Avenir Next LT Pro" panose="020B0504020202020204" pitchFamily="34" charset="0"/>
              </a:rPr>
              <a:t>and </a:t>
            </a:r>
            <a:r>
              <a:rPr lang="en-US" sz="1200" b="0">
                <a:solidFill>
                  <a:srgbClr val="1F262E"/>
                </a:solidFill>
                <a:latin typeface="Avenir Next LT Pro" panose="020B0504020202020204" pitchFamily="34" charset="0"/>
              </a:rPr>
              <a:t>docs </a:t>
            </a:r>
            <a:r>
              <a:rPr sz="1200" b="0">
                <a:solidFill>
                  <a:srgbClr val="1F262E"/>
                </a:solidFill>
                <a:latin typeface="Avenir Next LT Pro" panose="020B0504020202020204" pitchFamily="34" charset="0"/>
              </a:rPr>
              <a:t>in </a:t>
            </a:r>
            <a:r>
              <a:rPr lang="en-US" sz="1200" b="0">
                <a:solidFill>
                  <a:srgbClr val="1F262E"/>
                </a:solidFill>
                <a:latin typeface="Avenir Next LT Pro" panose="020B0504020202020204" pitchFamily="34" charset="0"/>
              </a:rPr>
              <a:t>multiple language,  and provides AI insights from them</a:t>
            </a:r>
            <a:endParaRPr sz="1200" b="0">
              <a:solidFill>
                <a:srgbClr val="1F262E"/>
              </a:solidFill>
              <a:latin typeface="Avenir Next LT Pro" panose="020B0504020202020204" pitchFamily="34" charset="0"/>
            </a:endParaRP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5833CC51-CCC5-0804-696C-E9001D830EFD}"/>
              </a:ext>
            </a:extLst>
          </p:cNvPr>
          <p:cNvSpPr/>
          <p:nvPr/>
        </p:nvSpPr>
        <p:spPr>
          <a:xfrm>
            <a:off x="3733798" y="3056920"/>
            <a:ext cx="228600" cy="36576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venir Next LT Pro" panose="020B0504020202020204" pitchFamily="34" charset="0"/>
            </a:endParaRP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2C079ECC-99B6-2774-3BE3-023160004C84}"/>
              </a:ext>
            </a:extLst>
          </p:cNvPr>
          <p:cNvSpPr txBox="1"/>
          <p:nvPr/>
        </p:nvSpPr>
        <p:spPr>
          <a:xfrm>
            <a:off x="3733798" y="3239800"/>
            <a:ext cx="2423160" cy="2585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sz="1500" b="1" dirty="0">
                <a:solidFill>
                  <a:srgbClr val="0F1419"/>
                </a:solidFill>
                <a:latin typeface="Avenir Next LT Pro" panose="020B0504020202020204" pitchFamily="34" charset="0"/>
              </a:rPr>
              <a:t>AI Insights</a:t>
            </a:r>
            <a:endParaRPr sz="1500" b="1" dirty="0">
              <a:solidFill>
                <a:srgbClr val="0F1419"/>
              </a:solidFill>
              <a:latin typeface="Avenir Next LT Pro" panose="020B0504020202020204" pitchFamily="34" charset="0"/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2C241ADC-C05B-3327-0A1A-7FD7B09FC0D6}"/>
              </a:ext>
            </a:extLst>
          </p:cNvPr>
          <p:cNvSpPr txBox="1"/>
          <p:nvPr/>
        </p:nvSpPr>
        <p:spPr>
          <a:xfrm>
            <a:off x="3683506" y="3582737"/>
            <a:ext cx="2382013" cy="12222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lang="en-US" sz="1200" b="0" dirty="0">
                <a:solidFill>
                  <a:srgbClr val="1F262E"/>
                </a:solidFill>
                <a:latin typeface="Avenir Next LT Pro" panose="020B0504020202020204" pitchFamily="34" charset="0"/>
              </a:rPr>
              <a:t>AI generated recommendation and reasoning no rules or agent can fully prep for – Impossible geography, name transliteration, cross-document consistency.</a:t>
            </a:r>
            <a:endParaRPr sz="1200" b="0" dirty="0">
              <a:solidFill>
                <a:srgbClr val="1F262E"/>
              </a:solidFill>
              <a:latin typeface="Avenir Next LT Pro" panose="020B0504020202020204" pitchFamily="34" charset="0"/>
            </a:endParaRPr>
          </a:p>
        </p:txBody>
      </p:sp>
      <p:sp>
        <p:nvSpPr>
          <p:cNvPr id="71" name="Rounded Rectangle 13">
            <a:extLst>
              <a:ext uri="{FF2B5EF4-FFF2-40B4-BE49-F238E27FC236}">
                <a16:creationId xmlns:a16="http://schemas.microsoft.com/office/drawing/2014/main" id="{0276C84F-C731-03F7-BDB7-BDF91F7BCDE0}"/>
              </a:ext>
            </a:extLst>
          </p:cNvPr>
          <p:cNvSpPr/>
          <p:nvPr/>
        </p:nvSpPr>
        <p:spPr>
          <a:xfrm>
            <a:off x="6294119" y="2782600"/>
            <a:ext cx="2697480" cy="203911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venir Next LT Pro" panose="020B0504020202020204" pitchFamily="34" charset="0"/>
            </a:endParaRP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ED292A8E-4A54-93F6-74AA-EA4F866A7A36}"/>
              </a:ext>
            </a:extLst>
          </p:cNvPr>
          <p:cNvSpPr/>
          <p:nvPr/>
        </p:nvSpPr>
        <p:spPr>
          <a:xfrm>
            <a:off x="6568439" y="3056920"/>
            <a:ext cx="228600" cy="36576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venir Next LT Pro" panose="020B0504020202020204" pitchFamily="34" charset="0"/>
            </a:endParaRP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9168A143-35E4-6CFB-90C8-3CC046E333C0}"/>
              </a:ext>
            </a:extLst>
          </p:cNvPr>
          <p:cNvSpPr txBox="1"/>
          <p:nvPr/>
        </p:nvSpPr>
        <p:spPr>
          <a:xfrm>
            <a:off x="6522719" y="3239800"/>
            <a:ext cx="2423160" cy="2585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 dirty="0">
                <a:solidFill>
                  <a:srgbClr val="0F1419"/>
                </a:solidFill>
                <a:latin typeface="Avenir Next LT Pro" panose="020B0504020202020204" pitchFamily="34" charset="0"/>
              </a:rPr>
              <a:t>Rules </a:t>
            </a:r>
            <a:r>
              <a:rPr lang="en-US" sz="1500" b="1" dirty="0">
                <a:solidFill>
                  <a:srgbClr val="0F1419"/>
                </a:solidFill>
                <a:latin typeface="Avenir Next LT Pro" panose="020B0504020202020204" pitchFamily="34" charset="0"/>
              </a:rPr>
              <a:t>and Screening</a:t>
            </a:r>
            <a:endParaRPr sz="1500" b="1" dirty="0">
              <a:solidFill>
                <a:srgbClr val="0F1419"/>
              </a:solidFill>
              <a:latin typeface="Avenir Next LT Pro" panose="020B0504020202020204" pitchFamily="34" charset="0"/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F4AC4418-E2C1-1BBD-15CE-A49AA31812E6}"/>
              </a:ext>
            </a:extLst>
          </p:cNvPr>
          <p:cNvSpPr txBox="1"/>
          <p:nvPr/>
        </p:nvSpPr>
        <p:spPr>
          <a:xfrm>
            <a:off x="6522719" y="3623870"/>
            <a:ext cx="2240280" cy="7236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dirty="0">
                <a:solidFill>
                  <a:srgbClr val="1F262E"/>
                </a:solidFill>
                <a:latin typeface="Avenir Next LT Pro" panose="020B0504020202020204" pitchFamily="34" charset="0"/>
              </a:rPr>
              <a:t>Runs </a:t>
            </a:r>
            <a:r>
              <a:rPr lang="en-US" sz="1200" dirty="0">
                <a:solidFill>
                  <a:srgbClr val="1F262E"/>
                </a:solidFill>
                <a:latin typeface="Avenir Next LT Pro" panose="020B0504020202020204" pitchFamily="34" charset="0"/>
              </a:rPr>
              <a:t>over </a:t>
            </a:r>
            <a:r>
              <a:rPr lang="en-US" sz="1200" dirty="0" err="1">
                <a:solidFill>
                  <a:srgbClr val="1F262E"/>
                </a:solidFill>
                <a:latin typeface="Avenir Next LT Pro" panose="020B0504020202020204" pitchFamily="34" charset="0"/>
              </a:rPr>
              <a:t>Payoneer’s</a:t>
            </a:r>
            <a:r>
              <a:rPr lang="en-US" sz="1200" b="0" dirty="0">
                <a:solidFill>
                  <a:srgbClr val="1F262E"/>
                </a:solidFill>
                <a:latin typeface="Avenir Next LT Pro" panose="020B0504020202020204" pitchFamily="34" charset="0"/>
              </a:rPr>
              <a:t> compliance</a:t>
            </a:r>
            <a:r>
              <a:rPr sz="1200" b="0" dirty="0">
                <a:solidFill>
                  <a:srgbClr val="1F262E"/>
                </a:solidFill>
                <a:latin typeface="Avenir Next LT Pro" panose="020B0504020202020204" pitchFamily="34" charset="0"/>
              </a:rPr>
              <a:t> rules</a:t>
            </a:r>
            <a:r>
              <a:rPr lang="en-US" sz="1200" b="0" dirty="0">
                <a:solidFill>
                  <a:srgbClr val="1F262E"/>
                </a:solidFill>
                <a:latin typeface="Avenir Next LT Pro" panose="020B0504020202020204" pitchFamily="34" charset="0"/>
              </a:rPr>
              <a:t> and Sanction API</a:t>
            </a:r>
            <a:endParaRPr sz="1200" b="0" dirty="0">
              <a:solidFill>
                <a:srgbClr val="1F262E"/>
              </a:solidFill>
              <a:latin typeface="Avenir Next LT Pro" panose="020B0504020202020204" pitchFamily="34" charset="0"/>
            </a:endParaRPr>
          </a:p>
        </p:txBody>
      </p:sp>
      <p:sp>
        <p:nvSpPr>
          <p:cNvPr id="75" name="Rounded Rectangle 17">
            <a:extLst>
              <a:ext uri="{FF2B5EF4-FFF2-40B4-BE49-F238E27FC236}">
                <a16:creationId xmlns:a16="http://schemas.microsoft.com/office/drawing/2014/main" id="{044CA23A-2D94-89D6-B76A-3C0A6522EB00}"/>
              </a:ext>
            </a:extLst>
          </p:cNvPr>
          <p:cNvSpPr/>
          <p:nvPr/>
        </p:nvSpPr>
        <p:spPr>
          <a:xfrm>
            <a:off x="9128759" y="2782600"/>
            <a:ext cx="2697480" cy="203911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venir Next LT Pro" panose="020B0504020202020204" pitchFamily="34" charset="0"/>
            </a:endParaRP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BD624AEE-80CA-2D24-903D-91020FB56D17}"/>
              </a:ext>
            </a:extLst>
          </p:cNvPr>
          <p:cNvSpPr/>
          <p:nvPr/>
        </p:nvSpPr>
        <p:spPr>
          <a:xfrm>
            <a:off x="9403079" y="3056920"/>
            <a:ext cx="228600" cy="36576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venir Next LT Pro" panose="020B05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CD30AB7-B972-9C45-1957-7F61F62B6BD1}"/>
              </a:ext>
            </a:extLst>
          </p:cNvPr>
          <p:cNvSpPr txBox="1"/>
          <p:nvPr/>
        </p:nvSpPr>
        <p:spPr>
          <a:xfrm>
            <a:off x="6964435" y="2580279"/>
            <a:ext cx="1457429" cy="369332"/>
          </a:xfrm>
          <a:prstGeom prst="rect">
            <a:avLst/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algn="ctr">
              <a:defRPr>
                <a:solidFill>
                  <a:schemeClr val="lt1"/>
                </a:solidFill>
                <a:latin typeface="Avenir Next LT Pro" panose="020B0504020202020204" pitchFamily="34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US" sz="1100" b="1">
                <a:solidFill>
                  <a:srgbClr val="4C1D95"/>
                </a:solidFill>
              </a:rPr>
              <a:t>Phase 2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726CE4A-EBC3-0B88-599C-0F1F138623BA}"/>
              </a:ext>
            </a:extLst>
          </p:cNvPr>
          <p:cNvSpPr txBox="1"/>
          <p:nvPr/>
        </p:nvSpPr>
        <p:spPr>
          <a:xfrm>
            <a:off x="9819866" y="2574440"/>
            <a:ext cx="1457429" cy="369332"/>
          </a:xfrm>
          <a:prstGeom prst="rect">
            <a:avLst/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algn="ctr">
              <a:defRPr>
                <a:solidFill>
                  <a:schemeClr val="lt1"/>
                </a:solidFill>
                <a:latin typeface="Avenir Next LT Pro" panose="020B0504020202020204" pitchFamily="34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US" sz="1100" b="1" dirty="0">
                <a:solidFill>
                  <a:srgbClr val="4C1D95"/>
                </a:solidFill>
              </a:rPr>
              <a:t>Still OOS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2A12B5A-F8E9-05A7-11CE-B3661CF12B2C}"/>
              </a:ext>
            </a:extLst>
          </p:cNvPr>
          <p:cNvSpPr txBox="1"/>
          <p:nvPr/>
        </p:nvSpPr>
        <p:spPr>
          <a:xfrm>
            <a:off x="9383690" y="3243292"/>
            <a:ext cx="2423160" cy="2585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 dirty="0">
                <a:solidFill>
                  <a:srgbClr val="0F1419"/>
                </a:solidFill>
                <a:latin typeface="Avenir Next LT Pro" panose="020B0504020202020204" pitchFamily="34" charset="0"/>
              </a:rPr>
              <a:t>Authenticity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47AF739-142E-C949-4B78-96731F2D6893}"/>
              </a:ext>
            </a:extLst>
          </p:cNvPr>
          <p:cNvSpPr txBox="1"/>
          <p:nvPr/>
        </p:nvSpPr>
        <p:spPr>
          <a:xfrm>
            <a:off x="9333398" y="3586229"/>
            <a:ext cx="2382013" cy="97295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lang="en-US" sz="1200" b="0" dirty="0">
                <a:solidFill>
                  <a:srgbClr val="1F262E"/>
                </a:solidFill>
                <a:latin typeface="Avenir Next LT Pro" panose="020B0504020202020204" pitchFamily="34" charset="0"/>
              </a:rPr>
              <a:t>Local checks included in the agent (</a:t>
            </a:r>
            <a:r>
              <a:rPr sz="1200" b="0" dirty="0">
                <a:solidFill>
                  <a:srgbClr val="1F262E"/>
                </a:solidFill>
                <a:latin typeface="Avenir Next LT Pro" panose="020B0504020202020204" pitchFamily="34" charset="0"/>
              </a:rPr>
              <a:t>MRZ check-digits, EXIF, perceptual</a:t>
            </a:r>
            <a:r>
              <a:rPr lang="en-US" sz="1200" b="0" dirty="0">
                <a:solidFill>
                  <a:srgbClr val="1F262E"/>
                </a:solidFill>
                <a:latin typeface="Avenir Next LT Pro" panose="020B0504020202020204" pitchFamily="34" charset="0"/>
              </a:rPr>
              <a:t> </a:t>
            </a:r>
            <a:r>
              <a:rPr sz="1200" b="0" dirty="0">
                <a:solidFill>
                  <a:srgbClr val="1F262E"/>
                </a:solidFill>
                <a:latin typeface="Avenir Next LT Pro" panose="020B0504020202020204" pitchFamily="34" charset="0"/>
              </a:rPr>
              <a:t>hashing</a:t>
            </a:r>
            <a:r>
              <a:rPr lang="en-US" sz="1200" b="0" dirty="0">
                <a:solidFill>
                  <a:srgbClr val="1F262E"/>
                </a:solidFill>
                <a:latin typeface="Avenir Next LT Pro" panose="020B0504020202020204" pitchFamily="34" charset="0"/>
              </a:rPr>
              <a:t>). </a:t>
            </a:r>
            <a:r>
              <a:rPr sz="1200" b="0" dirty="0">
                <a:solidFill>
                  <a:srgbClr val="1F262E"/>
                </a:solidFill>
                <a:latin typeface="Avenir Next LT Pro" panose="020B0504020202020204" pitchFamily="34" charset="0"/>
              </a:rPr>
              <a:t>AI-gen</a:t>
            </a:r>
            <a:r>
              <a:rPr lang="en-US" sz="1200" b="0" dirty="0">
                <a:solidFill>
                  <a:srgbClr val="1F262E"/>
                </a:solidFill>
                <a:latin typeface="Avenir Next LT Pro" panose="020B0504020202020204" pitchFamily="34" charset="0"/>
              </a:rPr>
              <a:t> </a:t>
            </a:r>
            <a:r>
              <a:rPr sz="1200" b="0" dirty="0">
                <a:solidFill>
                  <a:srgbClr val="1F262E"/>
                </a:solidFill>
                <a:latin typeface="Avenir Next LT Pro" panose="020B0504020202020204" pitchFamily="34" charset="0"/>
              </a:rPr>
              <a:t>detection on</a:t>
            </a:r>
            <a:r>
              <a:rPr lang="en-US" sz="1200" b="0" dirty="0">
                <a:solidFill>
                  <a:srgbClr val="1F262E"/>
                </a:solidFill>
                <a:latin typeface="Avenir Next LT Pro" panose="020B0504020202020204" pitchFamily="34" charset="0"/>
              </a:rPr>
              <a:t> </a:t>
            </a:r>
            <a:r>
              <a:rPr sz="1200" b="0" dirty="0">
                <a:solidFill>
                  <a:srgbClr val="1F262E"/>
                </a:solidFill>
                <a:latin typeface="Avenir Next LT Pro" panose="020B0504020202020204" pitchFamily="34" charset="0"/>
              </a:rPr>
              <a:t>every </a:t>
            </a:r>
            <a:r>
              <a:rPr lang="en-US" sz="1200" b="0" dirty="0">
                <a:solidFill>
                  <a:srgbClr val="1F262E"/>
                </a:solidFill>
                <a:latin typeface="Avenir Next LT Pro" panose="020B0504020202020204" pitchFamily="34" charset="0"/>
              </a:rPr>
              <a:t>doc &amp; image</a:t>
            </a:r>
            <a:endParaRPr sz="1200" b="0" dirty="0">
              <a:solidFill>
                <a:srgbClr val="1F262E"/>
              </a:solidFill>
              <a:latin typeface="Avenir Next LT Pro" panose="020B050402020202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640080" y="777240"/>
            <a:ext cx="411480" cy="36576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venir Next LT Pro" panose="020B050402020202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40080" y="1005840"/>
            <a:ext cx="10972800" cy="4766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1" dirty="0">
                <a:solidFill>
                  <a:srgbClr val="0F1419"/>
                </a:solidFill>
                <a:latin typeface="Avenir Next LT Pro" panose="020B0504020202020204" pitchFamily="34" charset="0"/>
              </a:rPr>
              <a:t>Same agent, three </a:t>
            </a:r>
            <a:r>
              <a:rPr lang="en-US" sz="2800" b="1" dirty="0">
                <a:solidFill>
                  <a:srgbClr val="0F1419"/>
                </a:solidFill>
                <a:latin typeface="Avenir Next LT Pro" panose="020B0504020202020204" pitchFamily="34" charset="0"/>
              </a:rPr>
              <a:t>points in time</a:t>
            </a:r>
            <a:endParaRPr sz="2800" b="1" dirty="0">
              <a:solidFill>
                <a:srgbClr val="0F1419"/>
              </a:solidFill>
              <a:latin typeface="Avenir Next LT Pro" panose="020B0504020202020204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40080" y="1521564"/>
            <a:ext cx="10972800" cy="22127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5C6166"/>
                </a:solidFill>
                <a:latin typeface="Avenir Next LT Pro" panose="020B0504020202020204" pitchFamily="34" charset="0"/>
              </a:rPr>
              <a:t>Each pillar maps to a different KPI and can ship independently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8699" y="2308585"/>
            <a:ext cx="3703320" cy="425454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457200" rtl="0" eaLnBrk="1" latinLnBrk="0" hangingPunct="1"/>
            <a:endParaRPr lang="en-IL">
              <a:latin typeface="Avenir Next LT Pro" panose="020B0504020202020204" pitchFamily="34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93019" y="2525154"/>
            <a:ext cx="228600" cy="36576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venir Next LT Pro" panose="020B050402020202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93019" y="2616595"/>
            <a:ext cx="3154679" cy="2723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 dirty="0">
                <a:solidFill>
                  <a:srgbClr val="6D28D9"/>
                </a:solidFill>
                <a:latin typeface="Avenir Next LT Pro" panose="020B0504020202020204" pitchFamily="34" charset="0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3019" y="2948664"/>
            <a:ext cx="3154679" cy="37446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dirty="0">
                <a:solidFill>
                  <a:srgbClr val="0F1419"/>
                </a:solidFill>
                <a:latin typeface="Avenir Next LT Pro" panose="020B0504020202020204" pitchFamily="34" charset="0"/>
              </a:rPr>
              <a:t>In </a:t>
            </a:r>
            <a:r>
              <a:rPr lang="en-US" sz="2200" b="1" dirty="0">
                <a:solidFill>
                  <a:srgbClr val="0F1419"/>
                </a:solidFill>
                <a:latin typeface="Avenir Next LT Pro" panose="020B0504020202020204" pitchFamily="34" charset="0"/>
              </a:rPr>
              <a:t>O</a:t>
            </a:r>
            <a:r>
              <a:rPr sz="2200" b="1" dirty="0">
                <a:solidFill>
                  <a:srgbClr val="0F1419"/>
                </a:solidFill>
                <a:latin typeface="Avenir Next LT Pro" panose="020B0504020202020204" pitchFamily="34" charset="0"/>
              </a:rPr>
              <a:t>nboarding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3019" y="3405864"/>
            <a:ext cx="3154679" cy="2042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5C6166"/>
                </a:solidFill>
                <a:latin typeface="Avenir Next LT Pro" panose="020B0504020202020204" pitchFamily="34" charset="0"/>
              </a:rPr>
              <a:t>Real-time decisioning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93019" y="3863064"/>
            <a:ext cx="3154679" cy="18288"/>
          </a:xfrm>
          <a:prstGeom prst="rect">
            <a:avLst/>
          </a:prstGeom>
          <a:solidFill>
            <a:srgbClr val="E2D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venir Next LT Pro" panose="020B0504020202020204" pitchFamily="34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93019" y="3894850"/>
            <a:ext cx="3154679" cy="2042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6D28D9"/>
                </a:solidFill>
                <a:latin typeface="Avenir Next LT Pro" panose="020B0504020202020204" pitchFamily="34" charset="0"/>
              </a:rPr>
              <a:t>Where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3019" y="4092175"/>
            <a:ext cx="3154679" cy="2181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1F262E"/>
                </a:solidFill>
                <a:latin typeface="Avenir Next LT Pro" panose="020B0504020202020204" pitchFamily="34" charset="0"/>
              </a:rPr>
              <a:t>Inside CLM, </a:t>
            </a:r>
            <a:r>
              <a:rPr lang="en-US" sz="1200" b="0">
                <a:solidFill>
                  <a:srgbClr val="1F262E"/>
                </a:solidFill>
                <a:latin typeface="Avenir Next LT Pro" panose="020B0504020202020204" pitchFamily="34" charset="0"/>
              </a:rPr>
              <a:t>In near real time</a:t>
            </a:r>
            <a:endParaRPr sz="1200" b="0">
              <a:solidFill>
                <a:srgbClr val="1F262E"/>
              </a:solidFill>
              <a:latin typeface="Avenir Next LT Pro" panose="020B0504020202020204" pitchFamily="34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93019" y="4393960"/>
            <a:ext cx="3154679" cy="2042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6D28D9"/>
                </a:solidFill>
                <a:latin typeface="Avenir Next LT Pro" panose="020B0504020202020204" pitchFamily="34" charset="0"/>
              </a:rPr>
              <a:t>What it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3018" y="4571099"/>
            <a:ext cx="3154679" cy="7236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>
                <a:solidFill>
                  <a:srgbClr val="1F262E"/>
                </a:solidFill>
                <a:latin typeface="Avenir Next LT Pro" panose="020B0504020202020204" pitchFamily="34" charset="0"/>
              </a:rPr>
              <a:t>Agent runs and returns a decision in </a:t>
            </a:r>
            <a:r>
              <a:rPr lang="en-US" sz="1200">
                <a:solidFill>
                  <a:srgbClr val="1F262E"/>
                </a:solidFill>
                <a:latin typeface="Avenir Next LT Pro" panose="020B0504020202020204" pitchFamily="34" charset="0"/>
              </a:rPr>
              <a:t>near real time</a:t>
            </a:r>
            <a:r>
              <a:rPr sz="1200" b="0">
                <a:solidFill>
                  <a:srgbClr val="1F262E"/>
                </a:solidFill>
                <a:latin typeface="Avenir Next LT Pro" panose="020B0504020202020204" pitchFamily="34" charset="0"/>
              </a:rPr>
              <a:t>. Slots into </a:t>
            </a:r>
            <a:r>
              <a:rPr lang="en-US" sz="1200" b="0">
                <a:solidFill>
                  <a:srgbClr val="1F262E"/>
                </a:solidFill>
                <a:latin typeface="Avenir Next LT Pro" panose="020B0504020202020204" pitchFamily="34" charset="0"/>
              </a:rPr>
              <a:t>CLM’s</a:t>
            </a:r>
            <a:r>
              <a:rPr sz="1200" b="0">
                <a:solidFill>
                  <a:srgbClr val="1F262E"/>
                </a:solidFill>
                <a:latin typeface="Avenir Next LT Pro" panose="020B0504020202020204" pitchFamily="34" charset="0"/>
              </a:rPr>
              <a:t> vendor-orchestration layer</a:t>
            </a:r>
            <a:r>
              <a:rPr lang="en-US" sz="1200" b="0">
                <a:solidFill>
                  <a:srgbClr val="1F262E"/>
                </a:solidFill>
                <a:latin typeface="Avenir Next LT Pro" panose="020B0504020202020204" pitchFamily="34" charset="0"/>
              </a:rPr>
              <a:t>.</a:t>
            </a:r>
            <a:endParaRPr sz="1200" b="0">
              <a:solidFill>
                <a:srgbClr val="1F262E"/>
              </a:solidFill>
              <a:latin typeface="Avenir Next LT Pro" panose="020B0504020202020204" pitchFamily="34" charset="0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601578" y="5463265"/>
            <a:ext cx="3337560" cy="951842"/>
          </a:xfrm>
          <a:prstGeom prst="roundRect">
            <a:avLst>
              <a:gd name="adj" fmla="val 4000"/>
            </a:avLst>
          </a:prstGeom>
          <a:solidFill>
            <a:srgbClr val="EFE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venir Next LT Pro" panose="020B0504020202020204" pitchFamily="34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93018" y="5523343"/>
            <a:ext cx="3154679" cy="1531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sz="900" b="1">
                <a:solidFill>
                  <a:srgbClr val="6D28D9"/>
                </a:solidFill>
                <a:latin typeface="Avenir Next LT Pro" panose="020B0504020202020204" pitchFamily="34" charset="0"/>
              </a:rPr>
              <a:t>Expected Impact</a:t>
            </a:r>
            <a:endParaRPr sz="900" b="1">
              <a:solidFill>
                <a:srgbClr val="6D28D9"/>
              </a:solidFill>
              <a:latin typeface="Avenir Next LT Pro" panose="020B0504020202020204" pitchFamily="34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93018" y="5734466"/>
            <a:ext cx="2971800" cy="63882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dirty="0">
                <a:solidFill>
                  <a:srgbClr val="0F1419"/>
                </a:solidFill>
                <a:latin typeface="Avenir Next LT Pro" panose="020B0504020202020204" pitchFamily="34" charset="0"/>
              </a:rPr>
              <a:t>Global CVR</a:t>
            </a:r>
          </a:p>
          <a:p>
            <a:pPr algn="l">
              <a:lnSpc>
                <a:spcPct val="120000"/>
              </a:lnSpc>
            </a:pPr>
            <a:r>
              <a:rPr lang="en-US" dirty="0">
                <a:solidFill>
                  <a:srgbClr val="0F1419"/>
                </a:solidFill>
                <a:latin typeface="Avenir Next LT Pro" panose="020B0504020202020204" pitchFamily="34" charset="0"/>
              </a:rPr>
              <a:t>Reduced Tickets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59179" y="2308584"/>
            <a:ext cx="3566158" cy="4254541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venir Next LT Pro" panose="020B0504020202020204" pitchFamily="34" charset="0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4533499" y="2525154"/>
            <a:ext cx="228600" cy="36576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venir Next LT Pro" panose="020B0504020202020204" pitchFamily="34" charset="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4533499" y="2616595"/>
            <a:ext cx="3154679" cy="2723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 dirty="0">
                <a:solidFill>
                  <a:srgbClr val="6D28D9"/>
                </a:solidFill>
                <a:latin typeface="Avenir Next LT Pro" panose="020B0504020202020204" pitchFamily="34" charset="0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33499" y="2948664"/>
            <a:ext cx="3154679" cy="37446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dirty="0">
                <a:solidFill>
                  <a:srgbClr val="0F1419"/>
                </a:solidFill>
                <a:latin typeface="Avenir Next LT Pro" panose="020B0504020202020204" pitchFamily="34" charset="0"/>
              </a:rPr>
              <a:t>Before the </a:t>
            </a:r>
            <a:r>
              <a:rPr lang="en-US" sz="2200" b="1" dirty="0">
                <a:solidFill>
                  <a:srgbClr val="0F1419"/>
                </a:solidFill>
                <a:latin typeface="Avenir Next LT Pro" panose="020B0504020202020204" pitchFamily="34" charset="0"/>
              </a:rPr>
              <a:t>R</a:t>
            </a:r>
            <a:r>
              <a:rPr sz="2200" b="1" dirty="0">
                <a:solidFill>
                  <a:srgbClr val="0F1419"/>
                </a:solidFill>
                <a:latin typeface="Avenir Next LT Pro" panose="020B0504020202020204" pitchFamily="34" charset="0"/>
              </a:rPr>
              <a:t>ep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33499" y="3405864"/>
            <a:ext cx="3154679" cy="2042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sz="1200" b="0">
                <a:solidFill>
                  <a:srgbClr val="5C6166"/>
                </a:solidFill>
                <a:latin typeface="Avenir Next LT Pro" panose="020B0504020202020204" pitchFamily="34" charset="0"/>
              </a:rPr>
              <a:t>Pre manual</a:t>
            </a:r>
            <a:r>
              <a:rPr sz="1200" b="0">
                <a:solidFill>
                  <a:srgbClr val="5C6166"/>
                </a:solidFill>
                <a:latin typeface="Avenir Next LT Pro" panose="020B0504020202020204" pitchFamily="34" charset="0"/>
              </a:rPr>
              <a:t> review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33499" y="3863064"/>
            <a:ext cx="3154679" cy="18288"/>
          </a:xfrm>
          <a:prstGeom prst="rect">
            <a:avLst/>
          </a:prstGeom>
          <a:solidFill>
            <a:srgbClr val="E2D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venir Next LT Pro" panose="020B0504020202020204" pitchFamily="34" charset="0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4533499" y="3894850"/>
            <a:ext cx="3154679" cy="2042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6D28D9"/>
                </a:solidFill>
                <a:latin typeface="Avenir Next LT Pro" panose="020B0504020202020204" pitchFamily="34" charset="0"/>
              </a:rPr>
              <a:t>Where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33499" y="4092175"/>
            <a:ext cx="3566159" cy="2181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1F262E"/>
                </a:solidFill>
                <a:latin typeface="Avenir Next LT Pro" panose="020B0504020202020204" pitchFamily="34" charset="0"/>
              </a:rPr>
              <a:t>Between </a:t>
            </a:r>
            <a:r>
              <a:rPr lang="en-US" sz="1200" b="0">
                <a:solidFill>
                  <a:srgbClr val="1F262E"/>
                </a:solidFill>
                <a:latin typeface="Avenir Next LT Pro" panose="020B0504020202020204" pitchFamily="34" charset="0"/>
              </a:rPr>
              <a:t>doc submitted</a:t>
            </a:r>
            <a:r>
              <a:rPr sz="1200" b="0">
                <a:solidFill>
                  <a:srgbClr val="1F262E"/>
                </a:solidFill>
                <a:latin typeface="Avenir Next LT Pro" panose="020B0504020202020204" pitchFamily="34" charset="0"/>
              </a:rPr>
              <a:t> </a:t>
            </a:r>
            <a:r>
              <a:rPr lang="he-IL" sz="1200">
                <a:solidFill>
                  <a:srgbClr val="1F262E"/>
                </a:solidFill>
                <a:latin typeface="Avenir Next LT Pro" panose="020B0504020202020204" pitchFamily="34" charset="0"/>
              </a:rPr>
              <a:t>&amp;</a:t>
            </a:r>
            <a:r>
              <a:rPr sz="1200" b="0">
                <a:solidFill>
                  <a:srgbClr val="1F262E"/>
                </a:solidFill>
                <a:latin typeface="Avenir Next LT Pro" panose="020B0504020202020204" pitchFamily="34" charset="0"/>
              </a:rPr>
              <a:t> human </a:t>
            </a:r>
            <a:r>
              <a:rPr lang="en-US" sz="1200" b="0">
                <a:solidFill>
                  <a:srgbClr val="1F262E"/>
                </a:solidFill>
                <a:latin typeface="Avenir Next LT Pro" panose="020B0504020202020204" pitchFamily="34" charset="0"/>
              </a:rPr>
              <a:t>rep queue</a:t>
            </a:r>
            <a:endParaRPr sz="1200" b="0">
              <a:solidFill>
                <a:srgbClr val="1F262E"/>
              </a:solidFill>
              <a:latin typeface="Avenir Next LT Pro" panose="020B0504020202020204" pitchFamily="34" charset="0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4533499" y="4393960"/>
            <a:ext cx="3154679" cy="2042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6D28D9"/>
                </a:solidFill>
                <a:latin typeface="Avenir Next LT Pro" panose="020B0504020202020204" pitchFamily="34" charset="0"/>
              </a:rPr>
              <a:t>What it does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33499" y="4571099"/>
            <a:ext cx="3337560" cy="7236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dirty="0">
                <a:solidFill>
                  <a:srgbClr val="1F262E"/>
                </a:solidFill>
                <a:latin typeface="Avenir Next LT Pro" panose="020B0504020202020204" pitchFamily="34" charset="0"/>
              </a:rPr>
              <a:t>Agent reviews every case headed to ops</a:t>
            </a:r>
            <a:r>
              <a:rPr lang="en-US" sz="1200" dirty="0">
                <a:solidFill>
                  <a:srgbClr val="1F262E"/>
                </a:solidFill>
                <a:latin typeface="Avenir Next LT Pro" panose="020B0504020202020204" pitchFamily="34" charset="0"/>
              </a:rPr>
              <a:t> and reduces manual reviews. Fully removes manual review for low value leads.</a:t>
            </a:r>
            <a:endParaRPr sz="1200" b="0" dirty="0">
              <a:solidFill>
                <a:srgbClr val="1F262E"/>
              </a:solidFill>
              <a:latin typeface="Avenir Next LT Pro" panose="020B0504020202020204" pitchFamily="34" charset="0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4442059" y="5463265"/>
            <a:ext cx="3337560" cy="951842"/>
          </a:xfrm>
          <a:prstGeom prst="roundRect">
            <a:avLst>
              <a:gd name="adj" fmla="val 4000"/>
            </a:avLst>
          </a:prstGeom>
          <a:solidFill>
            <a:srgbClr val="EFE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venir Next LT Pro" panose="020B0504020202020204" pitchFamily="34" charset="0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4533499" y="5523342"/>
            <a:ext cx="3154679" cy="1531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sz="900" b="1">
                <a:solidFill>
                  <a:srgbClr val="6D28D9"/>
                </a:solidFill>
                <a:latin typeface="Avenir Next LT Pro" panose="020B0504020202020204" pitchFamily="34" charset="0"/>
              </a:rPr>
              <a:t>Expected Impact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33498" y="5705361"/>
            <a:ext cx="3383279" cy="63882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dirty="0">
                <a:solidFill>
                  <a:srgbClr val="0F1419"/>
                </a:solidFill>
                <a:latin typeface="Avenir Next LT Pro" panose="020B0504020202020204" pitchFamily="34" charset="0"/>
              </a:rPr>
              <a:t>Improved Rep experience </a:t>
            </a:r>
            <a:br>
              <a:rPr lang="en-US" dirty="0">
                <a:solidFill>
                  <a:srgbClr val="0F1419"/>
                </a:solidFill>
                <a:latin typeface="Avenir Next LT Pro" panose="020B0504020202020204" pitchFamily="34" charset="0"/>
              </a:rPr>
            </a:br>
            <a:r>
              <a:rPr lang="en-US" dirty="0">
                <a:solidFill>
                  <a:srgbClr val="0F1419"/>
                </a:solidFill>
                <a:latin typeface="Avenir Next LT Pro" panose="020B0504020202020204" pitchFamily="34" charset="0"/>
              </a:rPr>
              <a:t>Reduced Tickets.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099659" y="2308585"/>
            <a:ext cx="3673642" cy="42545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venir Next LT Pro" panose="020B0504020202020204" pitchFamily="34" charset="0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8373979" y="2525154"/>
            <a:ext cx="228600" cy="36576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venir Next LT Pro" panose="020B0504020202020204" pitchFamily="34" charset="0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8373979" y="2616595"/>
            <a:ext cx="3154679" cy="2723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6D28D9"/>
                </a:solidFill>
                <a:latin typeface="Avenir Next LT Pro" panose="020B0504020202020204" pitchFamily="34" charset="0"/>
              </a:rPr>
              <a:t>0</a:t>
            </a:r>
            <a:r>
              <a:rPr sz="1600" b="1" dirty="0">
                <a:solidFill>
                  <a:srgbClr val="6D28D9"/>
                </a:solidFill>
                <a:latin typeface="Avenir Next LT Pro" panose="020B0504020202020204" pitchFamily="34" charset="0"/>
              </a:rPr>
              <a:t>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73979" y="2948664"/>
            <a:ext cx="3154679" cy="37446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sz="2200" b="1">
                <a:solidFill>
                  <a:srgbClr val="0F1419"/>
                </a:solidFill>
                <a:latin typeface="Avenir Next LT Pro" panose="020B0504020202020204" pitchFamily="34" charset="0"/>
              </a:rPr>
              <a:t>Quality Monitoring</a:t>
            </a:r>
            <a:endParaRPr sz="2200" b="1">
              <a:solidFill>
                <a:srgbClr val="0F1419"/>
              </a:solidFill>
              <a:latin typeface="Avenir Next LT Pro" panose="020B0504020202020204" pitchFamily="34" charset="0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8373979" y="3405864"/>
            <a:ext cx="3154679" cy="2042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5C6166"/>
                </a:solidFill>
                <a:latin typeface="Avenir Next LT Pro" panose="020B0504020202020204" pitchFamily="34" charset="0"/>
              </a:rPr>
              <a:t>Post-decision audit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373979" y="3863064"/>
            <a:ext cx="3154679" cy="18288"/>
          </a:xfrm>
          <a:prstGeom prst="rect">
            <a:avLst/>
          </a:prstGeom>
          <a:solidFill>
            <a:srgbClr val="E2D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venir Next LT Pro" panose="020B0504020202020204" pitchFamily="34" charset="0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8373979" y="3894850"/>
            <a:ext cx="3154679" cy="2042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6D28D9"/>
                </a:solidFill>
                <a:latin typeface="Avenir Next LT Pro" panose="020B0504020202020204" pitchFamily="34" charset="0"/>
              </a:rPr>
              <a:t>Where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373979" y="4092175"/>
            <a:ext cx="3154679" cy="2181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1F262E"/>
                </a:solidFill>
                <a:latin typeface="Avenir Next LT Pro" panose="020B0504020202020204" pitchFamily="34" charset="0"/>
              </a:rPr>
              <a:t>After the decision is final</a:t>
            </a:r>
            <a:r>
              <a:rPr lang="en-US" sz="1200" b="0">
                <a:solidFill>
                  <a:srgbClr val="1F262E"/>
                </a:solidFill>
                <a:latin typeface="Avenir Next LT Pro" panose="020B0504020202020204" pitchFamily="34" charset="0"/>
              </a:rPr>
              <a:t>, constantly</a:t>
            </a:r>
            <a:endParaRPr sz="1200" b="0">
              <a:solidFill>
                <a:srgbClr val="1F262E"/>
              </a:solidFill>
              <a:latin typeface="Avenir Next LT Pro" panose="020B0504020202020204" pitchFamily="34" charset="0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8373979" y="4393960"/>
            <a:ext cx="3154679" cy="2042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6D28D9"/>
                </a:solidFill>
                <a:latin typeface="Avenir Next LT Pro" panose="020B0504020202020204" pitchFamily="34" charset="0"/>
              </a:rPr>
              <a:t>What it does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373979" y="4571099"/>
            <a:ext cx="3383279" cy="7236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>
                <a:solidFill>
                  <a:srgbClr val="1F262E"/>
                </a:solidFill>
                <a:latin typeface="Avenir Next LT Pro" panose="020B0504020202020204" pitchFamily="34" charset="0"/>
              </a:rPr>
              <a:t>Agent re-evaluates closed</a:t>
            </a:r>
            <a:r>
              <a:rPr lang="en-US" sz="1200" b="0">
                <a:solidFill>
                  <a:srgbClr val="1F262E"/>
                </a:solidFill>
                <a:latin typeface="Avenir Next LT Pro" panose="020B0504020202020204" pitchFamily="34" charset="0"/>
              </a:rPr>
              <a:t>. Provides decision fals</a:t>
            </a:r>
            <a:r>
              <a:rPr lang="en-US" sz="1200">
                <a:solidFill>
                  <a:srgbClr val="1F262E"/>
                </a:solidFill>
                <a:latin typeface="Avenir Next LT Pro" panose="020B0504020202020204" pitchFamily="34" charset="0"/>
              </a:rPr>
              <a:t>e positive / false negative – Improving compliance and specific eBay QA commitment</a:t>
            </a:r>
            <a:endParaRPr sz="1200" b="0">
              <a:solidFill>
                <a:srgbClr val="1F262E"/>
              </a:solidFill>
              <a:latin typeface="Avenir Next LT Pro" panose="020B0504020202020204" pitchFamily="34" charset="0"/>
            </a:endParaRPr>
          </a:p>
        </p:txBody>
      </p:sp>
      <p:sp>
        <p:nvSpPr>
          <p:cNvPr id="44" name="Rounded Rectangle 43"/>
          <p:cNvSpPr/>
          <p:nvPr/>
        </p:nvSpPr>
        <p:spPr>
          <a:xfrm>
            <a:off x="8282538" y="5463264"/>
            <a:ext cx="3307884" cy="946677"/>
          </a:xfrm>
          <a:prstGeom prst="roundRect">
            <a:avLst>
              <a:gd name="adj" fmla="val 4000"/>
            </a:avLst>
          </a:prstGeom>
          <a:solidFill>
            <a:srgbClr val="EFE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venir Next LT Pro" panose="020B0504020202020204" pitchFamily="34" charset="0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8358435" y="5523342"/>
            <a:ext cx="3154679" cy="1531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sz="900" b="1">
                <a:solidFill>
                  <a:srgbClr val="6D28D9"/>
                </a:solidFill>
                <a:latin typeface="Avenir Next LT Pro" panose="020B0504020202020204" pitchFamily="34" charset="0"/>
              </a:rPr>
              <a:t>Expected Impact</a:t>
            </a:r>
            <a:endParaRPr sz="900" b="1">
              <a:solidFill>
                <a:srgbClr val="6D28D9"/>
              </a:solidFill>
              <a:latin typeface="Avenir Next LT Pro" panose="020B0504020202020204" pitchFamily="34" charset="0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8373979" y="5730978"/>
            <a:ext cx="2971800" cy="63882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dirty="0">
                <a:solidFill>
                  <a:srgbClr val="0F1419"/>
                </a:solidFill>
                <a:latin typeface="Avenir Next LT Pro" panose="020B0504020202020204" pitchFamily="34" charset="0"/>
              </a:rPr>
              <a:t>Improved Decision Quality and Auditability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820095" y="6446520"/>
            <a:ext cx="914400" cy="1531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lang="en-US" sz="900" b="0">
                <a:solidFill>
                  <a:srgbClr val="5C6166"/>
                </a:solidFill>
                <a:latin typeface="Avenir Next LT Pro" panose="020B0504020202020204" pitchFamily="34" charset="0"/>
              </a:rPr>
              <a:t>3</a:t>
            </a:r>
            <a:r>
              <a:rPr sz="900" b="0">
                <a:solidFill>
                  <a:srgbClr val="5C6166"/>
                </a:solidFill>
                <a:latin typeface="Avenir Next LT Pro" panose="020B0504020202020204" pitchFamily="34" charset="0"/>
              </a:rPr>
              <a:t> / </a:t>
            </a:r>
            <a:r>
              <a:rPr lang="en-US" sz="900" b="0">
                <a:solidFill>
                  <a:srgbClr val="5C6166"/>
                </a:solidFill>
                <a:latin typeface="Avenir Next LT Pro" panose="020B0504020202020204" pitchFamily="34" charset="0"/>
              </a:rPr>
              <a:t>7</a:t>
            </a:r>
            <a:endParaRPr sz="900" b="0">
              <a:solidFill>
                <a:srgbClr val="5C6166"/>
              </a:solidFill>
              <a:latin typeface="Avenir Next LT Pro" panose="020B050402020202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640080" y="777240"/>
            <a:ext cx="411480" cy="36576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venir Next LT Pro" panose="020B050402020202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40080" y="1005840"/>
            <a:ext cx="10972800" cy="44428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800" b="1">
                <a:solidFill>
                  <a:srgbClr val="0F1419"/>
                </a:solidFill>
                <a:latin typeface="Avenir Next LT Pro" panose="020B0504020202020204" pitchFamily="34" charset="0"/>
              </a:rPr>
              <a:t>Russian user impersonating Serbian identity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47825"/>
            <a:ext cx="11247120" cy="22127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5C6166"/>
                </a:solidFill>
                <a:latin typeface="Avenir Next LT Pro" panose="020B0504020202020204" pitchFamily="34" charset="0"/>
              </a:rPr>
              <a:t>How </a:t>
            </a:r>
            <a:r>
              <a:rPr lang="en-US" sz="1300">
                <a:solidFill>
                  <a:srgbClr val="5C6166"/>
                </a:solidFill>
                <a:latin typeface="Avenir Next LT Pro" panose="020B0504020202020204" pitchFamily="34" charset="0"/>
              </a:rPr>
              <a:t>a </a:t>
            </a:r>
            <a:r>
              <a:rPr sz="1300" b="0">
                <a:solidFill>
                  <a:srgbClr val="5C6166"/>
                </a:solidFill>
                <a:latin typeface="Avenir Next LT Pro" panose="020B0504020202020204" pitchFamily="34" charset="0"/>
              </a:rPr>
              <a:t>sanctioned Russian customer bypassed KYC by registering under</a:t>
            </a:r>
            <a:r>
              <a:rPr lang="en-US" sz="1300" b="0">
                <a:solidFill>
                  <a:srgbClr val="5C6166"/>
                </a:solidFill>
                <a:latin typeface="Avenir Next LT Pro" panose="020B0504020202020204" pitchFamily="34" charset="0"/>
              </a:rPr>
              <a:t> a</a:t>
            </a:r>
            <a:r>
              <a:rPr sz="1300" b="0">
                <a:solidFill>
                  <a:srgbClr val="5C6166"/>
                </a:solidFill>
                <a:latin typeface="Avenir Next LT Pro" panose="020B0504020202020204" pitchFamily="34" charset="0"/>
              </a:rPr>
              <a:t> different nationalit</a:t>
            </a:r>
            <a:r>
              <a:rPr lang="en-US" sz="1300" b="0">
                <a:solidFill>
                  <a:srgbClr val="5C6166"/>
                </a:solidFill>
                <a:latin typeface="Avenir Next LT Pro" panose="020B0504020202020204" pitchFamily="34" charset="0"/>
              </a:rPr>
              <a:t>y</a:t>
            </a:r>
            <a:endParaRPr sz="1300" b="0">
              <a:solidFill>
                <a:srgbClr val="5C6166"/>
              </a:solidFill>
              <a:latin typeface="Avenir Next LT Pro" panose="020B0504020202020204" pitchFamily="34" charset="0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640080" y="2160270"/>
            <a:ext cx="2651760" cy="417916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venir Next LT Pro" panose="020B0504020202020204" pitchFamily="34" charset="0"/>
            </a:endParaRPr>
          </a:p>
        </p:txBody>
      </p:sp>
      <p:sp>
        <p:nvSpPr>
          <p:cNvPr id="7" name="Oval 6"/>
          <p:cNvSpPr/>
          <p:nvPr/>
        </p:nvSpPr>
        <p:spPr>
          <a:xfrm>
            <a:off x="914400" y="2434589"/>
            <a:ext cx="502920" cy="502920"/>
          </a:xfrm>
          <a:prstGeom prst="ellipse">
            <a:avLst/>
          </a:prstGeom>
          <a:solidFill>
            <a:srgbClr val="5C61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venir Next LT Pro" panose="020B050402020202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14400" y="2507741"/>
            <a:ext cx="502920" cy="3064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1">
                <a:solidFill>
                  <a:srgbClr val="FFFFFF"/>
                </a:solidFill>
                <a:latin typeface="Avenir Next LT Pro" panose="020B0504020202020204" pitchFamily="34" charset="0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120389"/>
            <a:ext cx="2103120" cy="289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1">
                <a:solidFill>
                  <a:srgbClr val="0F1419"/>
                </a:solidFill>
                <a:latin typeface="Avenir Next LT Pro" panose="020B0504020202020204" pitchFamily="34" charset="0"/>
              </a:rPr>
              <a:t>The scheme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" y="3531870"/>
            <a:ext cx="411480" cy="22860"/>
          </a:xfrm>
          <a:prstGeom prst="rect">
            <a:avLst/>
          </a:prstGeom>
          <a:solidFill>
            <a:srgbClr val="E2D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venir Next LT Pro" panose="020B0504020202020204" pitchFamily="34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948090" y="3714750"/>
            <a:ext cx="109728" cy="2042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5C6166"/>
                </a:solidFill>
                <a:latin typeface="Avenir Next LT Pro" panose="020B0504020202020204" pitchFamily="34" charset="0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85250" y="3696462"/>
            <a:ext cx="2103120" cy="47436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>
                <a:solidFill>
                  <a:srgbClr val="1F262E"/>
                </a:solidFill>
                <a:latin typeface="Avenir Next LT Pro" panose="020B0504020202020204" pitchFamily="34" charset="0"/>
              </a:rPr>
              <a:t>Russian customers registered as Serbia or Pakistan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8090" y="4212855"/>
            <a:ext cx="109728" cy="2042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5C6166"/>
                </a:solidFill>
                <a:latin typeface="Avenir Next LT Pro" panose="020B0504020202020204" pitchFamily="34" charset="0"/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5250" y="4194568"/>
            <a:ext cx="1874519" cy="47436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>
                <a:solidFill>
                  <a:srgbClr val="1F262E"/>
                </a:solidFill>
                <a:latin typeface="Avenir Next LT Pro" panose="020B0504020202020204" pitchFamily="34" charset="0"/>
              </a:rPr>
              <a:t>Picked a non-sanctioned country at signup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8090" y="4768715"/>
            <a:ext cx="109728" cy="2042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5C6166"/>
                </a:solidFill>
                <a:latin typeface="Avenir Next LT Pro" panose="020B0504020202020204" pitchFamily="34" charset="0"/>
              </a:rPr>
              <a:t>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85250" y="4760054"/>
            <a:ext cx="1874519" cy="47436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>
                <a:solidFill>
                  <a:srgbClr val="1F262E"/>
                </a:solidFill>
                <a:latin typeface="Avenir Next LT Pro" panose="020B0504020202020204" pitchFamily="34" charset="0"/>
              </a:rPr>
              <a:t>Used a Russian address in the remaining fields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8090" y="5314949"/>
            <a:ext cx="109728" cy="2042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5C6166"/>
                </a:solidFill>
                <a:latin typeface="Avenir Next LT Pro" panose="020B0504020202020204" pitchFamily="34" charset="0"/>
              </a:rPr>
              <a:t>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6375" y="5296663"/>
            <a:ext cx="1901951" cy="47436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>
                <a:solidFill>
                  <a:srgbClr val="1F262E"/>
                </a:solidFill>
                <a:latin typeface="Avenir Next LT Pro" panose="020B0504020202020204" pitchFamily="34" charset="0"/>
              </a:rPr>
              <a:t>Sanctions screening never fired at the gate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4775" y="6068783"/>
            <a:ext cx="2103120" cy="1531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1">
                <a:solidFill>
                  <a:srgbClr val="0F1419"/>
                </a:solidFill>
                <a:latin typeface="Avenir Next LT Pro" panose="020B0504020202020204" pitchFamily="34" charset="0"/>
              </a:rPr>
              <a:t>SANCTIONS BYPASS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410711" y="2160270"/>
            <a:ext cx="2651760" cy="417916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venir Next LT Pro" panose="020B0504020202020204" pitchFamily="34" charset="0"/>
            </a:endParaRPr>
          </a:p>
        </p:txBody>
      </p:sp>
      <p:sp>
        <p:nvSpPr>
          <p:cNvPr id="21" name="Oval 20"/>
          <p:cNvSpPr/>
          <p:nvPr/>
        </p:nvSpPr>
        <p:spPr>
          <a:xfrm>
            <a:off x="3685031" y="2434589"/>
            <a:ext cx="502920" cy="502920"/>
          </a:xfrm>
          <a:prstGeom prst="ellipse">
            <a:avLst/>
          </a:prstGeom>
          <a:solidFill>
            <a:srgbClr val="5C61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venir Next LT Pro" panose="020B0504020202020204" pitchFamily="34" charset="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3685031" y="2507741"/>
            <a:ext cx="502920" cy="3064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1">
                <a:solidFill>
                  <a:srgbClr val="FFFFFF"/>
                </a:solidFill>
                <a:latin typeface="Avenir Next LT Pro" panose="020B0504020202020204" pitchFamily="34" charset="0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85031" y="3120389"/>
            <a:ext cx="2103120" cy="289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sz="1700" b="1">
                <a:solidFill>
                  <a:srgbClr val="0F1419"/>
                </a:solidFill>
                <a:latin typeface="Avenir Next LT Pro" panose="020B0504020202020204" pitchFamily="34" charset="0"/>
              </a:rPr>
              <a:t>Manual</a:t>
            </a:r>
            <a:r>
              <a:rPr sz="1700" b="1">
                <a:solidFill>
                  <a:srgbClr val="0F1419"/>
                </a:solidFill>
                <a:latin typeface="Avenir Next LT Pro" panose="020B0504020202020204" pitchFamily="34" charset="0"/>
              </a:rPr>
              <a:t> override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85031" y="3531870"/>
            <a:ext cx="411480" cy="22860"/>
          </a:xfrm>
          <a:prstGeom prst="rect">
            <a:avLst/>
          </a:prstGeom>
          <a:solidFill>
            <a:srgbClr val="E2D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venir Next LT Pro" panose="020B0504020202020204" pitchFamily="34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3718722" y="3714750"/>
            <a:ext cx="109728" cy="2042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5C6166"/>
                </a:solidFill>
                <a:latin typeface="Avenir Next LT Pro" panose="020B0504020202020204" pitchFamily="34" charset="0"/>
              </a:rPr>
              <a:t>•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855881" y="3696462"/>
            <a:ext cx="1874519" cy="47436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>
                <a:solidFill>
                  <a:srgbClr val="1F262E"/>
                </a:solidFill>
                <a:latin typeface="Avenir Next LT Pro" panose="020B0504020202020204" pitchFamily="34" charset="0"/>
              </a:rPr>
              <a:t>Address validation flagged the mismatch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718722" y="4222484"/>
            <a:ext cx="109728" cy="2042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5C6166"/>
                </a:solidFill>
                <a:latin typeface="Avenir Next LT Pro" panose="020B0504020202020204" pitchFamily="34" charset="0"/>
              </a:rPr>
              <a:t>•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855881" y="4213823"/>
            <a:ext cx="1874519" cy="47436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>
                <a:solidFill>
                  <a:srgbClr val="1F262E"/>
                </a:solidFill>
                <a:latin typeface="Avenir Next LT Pro" panose="020B0504020202020204" pitchFamily="34" charset="0"/>
              </a:rPr>
              <a:t>The rep approved the Proof of Address anyway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718722" y="4739845"/>
            <a:ext cx="109728" cy="2042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5C6166"/>
                </a:solidFill>
                <a:latin typeface="Avenir Next LT Pro" panose="020B0504020202020204" pitchFamily="34" charset="0"/>
              </a:rPr>
              <a:t>•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855881" y="4711932"/>
            <a:ext cx="1874519" cy="7236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>
                <a:solidFill>
                  <a:srgbClr val="1F262E"/>
                </a:solidFill>
                <a:latin typeface="Avenir Next LT Pro" panose="020B0504020202020204" pitchFamily="34" charset="0"/>
              </a:rPr>
              <a:t>Assumption: if the document is authentic, the address must be correct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75406" y="6068783"/>
            <a:ext cx="2103120" cy="1531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1">
                <a:solidFill>
                  <a:srgbClr val="0F1419"/>
                </a:solidFill>
                <a:latin typeface="Avenir Next LT Pro" panose="020B0504020202020204" pitchFamily="34" charset="0"/>
              </a:rPr>
              <a:t>APPROVED DESPITE FLAG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181344" y="2160270"/>
            <a:ext cx="2651760" cy="417916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venir Next LT Pro" panose="020B0504020202020204" pitchFamily="34" charset="0"/>
            </a:endParaRPr>
          </a:p>
        </p:txBody>
      </p:sp>
      <p:sp>
        <p:nvSpPr>
          <p:cNvPr id="33" name="Oval 32"/>
          <p:cNvSpPr/>
          <p:nvPr/>
        </p:nvSpPr>
        <p:spPr>
          <a:xfrm>
            <a:off x="6455664" y="2434589"/>
            <a:ext cx="502920" cy="502920"/>
          </a:xfrm>
          <a:prstGeom prst="ellipse">
            <a:avLst/>
          </a:prstGeom>
          <a:solidFill>
            <a:srgbClr val="5C61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venir Next LT Pro" panose="020B0504020202020204" pitchFamily="34" charset="0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6455664" y="2507741"/>
            <a:ext cx="502920" cy="3064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1">
                <a:solidFill>
                  <a:srgbClr val="FFFFFF"/>
                </a:solidFill>
                <a:latin typeface="Avenir Next LT Pro" panose="020B0504020202020204" pitchFamily="34" charset="0"/>
              </a:rPr>
              <a:t>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55664" y="3120389"/>
            <a:ext cx="2103120" cy="289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1">
                <a:solidFill>
                  <a:srgbClr val="0F1419"/>
                </a:solidFill>
                <a:latin typeface="Avenir Next LT Pro" panose="020B0504020202020204" pitchFamily="34" charset="0"/>
              </a:rPr>
              <a:t>Vendor blind spot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55664" y="3531870"/>
            <a:ext cx="411480" cy="22860"/>
          </a:xfrm>
          <a:prstGeom prst="rect">
            <a:avLst/>
          </a:prstGeom>
          <a:solidFill>
            <a:srgbClr val="E2D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venir Next LT Pro" panose="020B0504020202020204" pitchFamily="34" charset="0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6489354" y="3714750"/>
            <a:ext cx="109728" cy="2042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5C6166"/>
                </a:solidFill>
                <a:latin typeface="Avenir Next LT Pro" panose="020B0504020202020204" pitchFamily="34" charset="0"/>
              </a:rPr>
              <a:t>•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26514" y="3696462"/>
            <a:ext cx="2103120" cy="47436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>
                <a:solidFill>
                  <a:srgbClr val="1F262E"/>
                </a:solidFill>
                <a:latin typeface="Avenir Next LT Pro" panose="020B0504020202020204" pitchFamily="34" charset="0"/>
              </a:rPr>
              <a:t>Re-tested 1.5 weeks ago with Resistant.AI and Persona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89354" y="4260983"/>
            <a:ext cx="109728" cy="2042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5C6166"/>
                </a:solidFill>
                <a:latin typeface="Avenir Next LT Pro" panose="020B0504020202020204" pitchFamily="34" charset="0"/>
              </a:rPr>
              <a:t>•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626514" y="4194568"/>
            <a:ext cx="1874519" cy="7236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>
                <a:solidFill>
                  <a:srgbClr val="1F262E"/>
                </a:solidFill>
                <a:latin typeface="Avenir Next LT Pro" panose="020B0504020202020204" pitchFamily="34" charset="0"/>
              </a:rPr>
              <a:t>Both confirmed the document as authentic and Serbian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71065" y="4989321"/>
            <a:ext cx="109728" cy="2042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5C6166"/>
                </a:solidFill>
                <a:latin typeface="Avenir Next LT Pro" panose="020B0504020202020204" pitchFamily="34" charset="0"/>
              </a:rPr>
              <a:t>•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626514" y="4962185"/>
            <a:ext cx="1874519" cy="47436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>
                <a:solidFill>
                  <a:srgbClr val="1F262E"/>
                </a:solidFill>
                <a:latin typeface="Avenir Next LT Pro" panose="020B0504020202020204" pitchFamily="34" charset="0"/>
              </a:rPr>
              <a:t>Authenticity checks do not enforce address accuracy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46039" y="6068783"/>
            <a:ext cx="2103120" cy="1531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1">
                <a:solidFill>
                  <a:srgbClr val="0F1419"/>
                </a:solidFill>
                <a:latin typeface="Avenir Next LT Pro" panose="020B0504020202020204" pitchFamily="34" charset="0"/>
              </a:rPr>
              <a:t>VENDORS MISSED IT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951976" y="2160270"/>
            <a:ext cx="2651760" cy="4179168"/>
          </a:xfrm>
          <a:prstGeom prst="roundRect">
            <a:avLst>
              <a:gd name="adj" fmla="val 4000"/>
            </a:avLst>
          </a:prstGeom>
          <a:solidFill>
            <a:srgbClr val="EDE9FE"/>
          </a:solidFill>
          <a:ln w="9525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venir Next LT Pro" panose="020B0504020202020204" pitchFamily="34" charset="0"/>
            </a:endParaRPr>
          </a:p>
        </p:txBody>
      </p:sp>
      <p:sp>
        <p:nvSpPr>
          <p:cNvPr id="45" name="Oval 44"/>
          <p:cNvSpPr/>
          <p:nvPr/>
        </p:nvSpPr>
        <p:spPr>
          <a:xfrm>
            <a:off x="9226296" y="2434589"/>
            <a:ext cx="502920" cy="502920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venir Next LT Pro" panose="020B0504020202020204" pitchFamily="34" charset="0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9226296" y="2507741"/>
            <a:ext cx="502920" cy="3064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1">
                <a:solidFill>
                  <a:srgbClr val="FFFFFF"/>
                </a:solidFill>
                <a:latin typeface="Avenir Next LT Pro" panose="020B0504020202020204" pitchFamily="34" charset="0"/>
              </a:rPr>
              <a:t>4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226296" y="3120389"/>
            <a:ext cx="2227768" cy="289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sz="1700" b="1">
                <a:solidFill>
                  <a:srgbClr val="6D28D9"/>
                </a:solidFill>
                <a:latin typeface="Avenir Next LT Pro" panose="020B0504020202020204" pitchFamily="34" charset="0"/>
              </a:rPr>
              <a:t>The</a:t>
            </a:r>
            <a:r>
              <a:rPr sz="1700" b="1">
                <a:solidFill>
                  <a:srgbClr val="6D28D9"/>
                </a:solidFill>
                <a:latin typeface="Avenir Next LT Pro" panose="020B0504020202020204" pitchFamily="34" charset="0"/>
              </a:rPr>
              <a:t> </a:t>
            </a:r>
            <a:r>
              <a:rPr lang="en-US" sz="1700" b="1">
                <a:solidFill>
                  <a:srgbClr val="6D28D9"/>
                </a:solidFill>
                <a:latin typeface="Avenir Next LT Pro" panose="020B0504020202020204" pitchFamily="34" charset="0"/>
              </a:rPr>
              <a:t>KYC </a:t>
            </a:r>
            <a:r>
              <a:rPr sz="1700" b="1">
                <a:solidFill>
                  <a:srgbClr val="6D28D9"/>
                </a:solidFill>
                <a:latin typeface="Avenir Next LT Pro" panose="020B0504020202020204" pitchFamily="34" charset="0"/>
              </a:rPr>
              <a:t>agent saw</a:t>
            </a:r>
          </a:p>
        </p:txBody>
      </p:sp>
      <p:sp>
        <p:nvSpPr>
          <p:cNvPr id="48" name="Rectangle 47"/>
          <p:cNvSpPr/>
          <p:nvPr/>
        </p:nvSpPr>
        <p:spPr>
          <a:xfrm>
            <a:off x="9226296" y="3531870"/>
            <a:ext cx="411480" cy="22860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venir Next LT Pro" panose="020B0504020202020204" pitchFamily="34" charset="0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9173360" y="3695500"/>
            <a:ext cx="109728" cy="2042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6D28D9"/>
                </a:solidFill>
                <a:latin typeface="Avenir Next LT Pro" panose="020B0504020202020204" pitchFamily="34" charset="0"/>
              </a:rPr>
              <a:t>•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310520" y="3677212"/>
            <a:ext cx="2183650" cy="47436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lang="en-US" sz="1200">
                <a:solidFill>
                  <a:srgbClr val="1F262E"/>
                </a:solidFill>
                <a:latin typeface="Avenir Next LT Pro" panose="020B0504020202020204" pitchFamily="34" charset="0"/>
              </a:rPr>
              <a:t>T</a:t>
            </a:r>
            <a:r>
              <a:rPr lang="en-US" sz="1200" b="0">
                <a:solidFill>
                  <a:srgbClr val="1F262E"/>
                </a:solidFill>
                <a:latin typeface="Avenir Next LT Pro" panose="020B0504020202020204" pitchFamily="34" charset="0"/>
              </a:rPr>
              <a:t>he bank statement </a:t>
            </a:r>
            <a:r>
              <a:rPr lang="en-US" sz="1200" b="1">
                <a:solidFill>
                  <a:srgbClr val="1F262E"/>
                </a:solidFill>
                <a:latin typeface="Avenir Next LT Pro" panose="020B0504020202020204" pitchFamily="34" charset="0"/>
              </a:rPr>
              <a:t>DOES NOT </a:t>
            </a:r>
            <a:r>
              <a:rPr lang="en-US" sz="1200" b="0">
                <a:solidFill>
                  <a:srgbClr val="1F262E"/>
                </a:solidFill>
                <a:latin typeface="Avenir Next LT Pro" panose="020B0504020202020204" pitchFamily="34" charset="0"/>
              </a:rPr>
              <a:t>prove residence in Serbia</a:t>
            </a:r>
            <a:endParaRPr sz="1200" b="0">
              <a:solidFill>
                <a:srgbClr val="1F262E"/>
              </a:solidFill>
              <a:latin typeface="Avenir Next LT Pro" panose="020B0504020202020204" pitchFamily="34" charset="0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9310519" y="4218153"/>
            <a:ext cx="1874519" cy="7236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>
                <a:solidFill>
                  <a:srgbClr val="1F262E"/>
                </a:solidFill>
                <a:latin typeface="Avenir Next LT Pro" panose="020B0504020202020204" pitchFamily="34" charset="0"/>
              </a:rPr>
              <a:t>50,960.00 EUR of LORO inflows in 28 days, </a:t>
            </a:r>
            <a:r>
              <a:rPr sz="1200" b="1">
                <a:solidFill>
                  <a:srgbClr val="1F262E"/>
                </a:solidFill>
                <a:latin typeface="Avenir Next LT Pro" panose="020B0504020202020204" pitchFamily="34" charset="0"/>
              </a:rPr>
              <a:t>sanctions exposure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161327" y="4235130"/>
            <a:ext cx="109728" cy="2042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6D28D9"/>
                </a:solidFill>
                <a:latin typeface="Avenir Next LT Pro" panose="020B0504020202020204" pitchFamily="34" charset="0"/>
              </a:rPr>
              <a:t>•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168546" y="4934982"/>
            <a:ext cx="109728" cy="2042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6D28D9"/>
                </a:solidFill>
                <a:latin typeface="Avenir Next LT Pro" panose="020B0504020202020204" pitchFamily="34" charset="0"/>
              </a:rPr>
              <a:t>•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310518" y="4941971"/>
            <a:ext cx="1874519" cy="7236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>
                <a:solidFill>
                  <a:srgbClr val="1F262E"/>
                </a:solidFill>
                <a:latin typeface="Avenir Next LT Pro" panose="020B0504020202020204" pitchFamily="34" charset="0"/>
              </a:rPr>
              <a:t>Recommended EDD and </a:t>
            </a:r>
            <a:r>
              <a:rPr sz="1200" b="1">
                <a:solidFill>
                  <a:srgbClr val="1F262E"/>
                </a:solidFill>
                <a:latin typeface="Avenir Next LT Pro" panose="020B0504020202020204" pitchFamily="34" charset="0"/>
              </a:rPr>
              <a:t>re-screen </a:t>
            </a:r>
            <a:r>
              <a:rPr sz="1200" b="0">
                <a:solidFill>
                  <a:srgbClr val="1F262E"/>
                </a:solidFill>
                <a:latin typeface="Avenir Next LT Pro" panose="020B0504020202020204" pitchFamily="34" charset="0"/>
              </a:rPr>
              <a:t>against OFAC, EU, UK lists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216671" y="6068783"/>
            <a:ext cx="2103120" cy="1531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1">
                <a:solidFill>
                  <a:srgbClr val="6D28D9"/>
                </a:solidFill>
                <a:latin typeface="Avenir Next LT Pro" panose="020B0504020202020204" pitchFamily="34" charset="0"/>
              </a:rPr>
              <a:t>CAUGHT BY THE AGENT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820095" y="6446520"/>
            <a:ext cx="914400" cy="1531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lang="en-US" sz="900" b="0">
                <a:solidFill>
                  <a:srgbClr val="5C6166"/>
                </a:solidFill>
                <a:latin typeface="Avenir Next LT Pro" panose="020B0504020202020204" pitchFamily="34" charset="0"/>
              </a:rPr>
              <a:t>5</a:t>
            </a:r>
            <a:r>
              <a:rPr sz="900" b="0">
                <a:solidFill>
                  <a:srgbClr val="5C6166"/>
                </a:solidFill>
                <a:latin typeface="Avenir Next LT Pro" panose="020B0504020202020204" pitchFamily="34" charset="0"/>
              </a:rPr>
              <a:t> / </a:t>
            </a:r>
            <a:r>
              <a:rPr lang="en-US" sz="900" b="0">
                <a:solidFill>
                  <a:srgbClr val="5C6166"/>
                </a:solidFill>
                <a:latin typeface="Avenir Next LT Pro" panose="020B0504020202020204" pitchFamily="34" charset="0"/>
              </a:rPr>
              <a:t>7</a:t>
            </a:r>
            <a:endParaRPr sz="900" b="0">
              <a:solidFill>
                <a:srgbClr val="5C6166"/>
              </a:solidFill>
              <a:latin typeface="Avenir Next LT Pro" panose="020B0504020202020204" pitchFamily="34" charset="0"/>
            </a:endParaRPr>
          </a:p>
        </p:txBody>
      </p:sp>
      <p:pic>
        <p:nvPicPr>
          <p:cNvPr id="64" name="Picture 63">
            <a:extLst>
              <a:ext uri="{FF2B5EF4-FFF2-40B4-BE49-F238E27FC236}">
                <a16:creationId xmlns:a16="http://schemas.microsoft.com/office/drawing/2014/main" id="{63B831F3-7B93-B165-BD9C-93B97005442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326"/>
          <a:stretch>
            <a:fillRect/>
          </a:stretch>
        </p:blipFill>
        <p:spPr>
          <a:xfrm>
            <a:off x="10106526" y="2238040"/>
            <a:ext cx="1422374" cy="882212"/>
          </a:xfrm>
          <a:prstGeom prst="roundRect">
            <a:avLst>
              <a:gd name="adj" fmla="val 7481"/>
            </a:avLst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A899A78-D8C8-2B43-4C36-DC33223E10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Rounded Rectangle 43">
            <a:extLst>
              <a:ext uri="{FF2B5EF4-FFF2-40B4-BE49-F238E27FC236}">
                <a16:creationId xmlns:a16="http://schemas.microsoft.com/office/drawing/2014/main" id="{EC4F27B0-EA54-D1ED-45D5-D9785A9C1524}"/>
              </a:ext>
            </a:extLst>
          </p:cNvPr>
          <p:cNvSpPr/>
          <p:nvPr/>
        </p:nvSpPr>
        <p:spPr>
          <a:xfrm>
            <a:off x="4318522" y="1924050"/>
            <a:ext cx="7415973" cy="4014604"/>
          </a:xfrm>
          <a:prstGeom prst="roundRect">
            <a:avLst>
              <a:gd name="adj" fmla="val 4000"/>
            </a:avLst>
          </a:prstGeom>
          <a:solidFill>
            <a:srgbClr val="EDE9FE"/>
          </a:solidFill>
          <a:ln w="9525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venir Next LT Pro" panose="020B050402020202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6D3BDC6-6070-4409-7445-7F6DF61CEB0A}"/>
              </a:ext>
            </a:extLst>
          </p:cNvPr>
          <p:cNvSpPr/>
          <p:nvPr/>
        </p:nvSpPr>
        <p:spPr>
          <a:xfrm>
            <a:off x="640080" y="777240"/>
            <a:ext cx="411480" cy="36576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venir Next LT Pro" panose="020B05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AC1576A-F7B0-D5F7-CDE4-24DFAE57C4E8}"/>
              </a:ext>
            </a:extLst>
          </p:cNvPr>
          <p:cNvSpPr txBox="1"/>
          <p:nvPr/>
        </p:nvSpPr>
        <p:spPr>
          <a:xfrm>
            <a:off x="640080" y="1005840"/>
            <a:ext cx="10972800" cy="44428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800" b="1">
                <a:solidFill>
                  <a:srgbClr val="0F1419"/>
                </a:solidFill>
                <a:latin typeface="Avenir Next LT Pro" panose="020B0504020202020204" pitchFamily="34" charset="0"/>
              </a:rPr>
              <a:t>Russian user impersonating Serbian identity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5B4D8E21-9177-615B-1845-66237E295557}"/>
              </a:ext>
            </a:extLst>
          </p:cNvPr>
          <p:cNvSpPr txBox="1"/>
          <p:nvPr/>
        </p:nvSpPr>
        <p:spPr>
          <a:xfrm>
            <a:off x="10820095" y="6446520"/>
            <a:ext cx="914400" cy="1531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lang="en-US" sz="900" b="0">
                <a:solidFill>
                  <a:srgbClr val="5C6166"/>
                </a:solidFill>
                <a:latin typeface="Avenir Next LT Pro" panose="020B0504020202020204" pitchFamily="34" charset="0"/>
              </a:rPr>
              <a:t>6</a:t>
            </a:r>
            <a:r>
              <a:rPr sz="900" b="0">
                <a:solidFill>
                  <a:srgbClr val="5C6166"/>
                </a:solidFill>
                <a:latin typeface="Avenir Next LT Pro" panose="020B0504020202020204" pitchFamily="34" charset="0"/>
              </a:rPr>
              <a:t> / </a:t>
            </a:r>
            <a:r>
              <a:rPr lang="en-US" sz="900" b="0">
                <a:solidFill>
                  <a:srgbClr val="5C6166"/>
                </a:solidFill>
                <a:latin typeface="Avenir Next LT Pro" panose="020B0504020202020204" pitchFamily="34" charset="0"/>
              </a:rPr>
              <a:t>7</a:t>
            </a:r>
            <a:endParaRPr sz="900" b="0">
              <a:solidFill>
                <a:srgbClr val="5C6166"/>
              </a:solidFill>
              <a:latin typeface="Avenir Next LT Pro" panose="020B0504020202020204" pitchFamily="34" charset="0"/>
            </a:endParaRP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47DA99A7-4C97-3741-7CB1-472EBBF5E2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358" y="1924051"/>
            <a:ext cx="3283407" cy="401460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6E35BE99-2FD0-8584-6118-053D22DBC0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0704" y="2617842"/>
            <a:ext cx="6729311" cy="30115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0" name="TextBox 59">
            <a:extLst>
              <a:ext uri="{FF2B5EF4-FFF2-40B4-BE49-F238E27FC236}">
                <a16:creationId xmlns:a16="http://schemas.microsoft.com/office/drawing/2014/main" id="{8C4FC3BF-00E5-8F84-4CF6-F4610D8C49A5}"/>
              </a:ext>
            </a:extLst>
          </p:cNvPr>
          <p:cNvSpPr txBox="1"/>
          <p:nvPr/>
        </p:nvSpPr>
        <p:spPr>
          <a:xfrm>
            <a:off x="4720704" y="2163884"/>
            <a:ext cx="4662390" cy="289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sz="1700" b="1" dirty="0">
                <a:solidFill>
                  <a:srgbClr val="6D28D9"/>
                </a:solidFill>
                <a:latin typeface="Avenir Next LT Pro" panose="020B0504020202020204" pitchFamily="34" charset="0"/>
              </a:rPr>
              <a:t>The</a:t>
            </a:r>
            <a:r>
              <a:rPr sz="1700" b="1" dirty="0">
                <a:solidFill>
                  <a:srgbClr val="6D28D9"/>
                </a:solidFill>
                <a:latin typeface="Avenir Next LT Pro" panose="020B0504020202020204" pitchFamily="34" charset="0"/>
              </a:rPr>
              <a:t> </a:t>
            </a:r>
            <a:r>
              <a:rPr lang="en-US" sz="1700" b="1" dirty="0">
                <a:solidFill>
                  <a:srgbClr val="6D28D9"/>
                </a:solidFill>
                <a:latin typeface="Avenir Next LT Pro" panose="020B0504020202020204" pitchFamily="34" charset="0"/>
              </a:rPr>
              <a:t>KYC </a:t>
            </a:r>
            <a:r>
              <a:rPr sz="1700" b="1" dirty="0">
                <a:solidFill>
                  <a:srgbClr val="6D28D9"/>
                </a:solidFill>
                <a:latin typeface="Avenir Next LT Pro" panose="020B0504020202020204" pitchFamily="34" charset="0"/>
              </a:rPr>
              <a:t>agent</a:t>
            </a:r>
            <a:r>
              <a:rPr lang="en-US" sz="1700" b="1" dirty="0">
                <a:solidFill>
                  <a:srgbClr val="6D28D9"/>
                </a:solidFill>
                <a:latin typeface="Avenir Next LT Pro" panose="020B0504020202020204" pitchFamily="34" charset="0"/>
              </a:rPr>
              <a:t> extraction and insights</a:t>
            </a:r>
            <a:endParaRPr sz="1700" b="1" dirty="0">
              <a:solidFill>
                <a:srgbClr val="6D28D9"/>
              </a:solidFill>
              <a:latin typeface="Avenir Next LT Pro" panose="020B0504020202020204" pitchFamily="34" charset="0"/>
            </a:endParaRP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39893FF1-E352-4306-A290-07EB5A6BFFF7}"/>
              </a:ext>
            </a:extLst>
          </p:cNvPr>
          <p:cNvSpPr/>
          <p:nvPr/>
        </p:nvSpPr>
        <p:spPr>
          <a:xfrm>
            <a:off x="8067674" y="2889554"/>
            <a:ext cx="3353155" cy="539445"/>
          </a:xfrm>
          <a:prstGeom prst="rect">
            <a:avLst/>
          </a:prstGeom>
          <a:noFill/>
          <a:ln w="19050">
            <a:solidFill>
              <a:srgbClr val="FF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73449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2A709E9-1B6B-D314-8063-636BE1F1FC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9D5158F-948C-149D-5214-F9B67279CBEC}"/>
              </a:ext>
            </a:extLst>
          </p:cNvPr>
          <p:cNvSpPr/>
          <p:nvPr/>
        </p:nvSpPr>
        <p:spPr>
          <a:xfrm>
            <a:off x="640080" y="777240"/>
            <a:ext cx="411480" cy="36576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venir Next LT Pro" panose="020B05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32B9367-30D1-6269-429A-A3694BB0B008}"/>
              </a:ext>
            </a:extLst>
          </p:cNvPr>
          <p:cNvSpPr txBox="1"/>
          <p:nvPr/>
        </p:nvSpPr>
        <p:spPr>
          <a:xfrm>
            <a:off x="770708" y="2663854"/>
            <a:ext cx="3523603" cy="153029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sz="2800" b="1">
                <a:solidFill>
                  <a:srgbClr val="0F1419"/>
                </a:solidFill>
                <a:latin typeface="Avenir Next LT Pro" panose="020B0504020202020204" pitchFamily="34" charset="0"/>
              </a:rPr>
              <a:t>KYC SUMMARY</a:t>
            </a:r>
          </a:p>
          <a:p>
            <a:pPr algn="l">
              <a:lnSpc>
                <a:spcPct val="120000"/>
              </a:lnSpc>
            </a:pPr>
            <a:r>
              <a:rPr lang="en-US" sz="2800" b="1">
                <a:solidFill>
                  <a:srgbClr val="0F1419"/>
                </a:solidFill>
                <a:latin typeface="Avenir Next LT Pro" panose="020B0504020202020204" pitchFamily="34" charset="0"/>
              </a:rPr>
              <a:t>by the AI Agent</a:t>
            </a:r>
            <a:endParaRPr lang="he-IL" sz="2800" b="1">
              <a:solidFill>
                <a:srgbClr val="0F1419"/>
              </a:solidFill>
              <a:latin typeface="Avenir Next LT Pro" panose="020B0504020202020204" pitchFamily="34" charset="0"/>
            </a:endParaRPr>
          </a:p>
          <a:p>
            <a:pPr algn="l">
              <a:lnSpc>
                <a:spcPct val="120000"/>
              </a:lnSpc>
            </a:pPr>
            <a:endParaRPr lang="he-IL" sz="1400">
              <a:solidFill>
                <a:srgbClr val="0F1419"/>
              </a:solidFill>
              <a:latin typeface="Avenir Next LT Pro" panose="020B0504020202020204" pitchFamily="34" charset="0"/>
            </a:endParaRPr>
          </a:p>
          <a:p>
            <a:pPr algn="l">
              <a:lnSpc>
                <a:spcPct val="120000"/>
              </a:lnSpc>
            </a:pPr>
            <a:r>
              <a:rPr lang="he-IL" sz="1400">
                <a:solidFill>
                  <a:srgbClr val="0F1419"/>
                </a:solidFill>
                <a:latin typeface="Avenir Next LT Pro" panose="020B0504020202020204" pitchFamily="34" charset="0"/>
              </a:rPr>
              <a:t>Soon in a </a:t>
            </a:r>
            <a:r>
              <a:rPr lang="en-US" sz="1400">
                <a:solidFill>
                  <a:srgbClr val="0F1419"/>
                </a:solidFill>
                <a:latin typeface="Avenir Next LT Pro" panose="020B0504020202020204" pitchFamily="34" charset="0"/>
              </a:rPr>
              <a:t>B</a:t>
            </a:r>
            <a:r>
              <a:rPr lang="he-IL" sz="1400">
                <a:solidFill>
                  <a:srgbClr val="0F1419"/>
                </a:solidFill>
                <a:latin typeface="Avenir Next LT Pro" panose="020B0504020202020204" pitchFamily="34" charset="0"/>
              </a:rPr>
              <a:t>ackoffice near you</a:t>
            </a:r>
            <a:r>
              <a:rPr lang="en-US" sz="1400">
                <a:solidFill>
                  <a:srgbClr val="0F1419"/>
                </a:solidFill>
                <a:latin typeface="Avenir Next LT Pro" panose="020B0504020202020204" pitchFamily="34" charset="0"/>
              </a:rPr>
              <a:t> </a:t>
            </a:r>
            <a:endParaRPr sz="1400">
              <a:solidFill>
                <a:srgbClr val="0F1419"/>
              </a:solidFill>
              <a:latin typeface="Avenir Next LT Pro" panose="020B0504020202020204" pitchFamily="34" charset="0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3565DB6D-E0F2-F4BB-B44A-8190DFDB3D4E}"/>
              </a:ext>
            </a:extLst>
          </p:cNvPr>
          <p:cNvSpPr txBox="1"/>
          <p:nvPr/>
        </p:nvSpPr>
        <p:spPr>
          <a:xfrm>
            <a:off x="10820095" y="6446520"/>
            <a:ext cx="914400" cy="1531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5C6166"/>
                </a:solidFill>
                <a:latin typeface="Avenir Next LT Pro" panose="020B0504020202020204" pitchFamily="34" charset="0"/>
              </a:rPr>
              <a:t>4 / 6</a:t>
            </a:r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827992F4-3FBD-3720-2760-7262CB3464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91100" y="86336"/>
            <a:ext cx="7048500" cy="668532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3156135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356314D-BB9E-B608-E885-F2F18C1F15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114AAEF5-9A59-CCF8-46B2-09B6C669D7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12380"/>
            <a:ext cx="12339102" cy="56884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97400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9E6F92C-31BC-2D90-51CA-25449D60EA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36F79C8-81E9-4EDA-E5A9-5E6E3BDCD0F5}"/>
              </a:ext>
            </a:extLst>
          </p:cNvPr>
          <p:cNvSpPr/>
          <p:nvPr/>
        </p:nvSpPr>
        <p:spPr>
          <a:xfrm>
            <a:off x="640080" y="914400"/>
            <a:ext cx="411480" cy="36576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venir Next LT Pro" panose="020B05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3C68BDA-E6FF-C2D0-B64D-21B628A7BDB8}"/>
              </a:ext>
            </a:extLst>
          </p:cNvPr>
          <p:cNvSpPr txBox="1"/>
          <p:nvPr/>
        </p:nvSpPr>
        <p:spPr>
          <a:xfrm>
            <a:off x="640080" y="1280160"/>
            <a:ext cx="10972800" cy="113216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600" b="1">
                <a:solidFill>
                  <a:srgbClr val="0F1419"/>
                </a:solidFill>
                <a:latin typeface="Avenir Next LT Pro" panose="020B0504020202020204" pitchFamily="34" charset="0"/>
              </a:rPr>
              <a:t>From PoC to production</a:t>
            </a:r>
            <a:endParaRPr lang="he-IL" sz="3600" b="1">
              <a:solidFill>
                <a:srgbClr val="0F1419"/>
              </a:solidFill>
              <a:latin typeface="Avenir Next LT Pro" panose="020B0504020202020204" pitchFamily="34" charset="0"/>
            </a:endParaRPr>
          </a:p>
          <a:p>
            <a:pPr algn="l">
              <a:lnSpc>
                <a:spcPct val="105000"/>
              </a:lnSpc>
            </a:pPr>
            <a:endParaRPr sz="3600" b="1">
              <a:solidFill>
                <a:srgbClr val="0F1419"/>
              </a:solidFill>
              <a:latin typeface="Avenir Next LT Pro" panose="020B05040202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3C2E246-C49F-2A2A-8B42-06278E6B4BDD}"/>
              </a:ext>
            </a:extLst>
          </p:cNvPr>
          <p:cNvSpPr txBox="1"/>
          <p:nvPr/>
        </p:nvSpPr>
        <p:spPr>
          <a:xfrm>
            <a:off x="640080" y="1842679"/>
            <a:ext cx="10972800" cy="22127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sz="1300">
                <a:solidFill>
                  <a:srgbClr val="5C6166"/>
                </a:solidFill>
                <a:latin typeface="Avenir Next LT Pro" panose="020B0504020202020204" pitchFamily="34" charset="0"/>
              </a:rPr>
              <a:t>Lower-risk deployment first, real-time onboarding last. </a:t>
            </a:r>
          </a:p>
        </p:txBody>
      </p:sp>
      <p:sp>
        <p:nvSpPr>
          <p:cNvPr id="21" name="Rounded Rectangle 5">
            <a:extLst>
              <a:ext uri="{FF2B5EF4-FFF2-40B4-BE49-F238E27FC236}">
                <a16:creationId xmlns:a16="http://schemas.microsoft.com/office/drawing/2014/main" id="{27439A30-4BC3-11FF-C01C-BC3C292C89EF}"/>
              </a:ext>
            </a:extLst>
          </p:cNvPr>
          <p:cNvSpPr/>
          <p:nvPr/>
        </p:nvSpPr>
        <p:spPr>
          <a:xfrm>
            <a:off x="506730" y="2412329"/>
            <a:ext cx="3703320" cy="27889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venir Next LT Pro" panose="020B0504020202020204" pitchFamily="34" charset="0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82BCEE3-09B0-3943-6840-803E1577B2B6}"/>
              </a:ext>
            </a:extLst>
          </p:cNvPr>
          <p:cNvSpPr/>
          <p:nvPr/>
        </p:nvSpPr>
        <p:spPr>
          <a:xfrm>
            <a:off x="781050" y="2676362"/>
            <a:ext cx="164592" cy="36576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Avenir Next LT Pro" panose="020B0504020202020204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0B0D4D1-F996-5A58-08B8-3A13C584C915}"/>
              </a:ext>
            </a:extLst>
          </p:cNvPr>
          <p:cNvSpPr txBox="1"/>
          <p:nvPr/>
        </p:nvSpPr>
        <p:spPr>
          <a:xfrm>
            <a:off x="1009650" y="2613497"/>
            <a:ext cx="1371600" cy="1872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6D28D9"/>
                </a:solidFill>
                <a:latin typeface="Avenir Next LT Pro" panose="020B0504020202020204" pitchFamily="34" charset="0"/>
              </a:rPr>
              <a:t>NOW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9E7E5764-F9ED-76DC-179F-5B1BF1B2F3B6}"/>
              </a:ext>
            </a:extLst>
          </p:cNvPr>
          <p:cNvSpPr/>
          <p:nvPr/>
        </p:nvSpPr>
        <p:spPr>
          <a:xfrm>
            <a:off x="781050" y="2979257"/>
            <a:ext cx="502920" cy="502920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venir Next LT Pro" panose="020B0504020202020204" pitchFamily="34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D16CB4E-02F0-8B14-97A7-AFEBC802CBE5}"/>
              </a:ext>
            </a:extLst>
          </p:cNvPr>
          <p:cNvSpPr txBox="1"/>
          <p:nvPr/>
        </p:nvSpPr>
        <p:spPr>
          <a:xfrm>
            <a:off x="781050" y="3052409"/>
            <a:ext cx="502920" cy="3064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1">
                <a:solidFill>
                  <a:srgbClr val="FFFFFF"/>
                </a:solidFill>
                <a:latin typeface="Avenir Next LT Pro" panose="020B0504020202020204" pitchFamily="34" charset="0"/>
              </a:rPr>
              <a:t>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8105C70-D947-C3CA-3325-EED64C818C54}"/>
              </a:ext>
            </a:extLst>
          </p:cNvPr>
          <p:cNvSpPr txBox="1"/>
          <p:nvPr/>
        </p:nvSpPr>
        <p:spPr>
          <a:xfrm>
            <a:off x="781050" y="3601049"/>
            <a:ext cx="3154679" cy="3064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>
                <a:solidFill>
                  <a:srgbClr val="0F1419"/>
                </a:solidFill>
                <a:latin typeface="Avenir Next LT Pro" panose="020B0504020202020204" pitchFamily="34" charset="0"/>
              </a:rPr>
              <a:t>Testing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740A69A-26E6-1193-F1CA-792FF2BCE546}"/>
              </a:ext>
            </a:extLst>
          </p:cNvPr>
          <p:cNvSpPr txBox="1"/>
          <p:nvPr/>
        </p:nvSpPr>
        <p:spPr>
          <a:xfrm>
            <a:off x="781050" y="4012529"/>
            <a:ext cx="3154679" cy="2042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6D28D9"/>
                </a:solidFill>
                <a:latin typeface="Avenir Next LT Pro" panose="020B0504020202020204" pitchFamily="34" charset="0"/>
              </a:rPr>
              <a:t>Build the baseline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BBEFCA10-E238-B0EC-8FEA-4A919166DC90}"/>
              </a:ext>
            </a:extLst>
          </p:cNvPr>
          <p:cNvSpPr/>
          <p:nvPr/>
        </p:nvSpPr>
        <p:spPr>
          <a:xfrm>
            <a:off x="781050" y="4350857"/>
            <a:ext cx="457200" cy="18288"/>
          </a:xfrm>
          <a:prstGeom prst="rect">
            <a:avLst/>
          </a:prstGeom>
          <a:solidFill>
            <a:srgbClr val="E2D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>
              <a:latin typeface="Avenir Next LT Pro" panose="020B0504020202020204" pitchFamily="34" charset="0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53032FD8-4CAE-E43D-5761-C5550B9811DB}"/>
              </a:ext>
            </a:extLst>
          </p:cNvPr>
          <p:cNvSpPr/>
          <p:nvPr/>
        </p:nvSpPr>
        <p:spPr>
          <a:xfrm>
            <a:off x="781050" y="4524593"/>
            <a:ext cx="45720" cy="45720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>
              <a:latin typeface="Avenir Next LT Pro" panose="020B0504020202020204" pitchFamily="34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EE3549C-8D11-644B-443A-D3CB968A8734}"/>
              </a:ext>
            </a:extLst>
          </p:cNvPr>
          <p:cNvSpPr txBox="1"/>
          <p:nvPr/>
        </p:nvSpPr>
        <p:spPr>
          <a:xfrm>
            <a:off x="890777" y="4460585"/>
            <a:ext cx="3063239" cy="2042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dirty="0">
                <a:solidFill>
                  <a:srgbClr val="1F262E"/>
                </a:solidFill>
                <a:latin typeface="Avenir Next LT Pro" panose="020B0504020202020204" pitchFamily="34" charset="0"/>
              </a:rPr>
              <a:t>Rep</a:t>
            </a:r>
            <a:r>
              <a:rPr lang="en-US" sz="1200" b="0" dirty="0">
                <a:solidFill>
                  <a:srgbClr val="1F262E"/>
                </a:solidFill>
                <a:latin typeface="Avenir Next LT Pro" panose="020B0504020202020204" pitchFamily="34" charset="0"/>
              </a:rPr>
              <a:t> and Product</a:t>
            </a:r>
            <a:r>
              <a:rPr sz="1200" b="0" dirty="0">
                <a:solidFill>
                  <a:srgbClr val="1F262E"/>
                </a:solidFill>
                <a:latin typeface="Avenir Next LT Pro" panose="020B0504020202020204" pitchFamily="34" charset="0"/>
              </a:rPr>
              <a:t> test set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72CDA270-CFCC-2331-88C3-7511AC0D3144}"/>
              </a:ext>
            </a:extLst>
          </p:cNvPr>
          <p:cNvSpPr/>
          <p:nvPr/>
        </p:nvSpPr>
        <p:spPr>
          <a:xfrm>
            <a:off x="781050" y="4716617"/>
            <a:ext cx="45720" cy="45720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>
              <a:latin typeface="Avenir Next LT Pro" panose="020B0504020202020204" pitchFamily="34" charset="0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7078A52-FE9D-208A-C660-08EE1D0CF813}"/>
              </a:ext>
            </a:extLst>
          </p:cNvPr>
          <p:cNvSpPr txBox="1"/>
          <p:nvPr/>
        </p:nvSpPr>
        <p:spPr>
          <a:xfrm>
            <a:off x="890777" y="4652609"/>
            <a:ext cx="3063239" cy="2042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dirty="0">
                <a:solidFill>
                  <a:srgbClr val="1F262E"/>
                </a:solidFill>
                <a:latin typeface="Avenir Next LT Pro" panose="020B0504020202020204" pitchFamily="34" charset="0"/>
              </a:rPr>
              <a:t>Accuracy and confidence calibration</a:t>
            </a:r>
          </a:p>
        </p:txBody>
      </p:sp>
      <p:sp>
        <p:nvSpPr>
          <p:cNvPr id="35" name="Rounded Rectangle 19">
            <a:extLst>
              <a:ext uri="{FF2B5EF4-FFF2-40B4-BE49-F238E27FC236}">
                <a16:creationId xmlns:a16="http://schemas.microsoft.com/office/drawing/2014/main" id="{B3DB6537-9A90-C5A8-1877-4DA94D0DD7D5}"/>
              </a:ext>
            </a:extLst>
          </p:cNvPr>
          <p:cNvSpPr/>
          <p:nvPr/>
        </p:nvSpPr>
        <p:spPr>
          <a:xfrm>
            <a:off x="4347210" y="2412329"/>
            <a:ext cx="3703320" cy="27889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venir Next LT Pro" panose="020B0504020202020204" pitchFamily="34" charset="0"/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78FCCCB2-9A29-4E49-E4C3-29449EBB2DBA}"/>
              </a:ext>
            </a:extLst>
          </p:cNvPr>
          <p:cNvSpPr/>
          <p:nvPr/>
        </p:nvSpPr>
        <p:spPr>
          <a:xfrm>
            <a:off x="4621530" y="2676362"/>
            <a:ext cx="164592" cy="36576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Avenir Next LT Pro" panose="020B0504020202020204" pitchFamily="34" charset="0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56AACA4-927C-617D-89AE-41D4B9EB44E8}"/>
              </a:ext>
            </a:extLst>
          </p:cNvPr>
          <p:cNvSpPr txBox="1"/>
          <p:nvPr/>
        </p:nvSpPr>
        <p:spPr>
          <a:xfrm>
            <a:off x="4850130" y="2613497"/>
            <a:ext cx="1371600" cy="1872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6D28D9"/>
                </a:solidFill>
                <a:latin typeface="Avenir Next LT Pro" panose="020B0504020202020204" pitchFamily="34" charset="0"/>
              </a:rPr>
              <a:t>NEXT</a:t>
            </a:r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7358354F-309F-9F69-3870-C99BD2883133}"/>
              </a:ext>
            </a:extLst>
          </p:cNvPr>
          <p:cNvSpPr/>
          <p:nvPr/>
        </p:nvSpPr>
        <p:spPr>
          <a:xfrm>
            <a:off x="4621530" y="2979257"/>
            <a:ext cx="502920" cy="502920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venir Next LT Pro" panose="020B0504020202020204" pitchFamily="34" charset="0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894EC58C-1FB9-B808-D100-2204FAD15AB3}"/>
              </a:ext>
            </a:extLst>
          </p:cNvPr>
          <p:cNvSpPr txBox="1"/>
          <p:nvPr/>
        </p:nvSpPr>
        <p:spPr>
          <a:xfrm>
            <a:off x="4621530" y="3052409"/>
            <a:ext cx="502920" cy="3064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1">
                <a:solidFill>
                  <a:srgbClr val="FFFFFF"/>
                </a:solidFill>
                <a:latin typeface="Avenir Next LT Pro" panose="020B0504020202020204" pitchFamily="34" charset="0"/>
              </a:rPr>
              <a:t>2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CDAC8F2-3526-3756-CC8A-73C0DFD99870}"/>
              </a:ext>
            </a:extLst>
          </p:cNvPr>
          <p:cNvSpPr txBox="1"/>
          <p:nvPr/>
        </p:nvSpPr>
        <p:spPr>
          <a:xfrm>
            <a:off x="4621530" y="3601049"/>
            <a:ext cx="3154679" cy="3064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>
                <a:solidFill>
                  <a:srgbClr val="0F1419"/>
                </a:solidFill>
                <a:latin typeface="Avenir Next LT Pro" panose="020B0504020202020204" pitchFamily="34" charset="0"/>
              </a:rPr>
              <a:t>Non-real-time flow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BB5917E0-D5E3-B3BF-1B86-60E54FE23BBD}"/>
              </a:ext>
            </a:extLst>
          </p:cNvPr>
          <p:cNvSpPr txBox="1"/>
          <p:nvPr/>
        </p:nvSpPr>
        <p:spPr>
          <a:xfrm>
            <a:off x="4621530" y="4012529"/>
            <a:ext cx="3154679" cy="2042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6D28D9"/>
                </a:solidFill>
                <a:latin typeface="Avenir Next LT Pro" panose="020B0504020202020204" pitchFamily="34" charset="0"/>
              </a:rPr>
              <a:t>Wire to back-office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47ADDF22-17DA-9682-92D4-BD9E3369E547}"/>
              </a:ext>
            </a:extLst>
          </p:cNvPr>
          <p:cNvSpPr/>
          <p:nvPr/>
        </p:nvSpPr>
        <p:spPr>
          <a:xfrm>
            <a:off x="4621530" y="4350857"/>
            <a:ext cx="457200" cy="18288"/>
          </a:xfrm>
          <a:prstGeom prst="rect">
            <a:avLst/>
          </a:prstGeom>
          <a:solidFill>
            <a:srgbClr val="E2D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>
              <a:latin typeface="Avenir Next LT Pro" panose="020B0504020202020204" pitchFamily="34" charset="0"/>
            </a:endParaRP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0D85C9BE-10DC-C47C-A17C-B1189BCD2760}"/>
              </a:ext>
            </a:extLst>
          </p:cNvPr>
          <p:cNvSpPr/>
          <p:nvPr/>
        </p:nvSpPr>
        <p:spPr>
          <a:xfrm>
            <a:off x="4621530" y="4524593"/>
            <a:ext cx="45720" cy="45720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>
              <a:latin typeface="Avenir Next LT Pro" panose="020B0504020202020204" pitchFamily="34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24C57B7B-C761-DFA2-BB4D-40BC7F49FE02}"/>
              </a:ext>
            </a:extLst>
          </p:cNvPr>
          <p:cNvSpPr txBox="1"/>
          <p:nvPr/>
        </p:nvSpPr>
        <p:spPr>
          <a:xfrm>
            <a:off x="4731258" y="4460585"/>
            <a:ext cx="3063239" cy="2042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1F262E"/>
                </a:solidFill>
                <a:latin typeface="Avenir Next LT Pro" panose="020B0504020202020204" pitchFamily="34" charset="0"/>
              </a:rPr>
              <a:t>Pillar 2: pre-rep review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5C050FC8-C6BE-CF78-F3B4-8890EF2EC74A}"/>
              </a:ext>
            </a:extLst>
          </p:cNvPr>
          <p:cNvSpPr/>
          <p:nvPr/>
        </p:nvSpPr>
        <p:spPr>
          <a:xfrm>
            <a:off x="4621530" y="4716617"/>
            <a:ext cx="45720" cy="45720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>
              <a:latin typeface="Avenir Next LT Pro" panose="020B0504020202020204" pitchFamily="34" charset="0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5202779E-8259-1EFD-287F-C3A20C066742}"/>
              </a:ext>
            </a:extLst>
          </p:cNvPr>
          <p:cNvSpPr txBox="1"/>
          <p:nvPr/>
        </p:nvSpPr>
        <p:spPr>
          <a:xfrm>
            <a:off x="4731258" y="4652609"/>
            <a:ext cx="3063239" cy="2042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dirty="0">
                <a:solidFill>
                  <a:srgbClr val="1F262E"/>
                </a:solidFill>
                <a:latin typeface="Avenir Next LT Pro" panose="020B0504020202020204" pitchFamily="34" charset="0"/>
              </a:rPr>
              <a:t>Pillar 3: ongoing QA</a:t>
            </a:r>
            <a:r>
              <a:rPr lang="en-US" sz="1200" b="0" dirty="0">
                <a:solidFill>
                  <a:srgbClr val="1F262E"/>
                </a:solidFill>
                <a:latin typeface="Avenir Next LT Pro" panose="020B0504020202020204" pitchFamily="34" charset="0"/>
              </a:rPr>
              <a:t> Incl. eBay data</a:t>
            </a:r>
            <a:endParaRPr sz="1200" b="0" dirty="0">
              <a:solidFill>
                <a:srgbClr val="1F262E"/>
              </a:solidFill>
              <a:latin typeface="Avenir Next LT Pro" panose="020B0504020202020204" pitchFamily="34" charset="0"/>
            </a:endParaRP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C7753B88-B456-56A5-31CA-28EC09362891}"/>
              </a:ext>
            </a:extLst>
          </p:cNvPr>
          <p:cNvSpPr/>
          <p:nvPr/>
        </p:nvSpPr>
        <p:spPr>
          <a:xfrm>
            <a:off x="4621530" y="4908641"/>
            <a:ext cx="45720" cy="45720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>
              <a:latin typeface="Avenir Next LT Pro" panose="020B0504020202020204" pitchFamily="34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D17A7B5B-68AE-2ED9-0333-52B901EB52FE}"/>
              </a:ext>
            </a:extLst>
          </p:cNvPr>
          <p:cNvSpPr txBox="1"/>
          <p:nvPr/>
        </p:nvSpPr>
        <p:spPr>
          <a:xfrm>
            <a:off x="4731258" y="4844633"/>
            <a:ext cx="3063239" cy="2042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1F262E"/>
                </a:solidFill>
                <a:latin typeface="Avenir Next LT Pro" panose="020B0504020202020204" pitchFamily="34" charset="0"/>
              </a:rPr>
              <a:t>No user-facing latency, lower bar</a:t>
            </a:r>
          </a:p>
        </p:txBody>
      </p:sp>
      <p:sp>
        <p:nvSpPr>
          <p:cNvPr id="49" name="Rounded Rectangle 33">
            <a:extLst>
              <a:ext uri="{FF2B5EF4-FFF2-40B4-BE49-F238E27FC236}">
                <a16:creationId xmlns:a16="http://schemas.microsoft.com/office/drawing/2014/main" id="{6E970AA9-161E-254F-9EE7-3F63B6DE10E3}"/>
              </a:ext>
            </a:extLst>
          </p:cNvPr>
          <p:cNvSpPr/>
          <p:nvPr/>
        </p:nvSpPr>
        <p:spPr>
          <a:xfrm>
            <a:off x="8187690" y="2412329"/>
            <a:ext cx="3703320" cy="27889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venir Next LT Pro" panose="020B0504020202020204" pitchFamily="34" charset="0"/>
            </a:endParaRP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F7100CCF-3E0D-E9A0-F7EA-590319857B49}"/>
              </a:ext>
            </a:extLst>
          </p:cNvPr>
          <p:cNvSpPr/>
          <p:nvPr/>
        </p:nvSpPr>
        <p:spPr>
          <a:xfrm>
            <a:off x="8462010" y="2676362"/>
            <a:ext cx="164592" cy="36576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Avenir Next LT Pro" panose="020B0504020202020204" pitchFamily="34" charset="0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3E539A0D-CA38-5D8D-F500-F59759475628}"/>
              </a:ext>
            </a:extLst>
          </p:cNvPr>
          <p:cNvSpPr txBox="1"/>
          <p:nvPr/>
        </p:nvSpPr>
        <p:spPr>
          <a:xfrm>
            <a:off x="8690610" y="2613497"/>
            <a:ext cx="1371600" cy="1872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6D28D9"/>
                </a:solidFill>
                <a:latin typeface="Avenir Next LT Pro" panose="020B0504020202020204" pitchFamily="34" charset="0"/>
              </a:rPr>
              <a:t>AFTER</a:t>
            </a:r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CB6D4AB9-921B-318A-F482-B01A008AD38A}"/>
              </a:ext>
            </a:extLst>
          </p:cNvPr>
          <p:cNvSpPr/>
          <p:nvPr/>
        </p:nvSpPr>
        <p:spPr>
          <a:xfrm>
            <a:off x="8462010" y="2979257"/>
            <a:ext cx="502920" cy="502920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venir Next LT Pro" panose="020B0504020202020204" pitchFamily="34" charset="0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229F8C3B-4C12-C8C0-F198-BAEB18680326}"/>
              </a:ext>
            </a:extLst>
          </p:cNvPr>
          <p:cNvSpPr txBox="1"/>
          <p:nvPr/>
        </p:nvSpPr>
        <p:spPr>
          <a:xfrm>
            <a:off x="8462010" y="3052409"/>
            <a:ext cx="502920" cy="3064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1">
                <a:solidFill>
                  <a:srgbClr val="FFFFFF"/>
                </a:solidFill>
                <a:latin typeface="Avenir Next LT Pro" panose="020B0504020202020204" pitchFamily="34" charset="0"/>
              </a:rPr>
              <a:t>3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F7F1ED43-01D3-D67B-9CC2-934C5936AE2E}"/>
              </a:ext>
            </a:extLst>
          </p:cNvPr>
          <p:cNvSpPr txBox="1"/>
          <p:nvPr/>
        </p:nvSpPr>
        <p:spPr>
          <a:xfrm>
            <a:off x="8462010" y="3601049"/>
            <a:ext cx="3154679" cy="3064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>
                <a:solidFill>
                  <a:srgbClr val="0F1419"/>
                </a:solidFill>
                <a:latin typeface="Avenir Next LT Pro" panose="020B0504020202020204" pitchFamily="34" charset="0"/>
              </a:rPr>
              <a:t>Real-time flow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DD5DF042-7D71-2B0F-F798-1EA02AA4FFA7}"/>
              </a:ext>
            </a:extLst>
          </p:cNvPr>
          <p:cNvSpPr txBox="1"/>
          <p:nvPr/>
        </p:nvSpPr>
        <p:spPr>
          <a:xfrm>
            <a:off x="8462010" y="4012529"/>
            <a:ext cx="3154679" cy="2042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6D28D9"/>
                </a:solidFill>
                <a:latin typeface="Avenir Next LT Pro" panose="020B0504020202020204" pitchFamily="34" charset="0"/>
              </a:rPr>
              <a:t>Wire to CLM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0FF9DF55-DA72-596B-0D9B-4D2B2FD34A49}"/>
              </a:ext>
            </a:extLst>
          </p:cNvPr>
          <p:cNvSpPr/>
          <p:nvPr/>
        </p:nvSpPr>
        <p:spPr>
          <a:xfrm>
            <a:off x="8462010" y="4350857"/>
            <a:ext cx="457200" cy="18288"/>
          </a:xfrm>
          <a:prstGeom prst="rect">
            <a:avLst/>
          </a:prstGeom>
          <a:solidFill>
            <a:srgbClr val="E2D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>
              <a:latin typeface="Avenir Next LT Pro" panose="020B0504020202020204" pitchFamily="34" charset="0"/>
            </a:endParaRP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5DBCD936-9A0F-FC1E-7519-E3D50327F592}"/>
              </a:ext>
            </a:extLst>
          </p:cNvPr>
          <p:cNvSpPr/>
          <p:nvPr/>
        </p:nvSpPr>
        <p:spPr>
          <a:xfrm>
            <a:off x="8462010" y="4524593"/>
            <a:ext cx="45720" cy="45720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>
              <a:latin typeface="Avenir Next LT Pro" panose="020B0504020202020204" pitchFamily="34" charset="0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D175ACAF-2FA9-2135-AE85-3595134E9CA3}"/>
              </a:ext>
            </a:extLst>
          </p:cNvPr>
          <p:cNvSpPr txBox="1"/>
          <p:nvPr/>
        </p:nvSpPr>
        <p:spPr>
          <a:xfrm>
            <a:off x="8571738" y="4460585"/>
            <a:ext cx="3063239" cy="2042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1F262E"/>
                </a:solidFill>
                <a:latin typeface="Avenir Next LT Pro" panose="020B0504020202020204" pitchFamily="34" charset="0"/>
              </a:rPr>
              <a:t>Pillar 1: in-onboarding decisioning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5254F193-0E1E-3907-79A6-4B51CDBB03B0}"/>
              </a:ext>
            </a:extLst>
          </p:cNvPr>
          <p:cNvSpPr/>
          <p:nvPr/>
        </p:nvSpPr>
        <p:spPr>
          <a:xfrm>
            <a:off x="8462010" y="4716617"/>
            <a:ext cx="45720" cy="45720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>
              <a:latin typeface="Avenir Next LT Pro" panose="020B0504020202020204" pitchFamily="34" charset="0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A582256D-5F37-F0F3-C8B4-1B8DFAC587A5}"/>
              </a:ext>
            </a:extLst>
          </p:cNvPr>
          <p:cNvSpPr txBox="1"/>
          <p:nvPr/>
        </p:nvSpPr>
        <p:spPr>
          <a:xfrm>
            <a:off x="8571738" y="4652609"/>
            <a:ext cx="3063239" cy="2042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1F262E"/>
                </a:solidFill>
                <a:latin typeface="Avenir Next LT Pro" panose="020B0504020202020204" pitchFamily="34" charset="0"/>
              </a:rPr>
              <a:t>Start with Tier 3 and 4 countries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FB3F940A-9FD8-B8CC-9A0B-902F3D7E9B44}"/>
              </a:ext>
            </a:extLst>
          </p:cNvPr>
          <p:cNvSpPr/>
          <p:nvPr/>
        </p:nvSpPr>
        <p:spPr>
          <a:xfrm>
            <a:off x="8462010" y="4908641"/>
            <a:ext cx="45720" cy="45720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>
              <a:latin typeface="Avenir Next LT Pro" panose="020B0504020202020204" pitchFamily="34" charset="0"/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8744CAE2-A7AD-898A-5F30-33DF40796890}"/>
              </a:ext>
            </a:extLst>
          </p:cNvPr>
          <p:cNvSpPr txBox="1"/>
          <p:nvPr/>
        </p:nvSpPr>
        <p:spPr>
          <a:xfrm>
            <a:off x="8571738" y="4844633"/>
            <a:ext cx="3063239" cy="2042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dirty="0">
                <a:solidFill>
                  <a:srgbClr val="1F262E"/>
                </a:solidFill>
                <a:latin typeface="Avenir Next LT Pro" panose="020B0504020202020204" pitchFamily="34" charset="0"/>
              </a:rPr>
              <a:t>Higher bar: latency, </a:t>
            </a:r>
            <a:r>
              <a:rPr lang="en-US" sz="1200" b="0" dirty="0">
                <a:solidFill>
                  <a:srgbClr val="1F262E"/>
                </a:solidFill>
                <a:latin typeface="Avenir Next LT Pro" panose="020B0504020202020204" pitchFamily="34" charset="0"/>
              </a:rPr>
              <a:t>accuracy, fallbacks</a:t>
            </a:r>
            <a:endParaRPr sz="1200" b="0" dirty="0">
              <a:solidFill>
                <a:srgbClr val="1F262E"/>
              </a:solidFill>
              <a:latin typeface="Avenir Next LT Pro" panose="020B05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42BCAEC-16CF-39F9-47F8-7D015AABFAAA}"/>
              </a:ext>
            </a:extLst>
          </p:cNvPr>
          <p:cNvSpPr txBox="1"/>
          <p:nvPr/>
        </p:nvSpPr>
        <p:spPr>
          <a:xfrm>
            <a:off x="10820095" y="6446520"/>
            <a:ext cx="914400" cy="1531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lang="en-US" sz="900" b="0">
                <a:solidFill>
                  <a:srgbClr val="5C6166"/>
                </a:solidFill>
                <a:latin typeface="Avenir Next LT Pro" panose="020B0504020202020204" pitchFamily="34" charset="0"/>
              </a:rPr>
              <a:t>7</a:t>
            </a:r>
            <a:r>
              <a:rPr sz="900" b="0">
                <a:solidFill>
                  <a:srgbClr val="5C6166"/>
                </a:solidFill>
                <a:latin typeface="Avenir Next LT Pro" panose="020B0504020202020204" pitchFamily="34" charset="0"/>
              </a:rPr>
              <a:t> / </a:t>
            </a:r>
            <a:r>
              <a:rPr lang="en-US" sz="900" b="0">
                <a:solidFill>
                  <a:srgbClr val="5C6166"/>
                </a:solidFill>
                <a:latin typeface="Avenir Next LT Pro" panose="020B0504020202020204" pitchFamily="34" charset="0"/>
              </a:rPr>
              <a:t>7</a:t>
            </a:r>
            <a:endParaRPr sz="900" b="0">
              <a:solidFill>
                <a:srgbClr val="5C6166"/>
              </a:solidFill>
              <a:latin typeface="Avenir Next LT Pro" panose="020B0504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2C76EA1-23BF-D8C0-EA41-1475AFFB650F}"/>
              </a:ext>
            </a:extLst>
          </p:cNvPr>
          <p:cNvSpPr/>
          <p:nvPr/>
        </p:nvSpPr>
        <p:spPr>
          <a:xfrm>
            <a:off x="781050" y="4911681"/>
            <a:ext cx="45720" cy="45720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>
              <a:latin typeface="Avenir Next LT Pro" panose="020B05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FB48A89-4C22-28C2-9CBB-293A526E6A00}"/>
              </a:ext>
            </a:extLst>
          </p:cNvPr>
          <p:cNvSpPr txBox="1"/>
          <p:nvPr/>
        </p:nvSpPr>
        <p:spPr>
          <a:xfrm>
            <a:off x="890777" y="4847673"/>
            <a:ext cx="3200400" cy="2042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sz="1200" dirty="0">
                <a:solidFill>
                  <a:srgbClr val="1F262E"/>
                </a:solidFill>
                <a:latin typeface="Avenir Next LT Pro" panose="020B0504020202020204" pitchFamily="34" charset="0"/>
              </a:rPr>
              <a:t>Head to head with </a:t>
            </a:r>
            <a:r>
              <a:rPr lang="en-US" sz="1200" dirty="0" err="1">
                <a:solidFill>
                  <a:srgbClr val="1F262E"/>
                </a:solidFill>
                <a:latin typeface="Avenir Next LT Pro" panose="020B0504020202020204" pitchFamily="34" charset="0"/>
              </a:rPr>
              <a:t>Auditale</a:t>
            </a:r>
            <a:r>
              <a:rPr lang="en-US" sz="1200" dirty="0">
                <a:solidFill>
                  <a:srgbClr val="1F262E"/>
                </a:solidFill>
                <a:latin typeface="Avenir Next LT Pro" panose="020B0504020202020204" pitchFamily="34" charset="0"/>
              </a:rPr>
              <a:t> and KYC vendors</a:t>
            </a:r>
            <a:endParaRPr sz="1200" b="0" dirty="0">
              <a:solidFill>
                <a:srgbClr val="1F262E"/>
              </a:solidFill>
              <a:latin typeface="Avenir Next LT Pro" panose="020B05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271804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61</TotalTime>
  <Words>591</Words>
  <Application>Microsoft Macintosh PowerPoint</Application>
  <PresentationFormat>Widescreen</PresentationFormat>
  <Paragraphs>125</Paragraphs>
  <Slides>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Aptos</vt:lpstr>
      <vt:lpstr>Arial</vt:lpstr>
      <vt:lpstr>Avenir Next LT Pro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Shilhav Ben-David</dc:creator>
  <cp:keywords/>
  <dc:description>generated using python-pptx</dc:description>
  <cp:lastModifiedBy>Yonatan Orpeli</cp:lastModifiedBy>
  <cp:revision>4</cp:revision>
  <dcterms:created xsi:type="dcterms:W3CDTF">2013-01-27T09:14:16Z</dcterms:created>
  <dcterms:modified xsi:type="dcterms:W3CDTF">2026-06-03T18:01:19Z</dcterms:modified>
  <cp:category/>
</cp:coreProperties>
</file>