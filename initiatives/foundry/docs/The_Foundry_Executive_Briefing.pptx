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72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977DFF">
              <a:alpha val="8000"/>
            </a:srgbClr>
          </a:solidFill>
          <a:ln w="1270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0033FF">
              <a:alpha val="5000"/>
            </a:srgbClr>
          </a:solidFill>
          <a:ln w="9525">
            <a:solidFill>
              <a:srgbClr val="003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977DFF">
              <a:alpha val="6000"/>
            </a:srgbClr>
          </a:solidFill>
          <a:ln w="9525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977D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EXECUTIVE BRIEFING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Foundry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Payoneer's AI Academy for Product &amp; Engineering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828800" cy="0"/>
          </a:xfrm>
          <a:prstGeom prst="line">
            <a:avLst/>
          </a:prstGeom>
          <a:noFill/>
          <a:ln w="3175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6032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38912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FACULTY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1792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3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1148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F0E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WHY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doesn't change what great looks like.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exposes who was hiding.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Foundry isn't a training program. It's how we become an AI-native product and engineering organization - where every PM and engineer has the judgment, tools, and muscle memory to build with AI, not just talk about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7863840" cy="0"/>
          </a:xfrm>
          <a:prstGeom prst="line">
            <a:avLst/>
          </a:prstGeom>
          <a:noFill/>
          <a:ln w="12700">
            <a:solidFill>
              <a:srgbClr val="EE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384048" cy="384048"/>
          </a:xfrm>
          <a:prstGeom prst="ellipse">
            <a:avLst/>
          </a:prstGeom>
          <a:solidFill>
            <a:srgbClr val="F0E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172968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3081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Capability, not awareness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332841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outcomes at every level. Graduates ship with working agents, validated workflows, and production-ready specs.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767328"/>
            <a:ext cx="384048" cy="384048"/>
          </a:xfrm>
          <a:prstGeom prst="ellipse">
            <a:avLst/>
          </a:prstGeom>
          <a:solidFill>
            <a:srgbClr val="F0E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83133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3739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 by practitioners, not trainers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88720" y="39867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internal leads from Product and Engineering teaching what they actually use. No external consultants.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425696"/>
            <a:ext cx="384048" cy="384048"/>
          </a:xfrm>
          <a:prstGeom prst="ellipse">
            <a:avLst/>
          </a:prstGeom>
          <a:solidFill>
            <a:srgbClr val="F0E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4489704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43982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8"/>
                </a:solidFill>
                <a:latin typeface="Calibri" pitchFamily="34" charset="0"/>
                <a:cs typeface="Calibri" pitchFamily="34" charset="-120"/>
              </a:rPr>
              <a:t>Optimized for Platform goal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88720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to other AI threads (WOW, Talent) to make sure we’re all rowing in the same direction 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3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365760"/>
            <a:ext cx="1463040" cy="274320"/>
          </a:xfrm>
          <a:prstGeom prst="roundRect">
            <a:avLst>
              <a:gd name="adj" fmla="val 13333"/>
            </a:avLst>
          </a:prstGeom>
          <a:solidFill>
            <a:srgbClr val="F0E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Tracks, One Academy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curricula and faculty. Joint kickoffs, graduations, and demo days.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468880" cy="777240"/>
          </a:xfrm>
          <a:prstGeom prst="rect">
            <a:avLst/>
          </a:prstGeom>
          <a:solidFill>
            <a:srgbClr val="002373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4767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Fluency &amp; Personal Agents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2039112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74720" y="1783080"/>
            <a:ext cx="2468880" cy="777240"/>
          </a:xfrm>
          <a:prstGeom prst="rect">
            <a:avLst/>
          </a:prstGeom>
          <a:solidFill>
            <a:srgbClr val="0033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1947672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2336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02336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Workflows &amp; Integration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039112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309360" y="1783080"/>
            <a:ext cx="2468880" cy="777240"/>
          </a:xfrm>
          <a:prstGeom prst="rect">
            <a:avLst/>
          </a:prstGeom>
          <a:solidFill>
            <a:srgbClr val="977D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947672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5800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85800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Standards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40080" y="2880360"/>
            <a:ext cx="3794760" cy="2011680"/>
          </a:xfrm>
          <a:prstGeom prst="rect">
            <a:avLst/>
          </a:prstGeom>
          <a:solidFill>
            <a:srgbClr val="F8F9FC"/>
          </a:solidFill>
          <a:ln w="9525">
            <a:solidFill>
              <a:srgbClr val="EEEEF2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640080" y="2880360"/>
            <a:ext cx="3794760" cy="54864"/>
          </a:xfrm>
          <a:prstGeom prst="rect">
            <a:avLst/>
          </a:prstGeom>
          <a:solidFill>
            <a:srgbClr val="977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86868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TRACK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868680" y="33192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Yonatan Orpeli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868680" y="3675888"/>
            <a:ext cx="109728" cy="109728"/>
          </a:xfrm>
          <a:prstGeom prst="ellipse">
            <a:avLst/>
          </a:prstGeom>
          <a:solidFill>
            <a:srgbClr val="002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1051560" y="3630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Makers L1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2286000" y="3630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 — 3 sessions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68680" y="3968496"/>
            <a:ext cx="109728" cy="109728"/>
          </a:xfrm>
          <a:prstGeom prst="ellipse">
            <a:avLst/>
          </a:prstGeom>
          <a:solidFill>
            <a:srgbClr val="002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1051560" y="392277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Makers L2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2286000" y="39227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— 3 sessions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68680" y="4261104"/>
            <a:ext cx="109728" cy="109728"/>
          </a:xfrm>
          <a:prstGeom prst="ellipse">
            <a:avLst/>
          </a:prstGeom>
          <a:solidFill>
            <a:srgbClr val="002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1051560" y="42153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Makers L3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2286000" y="42153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&amp; Agents — 4 sessions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868680" y="4553712"/>
            <a:ext cx="109728" cy="109728"/>
          </a:xfrm>
          <a:prstGeom prst="ellipse">
            <a:avLst/>
          </a:prstGeom>
          <a:solidFill>
            <a:srgbClr val="003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1051560" y="45079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L1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2286000" y="4507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Design — 4 sessions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4709160" y="2880360"/>
            <a:ext cx="3794760" cy="2011680"/>
          </a:xfrm>
          <a:prstGeom prst="rect">
            <a:avLst/>
          </a:prstGeom>
          <a:solidFill>
            <a:srgbClr val="F8F9FC"/>
          </a:solidFill>
          <a:ln w="9525">
            <a:solidFill>
              <a:srgbClr val="EEEEF2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4709160" y="2880360"/>
            <a:ext cx="3794760" cy="54864"/>
          </a:xfrm>
          <a:prstGeom prst="rect">
            <a:avLst/>
          </a:prstGeom>
          <a:solidFill>
            <a:srgbClr val="003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493776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3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TRACK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4937760" y="33192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Tal Arnon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4937760" y="3675888"/>
            <a:ext cx="109728" cy="109728"/>
          </a:xfrm>
          <a:prstGeom prst="ellipse">
            <a:avLst/>
          </a:prstGeom>
          <a:solidFill>
            <a:srgbClr val="002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5120640" y="3630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Makers M1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6355080" y="3630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— 5 sessions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4937760" y="3968496"/>
            <a:ext cx="109728" cy="109728"/>
          </a:xfrm>
          <a:prstGeom prst="ellipse">
            <a:avLst/>
          </a:prstGeom>
          <a:solidFill>
            <a:srgbClr val="002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5120640" y="392277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Makers M2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6355080" y="39227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Context — 5 sessions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4937760" y="4261104"/>
            <a:ext cx="109728" cy="109728"/>
          </a:xfrm>
          <a:prstGeom prst="ellipse">
            <a:avLst/>
          </a:prstGeom>
          <a:solidFill>
            <a:srgbClr val="002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/>
          <p:nvPr/>
        </p:nvSpPr>
        <p:spPr>
          <a:xfrm>
            <a:off x="5120640" y="42153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Makers M3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6355080" y="42153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Adv. Workflows — 6 sessions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4937760" y="4553712"/>
            <a:ext cx="109728" cy="109728"/>
          </a:xfrm>
          <a:prstGeom prst="ellipse">
            <a:avLst/>
          </a:prstGeom>
          <a:solidFill>
            <a:srgbClr val="003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4"/>
          <p:cNvSpPr/>
          <p:nvPr/>
        </p:nvSpPr>
        <p:spPr>
          <a:xfrm>
            <a:off x="5120640" y="45079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B1</a:t>
            </a:r>
            <a:endParaRPr lang="en-US" sz="1100" dirty="0"/>
          </a:p>
        </p:txBody>
      </p:sp>
      <p:sp>
        <p:nvSpPr>
          <p:cNvPr id="52" name="Text 45"/>
          <p:cNvSpPr/>
          <p:nvPr/>
        </p:nvSpPr>
        <p:spPr>
          <a:xfrm>
            <a:off x="6355080" y="4507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&amp; Agents — 7 sessions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3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36576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F0E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794760" cy="1143000"/>
          </a:xfrm>
          <a:prstGeom prst="rect">
            <a:avLst/>
          </a:prstGeom>
          <a:solidFill>
            <a:srgbClr val="F8F9FC"/>
          </a:solidFill>
          <a:ln w="9525">
            <a:solidFill>
              <a:srgbClr val="EEEEF2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4864" cy="1143000"/>
          </a:xfrm>
          <a:prstGeom prst="rect">
            <a:avLst/>
          </a:prstGeom>
          <a:solidFill>
            <a:srgbClr val="977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664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Sessions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377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Makers L1–L3 + Builders L1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554480"/>
            <a:ext cx="3794760" cy="1143000"/>
          </a:xfrm>
          <a:prstGeom prst="rect">
            <a:avLst/>
          </a:prstGeom>
          <a:solidFill>
            <a:srgbClr val="F8F9FC"/>
          </a:solidFill>
          <a:ln w="9525">
            <a:solidFill>
              <a:srgbClr val="EEEEF2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554480"/>
            <a:ext cx="54864" cy="1143000"/>
          </a:xfrm>
          <a:prstGeom prst="rect">
            <a:avLst/>
          </a:prstGeom>
          <a:solidFill>
            <a:srgbClr val="003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664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Sessions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377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Makers M1–M3 + Builders B1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3794760" cy="1143000"/>
          </a:xfrm>
          <a:prstGeom prst="rect">
            <a:avLst/>
          </a:prstGeom>
          <a:solidFill>
            <a:srgbClr val="F8F9FC"/>
          </a:solidFill>
          <a:ln w="9525">
            <a:solidFill>
              <a:srgbClr val="EEEEF2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54864" cy="1143000"/>
          </a:xfrm>
          <a:prstGeom prst="rect">
            <a:avLst/>
          </a:prstGeom>
          <a:solidFill>
            <a:srgbClr val="977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0358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686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Leads Assigned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749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sessions need faculty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926080"/>
            <a:ext cx="3794760" cy="1143000"/>
          </a:xfrm>
          <a:prstGeom prst="rect">
            <a:avLst/>
          </a:prstGeom>
          <a:solidFill>
            <a:srgbClr val="F8F9FC"/>
          </a:solidFill>
          <a:ln w="9525">
            <a:solidFill>
              <a:srgbClr val="EEEEF2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54864" cy="1143000"/>
          </a:xfrm>
          <a:prstGeom prst="rect">
            <a:avLst/>
          </a:prstGeom>
          <a:solidFill>
            <a:srgbClr val="003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30358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23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93776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Leads Assigned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749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sessions need faculty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297680"/>
            <a:ext cx="7863840" cy="594360"/>
          </a:xfrm>
          <a:prstGeom prst="rect">
            <a:avLst/>
          </a:prstGeom>
          <a:solidFill>
            <a:srgbClr val="1E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42976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COHORT  </a:t>
            </a:r>
            <a:r>
              <a:rPr lang="en-US" sz="10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per track  |  Curated selection with entry criteria per level  |  Both tracks launch simultaneously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977DFF">
              <a:alpha val="6000"/>
            </a:srgbClr>
          </a:solidFill>
          <a:ln w="9525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657600"/>
            <a:ext cx="2286000" cy="2286000"/>
          </a:xfrm>
          <a:prstGeom prst="ellipse">
            <a:avLst/>
          </a:prstGeom>
          <a:solidFill>
            <a:srgbClr val="0033FF">
              <a:alpha val="5000"/>
            </a:srgbClr>
          </a:solidFill>
          <a:ln w="6350">
            <a:solidFill>
              <a:srgbClr val="003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463040" cy="274320"/>
          </a:xfrm>
          <a:prstGeom prst="roundRect">
            <a:avLst>
              <a:gd name="adj" fmla="val 13333"/>
            </a:avLst>
          </a:prstGeom>
          <a:solidFill>
            <a:srgbClr val="977D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6949440" cy="0"/>
          </a:xfrm>
          <a:prstGeom prst="line">
            <a:avLst/>
          </a:prstGeom>
          <a:noFill/>
          <a:ln w="2540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14984" y="1837944"/>
            <a:ext cx="164592" cy="164592"/>
          </a:xfrm>
          <a:prstGeom prst="ellipse">
            <a:avLst/>
          </a:prstGeom>
          <a:solidFill>
            <a:srgbClr val="977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OF MAR 22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launch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26664" y="1837944"/>
            <a:ext cx="164592" cy="164592"/>
          </a:xfrm>
          <a:prstGeom prst="ellipse">
            <a:avLst/>
          </a:prstGeom>
          <a:solidFill>
            <a:srgbClr val="977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06040" y="1325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 31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2103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window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38344" y="1837944"/>
            <a:ext cx="164592" cy="164592"/>
          </a:xfrm>
          <a:prstGeom prst="ellipse">
            <a:avLst/>
          </a:prstGeom>
          <a:solidFill>
            <a:srgbClr val="977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17720" y="1325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 APR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103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Lessons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Post-Passover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50024" y="1837944"/>
            <a:ext cx="164592" cy="164592"/>
          </a:xfrm>
          <a:prstGeom prst="ellipse">
            <a:avLst/>
          </a:prstGeom>
          <a:solidFill>
            <a:srgbClr val="977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29400" y="1325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77DFF"/>
                </a:solidFill>
                <a:latin typeface="Consolas" pitchFamily="34" charset="0"/>
                <a:cs typeface="Consolas" pitchFamily="34" charset="-120"/>
              </a:rPr>
              <a:t>JUNE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2103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Makers Complete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1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LAUNCH</a:t>
            </a:r>
            <a:endParaRPr lang="en-US" sz="10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74136"/>
            <a:ext cx="182880" cy="1828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14400" y="33649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entry/exit criteria per level</a:t>
            </a:r>
            <a:endParaRPr lang="en-US" sz="11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66744"/>
            <a:ext cx="182880" cy="1828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914400" y="3657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first-cohort session set</a:t>
            </a:r>
            <a:endParaRPr lang="en-US" sz="11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59352"/>
            <a:ext cx="182880" cy="1828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14400" y="3950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on security sessions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470916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HORIZON</a:t>
            </a:r>
            <a:endParaRPr lang="en-US" sz="10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374136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983480" y="33649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"Developing for Agents"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983480" y="35478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dev, A2A state of mind</a:t>
            </a:r>
            <a:endParaRPr lang="en-US" sz="95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758184"/>
            <a:ext cx="182880" cy="18288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983480" y="3749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an App" for PMs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4983480" y="39319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Makers: no-code → Builders: production tools</a:t>
            </a:r>
            <a:endParaRPr lang="en-US" sz="95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142232"/>
            <a:ext cx="182880" cy="1828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983480" y="41330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tier design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983480" y="43159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standards, strategic think tank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413</Words>
  <Application>Microsoft Macintosh PowerPoint</Application>
  <PresentationFormat>On-screen Show (16:9)</PresentationFormat>
  <Paragraphs>100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Foundry — AI Academy Executive Briefing</dc:title>
  <dc:subject>PptxGenJS Presentation</dc:subject>
  <dc:creator>Yonatan Orpeli</dc:creator>
  <cp:lastModifiedBy>Yonatan Orpeli</cp:lastModifiedBy>
  <cp:revision>2</cp:revision>
  <dcterms:created xsi:type="dcterms:W3CDTF">2026-03-13T14:26:46Z</dcterms:created>
  <dcterms:modified xsi:type="dcterms:W3CDTF">2026-03-13T14:35:31Z</dcterms:modified>
</cp:coreProperties>
</file>