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8868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977DFF">
              <a:alpha val="8000"/>
            </a:srgbClr>
          </a:solidFill>
          <a:ln w="12700">
            <a:solidFill>
              <a:srgbClr val="9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926080"/>
            <a:ext cx="3657600" cy="3657600"/>
          </a:xfrm>
          <a:prstGeom prst="ellipse">
            <a:avLst/>
          </a:prstGeom>
          <a:solidFill>
            <a:srgbClr val="0033FF">
              <a:alpha val="5000"/>
            </a:srgbClr>
          </a:solidFill>
          <a:ln w="9525">
            <a:solidFill>
              <a:srgbClr val="003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Payoneer's AI Operating System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1371600" cy="0"/>
          </a:xfrm>
          <a:prstGeom prst="line">
            <a:avLst/>
          </a:prstGeom>
          <a:noFill/>
          <a:ln w="25400">
            <a:solidFill>
              <a:srgbClr val="9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the platform.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prove it works by shipping AI initiatives.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scale it through enablement.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Yonatan Orpeli  ·  VP Product, AI Foundations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3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reshaping how every domain operates.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domain should solve this alone.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2423160" cy="2377440"/>
          </a:xfrm>
          <a:prstGeom prst="rect">
            <a:avLst/>
          </a:prstGeom>
          <a:solidFill>
            <a:srgbClr val="F8F9FC"/>
          </a:solidFill>
          <a:ln w="9525">
            <a:solidFill>
              <a:srgbClr val="EEEE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870615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efforts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432156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domain building AI capabilities independently - Duplicating work,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quality,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picks up the cross-domain efforts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423160" cy="2377440"/>
          </a:xfrm>
          <a:prstGeom prst="rect">
            <a:avLst/>
          </a:prstGeom>
          <a:solidFill>
            <a:srgbClr val="F8F9FC"/>
          </a:solidFill>
          <a:ln w="9525">
            <a:solidFill>
              <a:srgbClr val="EEEE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11880" y="1870615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governance layer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2236375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production without standardized oversight, blast radius controls, or audit mechanisms will not end well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691640"/>
            <a:ext cx="2423160" cy="2377440"/>
          </a:xfrm>
          <a:prstGeom prst="rect">
            <a:avLst/>
          </a:prstGeom>
          <a:solidFill>
            <a:srgbClr val="F8F9FC"/>
          </a:solidFill>
          <a:ln w="9525">
            <a:solidFill>
              <a:srgbClr val="EEEE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1870615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gap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241535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want to leverage AI but lack the platform, tools, and training to move fast. </a:t>
            </a:r>
            <a:b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Structure and WOWs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cs typeface="Calibri" pitchFamily="34" charset="-120"/>
              </a:rPr>
              <a:t>Professional development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cs typeface="Calibri" pitchFamily="34" charset="-120"/>
              </a:rPr>
              <a:t>Hiring and retaining AI talent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251960"/>
            <a:ext cx="7680960" cy="594360"/>
          </a:xfrm>
          <a:prstGeom prst="rect">
            <a:avLst/>
          </a:prstGeom>
          <a:solidFill>
            <a:srgbClr val="1E1E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251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Foundations: one domain that builds once - every domain benefits.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7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9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DOMAIN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657600" cy="2926080"/>
          </a:xfrm>
          <a:prstGeom prst="rect">
            <a:avLst/>
          </a:prstGeom>
          <a:solidFill>
            <a:srgbClr val="F8F9FC"/>
          </a:solidFill>
          <a:ln w="9525">
            <a:solidFill>
              <a:srgbClr val="EEEE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657600" cy="54864"/>
          </a:xfrm>
          <a:prstGeom prst="rect">
            <a:avLst/>
          </a:prstGeom>
          <a:solidFill>
            <a:srgbClr val="002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2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PLATFORM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AI possible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184405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err="1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PayoData</a:t>
            </a: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structured data for agents (Memories and Context)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err="1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PayoBrain</a:t>
            </a: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intelligence layer + Payoneer-specific models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/ Tools - agent integrations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- governance &amp; blast radius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Marketplaces - reusable components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3749040" cy="1325880"/>
          </a:xfrm>
          <a:prstGeom prst="rect">
            <a:avLst/>
          </a:prstGeom>
          <a:solidFill>
            <a:srgbClr val="F8F9FC"/>
          </a:solidFill>
          <a:ln w="9525">
            <a:solidFill>
              <a:srgbClr val="EEEE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3749040" cy="54864"/>
          </a:xfrm>
          <a:prstGeom prst="rect">
            <a:avLst/>
          </a:prstGeom>
          <a:solidFill>
            <a:srgbClr val="003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3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INITIATIVES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works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2194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AI projects including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lighthouse experiments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71800"/>
            <a:ext cx="3749040" cy="1371600"/>
          </a:xfrm>
          <a:prstGeom prst="rect">
            <a:avLst/>
          </a:prstGeom>
          <a:solidFill>
            <a:srgbClr val="F8F9FC"/>
          </a:solidFill>
          <a:ln w="9525">
            <a:solidFill>
              <a:srgbClr val="EEEE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3749040" cy="54864"/>
          </a:xfrm>
          <a:prstGeom prst="rect">
            <a:avLst/>
          </a:prstGeom>
          <a:solidFill>
            <a:srgbClr val="977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ENABLEMENT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AI everywhere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Foundry (AI Academy) · AI-native team OS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of working · AI Professional Standards and community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526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 →  Prove  →  Scale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3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DAY-ONE PORTFOLIO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starting from scratch.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234440" cy="274320"/>
          </a:xfrm>
          <a:prstGeom prst="rect">
            <a:avLst/>
          </a:prstGeom>
          <a:solidFill>
            <a:srgbClr val="002373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002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19456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framework (L0–L4)  ·  PayoData &amp; </a:t>
            </a:r>
            <a:r>
              <a:rPr lang="en-US" sz="1150" dirty="0" err="1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PayoBrain</a:t>
            </a:r>
            <a:r>
              <a:rPr lang="en-US" sz="115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 Marketplaces 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7680960" cy="0"/>
          </a:xfrm>
          <a:prstGeom prst="line">
            <a:avLst/>
          </a:prstGeom>
          <a:noFill/>
          <a:ln w="6350">
            <a:solidFill>
              <a:srgbClr val="EE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1234440" cy="274320"/>
          </a:xfrm>
          <a:prstGeom prst="rect">
            <a:avLst/>
          </a:prstGeom>
          <a:solidFill>
            <a:srgbClr val="0033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003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INITIATIVES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194560" y="2468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AIR Initiative ·  Future AIR2 experiments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7680960" cy="0"/>
          </a:xfrm>
          <a:prstGeom prst="line">
            <a:avLst/>
          </a:prstGeom>
          <a:noFill/>
          <a:ln w="6350">
            <a:solidFill>
              <a:srgbClr val="EE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3520440"/>
            <a:ext cx="1234440" cy="274320"/>
          </a:xfrm>
          <a:prstGeom prst="rect">
            <a:avLst/>
          </a:prstGeom>
          <a:solidFill>
            <a:srgbClr val="977D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5204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9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ENABLEMENT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194560" y="3520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Foundry ·  AI-native team OS · Community </a:t>
            </a:r>
            <a:endParaRPr lang="en-US" sz="1150" dirty="0"/>
          </a:p>
        </p:txBody>
      </p:sp>
      <p:pic>
        <p:nvPicPr>
          <p:cNvPr id="16" name="Image 0" descr="/home/claude/giraff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7955280" y="4069080"/>
            <a:ext cx="685800" cy="6858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675120" y="440740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9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seeing further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2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2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E28"/>
                </a:solidFill>
                <a:latin typeface="Calibri" pitchFamily="34" charset="0"/>
                <a:cs typeface="Calibri" pitchFamily="34" charset="-120"/>
              </a:rPr>
              <a:t>Building While Running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51760" cy="3108960"/>
          </a:xfrm>
          <a:prstGeom prst="rect">
            <a:avLst/>
          </a:prstGeom>
          <a:solidFill>
            <a:srgbClr val="F8F9FC"/>
          </a:solidFill>
          <a:ln w="9525">
            <a:solidFill>
              <a:srgbClr val="EEEE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651760" cy="54864"/>
          </a:xfrm>
          <a:prstGeom prst="rect">
            <a:avLst/>
          </a:prstGeom>
          <a:solidFill>
            <a:srgbClr val="0023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002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 → JULY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domain charter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recruiting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initiatives continue shipping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Yonatan - CLM rollout stays priority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417320"/>
            <a:ext cx="2651760" cy="3108960"/>
          </a:xfrm>
          <a:prstGeom prst="rect">
            <a:avLst/>
          </a:prstGeom>
          <a:solidFill>
            <a:srgbClr val="F8F9FC"/>
          </a:solidFill>
          <a:ln w="9525">
            <a:solidFill>
              <a:srgbClr val="EEEE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83280" y="1417320"/>
            <a:ext cx="2651760" cy="54864"/>
          </a:xfrm>
          <a:prstGeom prst="rect">
            <a:avLst/>
          </a:prstGeom>
          <a:solidFill>
            <a:srgbClr val="003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6616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003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JULY → EOY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616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Speed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0440" y="224028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v1 live (PayoData, Control Plane)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initiatives showing impact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first full cohort graduated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2651760" cy="3108960"/>
          </a:xfrm>
          <a:prstGeom prst="rect">
            <a:avLst/>
          </a:prstGeom>
          <a:solidFill>
            <a:srgbClr val="F8F9FC"/>
          </a:solidFill>
          <a:ln w="9525">
            <a:solidFill>
              <a:srgbClr val="EEEE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2651760" cy="54864"/>
          </a:xfrm>
          <a:prstGeom prst="rect">
            <a:avLst/>
          </a:prstGeom>
          <a:solidFill>
            <a:srgbClr val="977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9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2027+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55080" y="2258646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err="1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Payoneer</a:t>
            </a: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-specific models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domains building on AI stack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Marketplace self-sustaining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AI for every team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3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MEASURING SUCCESS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Foundations' success = the AI maturity of every other domain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514600" cy="1463040"/>
          </a:xfrm>
          <a:prstGeom prst="rect">
            <a:avLst/>
          </a:prstGeom>
          <a:solidFill>
            <a:srgbClr val="F8F9FC"/>
          </a:solidFill>
          <a:ln w="9525">
            <a:solidFill>
              <a:srgbClr val="EEEE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2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building on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platform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1371600"/>
            <a:ext cx="2514600" cy="1463040"/>
          </a:xfrm>
          <a:prstGeom prst="rect">
            <a:avLst/>
          </a:prstGeom>
          <a:solidFill>
            <a:srgbClr val="F8F9FC"/>
          </a:solidFill>
          <a:ln w="9525">
            <a:solidFill>
              <a:srgbClr val="EEEE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20440" y="14173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3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703320" y="2240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capabilities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2514600" cy="1463040"/>
          </a:xfrm>
          <a:prstGeom prst="rect">
            <a:avLst/>
          </a:prstGeom>
          <a:solidFill>
            <a:srgbClr val="F8F9FC"/>
          </a:solidFill>
          <a:ln w="9525">
            <a:solidFill>
              <a:srgbClr val="EEEEF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14173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977DFF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492240" y="2240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cs typeface="Calibri" pitchFamily="34" charset="-120"/>
              </a:rPr>
              <a:t>Non Platform teams are engaged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signals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Time-to-deploy for new AI use cases (weeks, not quarters)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adoption - components reused across teams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coverage - % of AI under governance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Idea-to-production speed on the AI stack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7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9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 NEED FROM YOU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set this up for success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7680960" cy="502920"/>
          </a:xfrm>
          <a:prstGeom prst="rect">
            <a:avLst/>
          </a:prstGeom>
          <a:solidFill>
            <a:srgbClr val="F8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13258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the keys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18745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budget to allow this plane take off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423160"/>
            <a:ext cx="7680960" cy="502920"/>
          </a:xfrm>
          <a:prstGeom prst="rect">
            <a:avLst/>
          </a:prstGeom>
          <a:solidFill>
            <a:srgbClr val="F8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423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 now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24231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light to start hiring immediately - team ready on Day 1, not Day 90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7680960" cy="502920"/>
          </a:xfrm>
          <a:prstGeom prst="rect">
            <a:avLst/>
          </a:prstGeom>
          <a:solidFill>
            <a:srgbClr val="F8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294991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clarity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294991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boundary and cross domain relationships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343400"/>
            <a:ext cx="7680960" cy="548640"/>
          </a:xfrm>
          <a:prstGeom prst="rect">
            <a:avLst/>
          </a:prstGeom>
          <a:solidFill>
            <a:srgbClr val="1E1E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43434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detailed plan and org chart for review next week</a:t>
            </a:r>
            <a:endParaRPr lang="en-US" sz="13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C2EB4793-0CCF-DE35-6013-587DDF9545BF}"/>
              </a:ext>
            </a:extLst>
          </p:cNvPr>
          <p:cNvSpPr/>
          <p:nvPr/>
        </p:nvSpPr>
        <p:spPr>
          <a:xfrm>
            <a:off x="914400" y="3520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transition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977DFF">
              <a:alpha val="5000"/>
            </a:srgbClr>
          </a:solidFill>
          <a:ln w="9525">
            <a:solidFill>
              <a:srgbClr val="9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0033FF">
              <a:alpha val="4000"/>
            </a:srgbClr>
          </a:solidFill>
          <a:ln w="6350">
            <a:solidFill>
              <a:srgbClr val="003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platform.</a:t>
            </a:r>
            <a:endParaRPr lang="en-US" sz="3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works.</a:t>
            </a:r>
            <a:endParaRPr lang="en-US" sz="3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it through enablement.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1371600" cy="0"/>
          </a:xfrm>
          <a:prstGeom prst="line">
            <a:avLst/>
          </a:prstGeom>
          <a:noFill/>
          <a:ln w="25400">
            <a:solidFill>
              <a:srgbClr val="9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this.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Yonatan Orpeli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495</Words>
  <Application>Microsoft Macintosh PowerPoint</Application>
  <PresentationFormat>On-screen Show (16:9)</PresentationFormat>
  <Paragraphs>105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Foundations</dc:title>
  <dc:subject>PptxGenJS Presentation</dc:subject>
  <dc:creator>Yonatan Orpeli</dc:creator>
  <cp:lastModifiedBy>Yonatan Orpeli</cp:lastModifiedBy>
  <cp:revision>2</cp:revision>
  <dcterms:created xsi:type="dcterms:W3CDTF">2026-04-07T07:05:43Z</dcterms:created>
  <dcterms:modified xsi:type="dcterms:W3CDTF">2026-04-07T07:30:54Z</dcterms:modified>
</cp:coreProperties>
</file>