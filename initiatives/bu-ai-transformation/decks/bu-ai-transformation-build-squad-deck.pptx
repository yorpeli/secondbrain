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4" r:id="rId11"/>
    <p:sldId id="267" r:id="rId12"/>
    <p:sldId id="268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68183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FEB88-3CDE-CBE0-CEAD-748C18407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FED497-9E8C-25BB-6583-36B4ED69AF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65CB15-E254-A51B-E336-324B38C01E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ABF340-4E65-02B5-A503-FE4AC1F76A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301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1A617-89A3-3C47-CD4A-DB6790F2D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F498DC-3E85-586E-59C6-2963FD28FB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EAF456-9525-0AF6-D277-88425DAF3E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4BF598-F40B-FF15-F9ED-3BD1A9AA6A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6427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D8709-6A8E-9B39-F117-F397B8C1F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036524-2AAB-A306-CEEF-82A6973CA1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B82DBB-04FD-9E5C-4890-729C83E280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9D0D48-4ED5-3C35-6DF8-A230B6A5C7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0454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6400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MAY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48095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977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PROPOSAL / BU AI TRANSFORMATION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1094415" y="1371600"/>
            <a:ext cx="457200" cy="457200"/>
          </a:xfrm>
          <a:prstGeom prst="ellipse">
            <a:avLst/>
          </a:prstGeom>
          <a:solidFill>
            <a:srgbClr val="1E1E28"/>
          </a:solidFill>
          <a:ln w="9525">
            <a:solidFill>
              <a:srgbClr val="5555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545775" y="914400"/>
            <a:ext cx="731520" cy="731520"/>
          </a:xfrm>
          <a:prstGeom prst="ellipse">
            <a:avLst/>
          </a:prstGeom>
          <a:solidFill>
            <a:srgbClr val="1E1E28"/>
          </a:solidFill>
          <a:ln w="9525">
            <a:solidFill>
              <a:srgbClr val="333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107286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5600" b="1" kern="0" spc="-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Transformation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107286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5600" b="1" kern="0" spc="-100" dirty="0">
                <a:solidFill>
                  <a:srgbClr val="97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with BUs.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731520" y="457200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BU AI transformation needs building pods - funded by BUs, owned by us.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6035040"/>
            <a:ext cx="11277295" cy="0"/>
          </a:xfrm>
          <a:prstGeom prst="line">
            <a:avLst/>
          </a:prstGeom>
          <a:noFill/>
          <a:ln w="6350">
            <a:solidFill>
              <a:srgbClr val="333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6263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YONATAN ORPELI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24248" y="6263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3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RUNTIME / ~12 MIN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820095" y="6263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AI-NATIVE PROPOSAL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248095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977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§01 - THE MANDATE IS RIGHT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820095" y="64465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YONATAN ORPELI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713232"/>
            <a:ext cx="11277295" cy="0"/>
          </a:xfrm>
          <a:prstGeom prst="line">
            <a:avLst/>
          </a:prstGeom>
          <a:noFill/>
          <a:ln w="6350">
            <a:solidFill>
              <a:srgbClr val="333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ARGUMENT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principles hold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57200" y="2606040"/>
            <a:ext cx="457200" cy="0"/>
          </a:xfrm>
          <a:prstGeom prst="line">
            <a:avLst/>
          </a:prstGeom>
          <a:noFill/>
          <a:ln w="19050">
            <a:solidFill>
              <a:srgbClr val="977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788920"/>
            <a:ext cx="54100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"Every function will own its AI outcomes. Funding and resourcing execution."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324448" y="2606040"/>
            <a:ext cx="457200" cy="0"/>
          </a:xfrm>
          <a:prstGeom prst="line">
            <a:avLst/>
          </a:prstGeom>
          <a:noFill/>
          <a:ln w="19050">
            <a:solidFill>
              <a:srgbClr val="977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24448" y="2788920"/>
            <a:ext cx="54100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"Platform provides shared foundations: reusable capabilities, governance, guardrails so teams can move fast without fragmentation."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" y="43662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BOTH ACTUALLY REQUIRE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459486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97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capacity. Professional capability  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AI-NATIVE PROPOSAL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248095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977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§02 - THE GAP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820095" y="64465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YONATAN ORPELI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713232"/>
            <a:ext cx="11277295" cy="0"/>
          </a:xfrm>
          <a:prstGeom prst="line">
            <a:avLst/>
          </a:prstGeom>
          <a:noFill/>
          <a:ln w="6350">
            <a:solidFill>
              <a:srgbClr val="333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ARGUMENT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 promises impact by August. BUs will need months to create the muscle.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200" dirty="0">
                <a:solidFill>
                  <a:srgbClr val="977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3291840"/>
            <a:ext cx="3515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AI-NATIVE PRODUCT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703320"/>
            <a:ext cx="35152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PM who operates assuming AI is core infrastructure not a feature bolted on.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846320"/>
            <a:ext cx="351525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 IN MOST BUs TODAY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5074920"/>
            <a:ext cx="3515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7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338218" y="26517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200" dirty="0">
                <a:solidFill>
                  <a:srgbClr val="977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338218" y="3291840"/>
            <a:ext cx="3515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AI-NATIVE ENGINEERING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338218" y="3703320"/>
            <a:ext cx="35152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Engineers who ship to production with agentic patterns, evaluators, governance hooks.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38218" y="4846320"/>
            <a:ext cx="351525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 IN MOST BUs TODAY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338218" y="5074920"/>
            <a:ext cx="3515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7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8219237" y="26517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200" dirty="0">
                <a:solidFill>
                  <a:srgbClr val="977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8219237" y="3291840"/>
            <a:ext cx="3515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SUPPORTING MACHINERY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19237" y="3703320"/>
            <a:ext cx="35152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Tooling. Eval harnesses. Audit hooks. RAG plumbing. MCP integrations. Security scaffolding.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19237" y="4846320"/>
            <a:ext cx="351525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 IN MOST BUs TODAY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219237" y="5074920"/>
            <a:ext cx="3515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7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200" dirty="0"/>
          </a:p>
        </p:txBody>
      </p:sp>
      <p:sp>
        <p:nvSpPr>
          <p:cNvPr id="24" name="Shape 22"/>
          <p:cNvSpPr/>
          <p:nvPr/>
        </p:nvSpPr>
        <p:spPr>
          <a:xfrm>
            <a:off x="457200" y="5852160"/>
            <a:ext cx="11277295" cy="0"/>
          </a:xfrm>
          <a:prstGeom prst="line">
            <a:avLst/>
          </a:prstGeom>
          <a:noFill/>
          <a:ln w="6350">
            <a:solidFill>
              <a:srgbClr val="333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598932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BUs hiring independently = six architectures, six audit surfaces. The fragmentation Oren named.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AI-NATIVE PROPOSAL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248095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977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§03 - THE PRIMITIVE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820095" y="64465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YONATAN ORPELI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713232"/>
            <a:ext cx="11277295" cy="0"/>
          </a:xfrm>
          <a:prstGeom prst="line">
            <a:avLst/>
          </a:prstGeom>
          <a:noFill/>
          <a:ln w="6350">
            <a:solidFill>
              <a:srgbClr val="333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ARGUMENT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size by the smallest cell that ships value.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25603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977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SQUAD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9260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PM-Builder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57200" y="35661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+ 1–2 AI Engineers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57200" y="44348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inspired by Rich's playbook </a:t>
            </a:r>
            <a:r>
              <a:rPr lang="he-IL" sz="1400" i="1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400" i="1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Build managed by the pillar, not the BU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2468880"/>
            <a:ext cx="0" cy="3017520"/>
          </a:xfrm>
          <a:prstGeom prst="line">
            <a:avLst/>
          </a:prstGeom>
          <a:noFill/>
          <a:ln w="9525">
            <a:solidFill>
              <a:srgbClr val="333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23155" y="2640704"/>
            <a:ext cx="166254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977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0" y="2880360"/>
            <a:ext cx="365760" cy="0"/>
          </a:xfrm>
          <a:prstGeom prst="line">
            <a:avLst/>
          </a:prstGeom>
          <a:noFill/>
          <a:ln w="19050">
            <a:solidFill>
              <a:srgbClr val="977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0" y="2971800"/>
            <a:ext cx="5333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 AI Transformation pillar. Not the BUs. The people don't move.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23155" y="3692264"/>
            <a:ext cx="166254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977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0" y="3931920"/>
            <a:ext cx="365760" cy="0"/>
          </a:xfrm>
          <a:prstGeom prst="line">
            <a:avLst/>
          </a:prstGeom>
          <a:noFill/>
          <a:ln w="19050">
            <a:solidFill>
              <a:srgbClr val="977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0" y="4023360"/>
            <a:ext cx="5333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a BU engagement for the duration of the work. Then rotate to the next.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23155" y="4743824"/>
            <a:ext cx="166254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977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0" y="4983480"/>
            <a:ext cx="365760" cy="0"/>
          </a:xfrm>
          <a:prstGeom prst="line">
            <a:avLst/>
          </a:prstGeom>
          <a:noFill/>
          <a:ln w="19050">
            <a:solidFill>
              <a:srgbClr val="977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799" y="4972424"/>
            <a:ext cx="5333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 pay for the engagement. Protects platform contribution.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5852160"/>
            <a:ext cx="11277295" cy="0"/>
          </a:xfrm>
          <a:prstGeom prst="line">
            <a:avLst/>
          </a:prstGeom>
          <a:noFill/>
          <a:ln w="6350">
            <a:solidFill>
              <a:srgbClr val="333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598932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i="1" dirty="0">
                <a:solidFill>
                  <a:srgbClr val="97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stay. Funding moves. Learning compounds.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AI-NATIVE PROPOSAL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248095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977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§04 - TWO STRIPES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820095" y="64465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YONATAN ORPELI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713232"/>
            <a:ext cx="11277295" cy="0"/>
          </a:xfrm>
          <a:prstGeom prst="line">
            <a:avLst/>
          </a:prstGeom>
          <a:noFill/>
          <a:ln w="6350">
            <a:solidFill>
              <a:srgbClr val="333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ARGUMENT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 owns the results. Squad owns the build.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5364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977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BU OWNS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548640" cy="0"/>
          </a:xfrm>
          <a:prstGeom prst="line">
            <a:avLst/>
          </a:prstGeom>
          <a:noFill/>
          <a:ln w="19050">
            <a:solidFill>
              <a:srgbClr val="977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3017520"/>
            <a:ext cx="5364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build and why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7200" y="3520440"/>
            <a:ext cx="5364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workflow itself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7200" y="4023360"/>
            <a:ext cx="5364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metrics + baseline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7200" y="4526280"/>
            <a:ext cx="5364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Adoption + change management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7200" y="5029200"/>
            <a:ext cx="5364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business outcome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370168" y="2377440"/>
            <a:ext cx="5364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977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SQUAD OWNS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70168" y="2697480"/>
            <a:ext cx="548640" cy="0"/>
          </a:xfrm>
          <a:prstGeom prst="line">
            <a:avLst/>
          </a:prstGeom>
          <a:noFill/>
          <a:ln w="19050">
            <a:solidFill>
              <a:srgbClr val="977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370168" y="3017520"/>
            <a:ext cx="5364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AI-native design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370168" y="3520440"/>
            <a:ext cx="5364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+ evaluators + deployment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370168" y="4023360"/>
            <a:ext cx="5364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Standards conformance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370168" y="4526280"/>
            <a:ext cx="5364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hooks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370168" y="5029200"/>
            <a:ext cx="5364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harvest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457200" y="5852160"/>
            <a:ext cx="11277295" cy="0"/>
          </a:xfrm>
          <a:prstGeom prst="line">
            <a:avLst/>
          </a:prstGeom>
          <a:noFill/>
          <a:ln w="6350">
            <a:solidFill>
              <a:srgbClr val="333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598932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accountability. Neither delegates to the other.</a:t>
            </a:r>
            <a:endParaRPr lang="en-US" sz="1600" dirty="0"/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38623AE8-988A-EED2-FB4C-2723191A6E93}"/>
              </a:ext>
            </a:extLst>
          </p:cNvPr>
          <p:cNvSpPr/>
          <p:nvPr/>
        </p:nvSpPr>
        <p:spPr>
          <a:xfrm>
            <a:off x="6370167" y="5486400"/>
            <a:ext cx="5364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Repeatable, Scalable, Financially effective - Process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AI-NATIVE PROPOSAL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248095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977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§05 - WHY SQUADS, NOT CONSULTING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820095" y="64465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YONATAN ORPELI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713232"/>
            <a:ext cx="11277295" cy="0"/>
          </a:xfrm>
          <a:prstGeom prst="line">
            <a:avLst/>
          </a:prstGeom>
          <a:noFill/>
          <a:ln w="6350">
            <a:solidFill>
              <a:srgbClr val="333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ARGUMENT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reasons. None novel on its own. The composition is the point.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365760" cy="0"/>
          </a:xfrm>
          <a:prstGeom prst="line">
            <a:avLst/>
          </a:prstGeom>
          <a:noFill/>
          <a:ln w="25400">
            <a:solidFill>
              <a:srgbClr val="977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4231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977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2377440"/>
            <a:ext cx="463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UNIT, NOT HEADCOUNT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7200" y="2971800"/>
            <a:ext cx="53643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Replicate the cell. Don't hire fractions of one into BUs. The shape is the work; size is an output, not an input.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70168" y="2331720"/>
            <a:ext cx="365760" cy="0"/>
          </a:xfrm>
          <a:prstGeom prst="line">
            <a:avLst/>
          </a:prstGeom>
          <a:noFill/>
          <a:ln w="25400">
            <a:solidFill>
              <a:srgbClr val="977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70168" y="24231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977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101688" y="2377440"/>
            <a:ext cx="463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 AUGMENTED, GO NATIVE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370168" y="2971800"/>
            <a:ext cx="53643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 alone land in copilot territory - faster, same shape. Squads carry AI-native discipline pre-loaded.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480560"/>
            <a:ext cx="365760" cy="0"/>
          </a:xfrm>
          <a:prstGeom prst="line">
            <a:avLst/>
          </a:prstGeom>
          <a:noFill/>
          <a:ln w="25400">
            <a:solidFill>
              <a:srgbClr val="977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45720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977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4526280"/>
            <a:ext cx="463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FORCING FUNCTION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57200" y="5120640"/>
            <a:ext cx="53643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build leaves a sharper evaluator behind. Compounding is enforced, not hoped for.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370168" y="4480560"/>
            <a:ext cx="365760" cy="0"/>
          </a:xfrm>
          <a:prstGeom prst="line">
            <a:avLst/>
          </a:prstGeom>
          <a:noFill/>
          <a:ln w="25400">
            <a:solidFill>
              <a:srgbClr val="977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370168" y="45720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977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101688" y="4526280"/>
            <a:ext cx="463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TALENT SCARCITY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370168" y="5120640"/>
            <a:ext cx="53643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the rarest people. Rotate them across BUs. Higher utilization. Better retention.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AI-NATIVE PROPOSAL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248095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977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§06 - THE COMPOUNDING ECONOMICS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820095" y="64465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YONATAN ORPELI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713232"/>
            <a:ext cx="11277295" cy="0"/>
          </a:xfrm>
          <a:prstGeom prst="line">
            <a:avLst/>
          </a:prstGeom>
          <a:noFill/>
          <a:ln w="6350">
            <a:solidFill>
              <a:srgbClr val="333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ARGUMENT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second BU is cheaper than the first - only if the same builders ship both.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DIMENSION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383280" y="21488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INDEPENDENT BU BUILDS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589520" y="2148840"/>
            <a:ext cx="41449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977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SQUAD MODEL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11277295" cy="0"/>
          </a:xfrm>
          <a:prstGeom prst="line">
            <a:avLst/>
          </a:prstGeom>
          <a:noFill/>
          <a:ln w="12700">
            <a:solidFill>
              <a:srgbClr val="333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6060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cost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26060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BU1: 100% · BU2: 100% · BU3: 100%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589520" y="2606040"/>
            <a:ext cx="41449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7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BU1: 100% · BU2: ~55% · BU3: ~35%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11277295" cy="0"/>
          </a:xfrm>
          <a:prstGeom prst="line">
            <a:avLst/>
          </a:prstGeom>
          <a:noFill/>
          <a:ln w="5080">
            <a:solidFill>
              <a:srgbClr val="333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0175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83280" y="30175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stacks compounding indefinitely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589520" y="3017520"/>
            <a:ext cx="41449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stack, patched once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429000"/>
            <a:ext cx="11277295" cy="0"/>
          </a:xfrm>
          <a:prstGeom prst="line">
            <a:avLst/>
          </a:prstGeom>
          <a:noFill/>
          <a:ln w="5080">
            <a:solidFill>
              <a:srgbClr val="333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34290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 (models, MCP, patterns)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83280" y="34290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 N times. Lag grows with 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589520" y="3429000"/>
            <a:ext cx="41449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 once. Coordinated rollout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840480"/>
            <a:ext cx="11277295" cy="0"/>
          </a:xfrm>
          <a:prstGeom prst="line">
            <a:avLst/>
          </a:prstGeom>
          <a:noFill/>
          <a:ln w="5080">
            <a:solidFill>
              <a:srgbClr val="333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38404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/ audit surface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383280" y="38404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surfaces, N incident vectors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589520" y="3840480"/>
            <a:ext cx="41449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surface, one audit posture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251960"/>
            <a:ext cx="11277295" cy="0"/>
          </a:xfrm>
          <a:prstGeom prst="line">
            <a:avLst/>
          </a:prstGeom>
          <a:noFill/>
          <a:ln w="5080">
            <a:solidFill>
              <a:srgbClr val="333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7200" y="42519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Talent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383280" y="42519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Diluted across BUs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589520" y="4251960"/>
            <a:ext cx="41449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Pooled and rotated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4663440"/>
            <a:ext cx="11277295" cy="0"/>
          </a:xfrm>
          <a:prstGeom prst="line">
            <a:avLst/>
          </a:prstGeom>
          <a:noFill/>
          <a:ln w="5080">
            <a:solidFill>
              <a:srgbClr val="333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57200" y="46634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383280" y="46634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Trapped per BU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589520" y="4663440"/>
            <a:ext cx="41449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Compounds at the pillar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57200" y="5074920"/>
            <a:ext cx="11277295" cy="0"/>
          </a:xfrm>
          <a:prstGeom prst="line">
            <a:avLst/>
          </a:prstGeom>
          <a:noFill/>
          <a:ln w="5080">
            <a:solidFill>
              <a:srgbClr val="333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57200" y="50749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Foundations platform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383280" y="50749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demand signal - speculative or never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589520" y="5074920"/>
            <a:ext cx="41449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7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Harvested from real, BU-funded builds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E2C102-0225-7D1C-71ED-9EDD6B324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18F486E-F8BC-5BDC-2F2F-EF9B1BFF4C5F}"/>
              </a:ext>
            </a:extLst>
          </p:cNvPr>
          <p:cNvSpPr/>
          <p:nvPr/>
        </p:nvSpPr>
        <p:spPr>
          <a:xfrm>
            <a:off x="457200" y="365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AI-NATIVE PROPOSAL</a:t>
            </a:r>
            <a:endParaRPr lang="en-US" sz="9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CF8B6BE-5F34-28FE-6525-C4792875D5C6}"/>
              </a:ext>
            </a:extLst>
          </p:cNvPr>
          <p:cNvSpPr/>
          <p:nvPr/>
        </p:nvSpPr>
        <p:spPr>
          <a:xfrm>
            <a:off x="6248095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977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§0</a:t>
            </a:r>
            <a:r>
              <a:rPr lang="he-IL" sz="900" b="1" kern="0" spc="300" dirty="0">
                <a:solidFill>
                  <a:srgbClr val="977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r>
              <a:rPr lang="en-US" sz="900" b="1" kern="0" spc="300" dirty="0">
                <a:solidFill>
                  <a:srgbClr val="977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—  THE NATIVE TEAM</a:t>
            </a:r>
            <a:endParaRPr lang="en-US" sz="9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9E7E52B-BE66-77AA-D517-79E592FBE4B8}"/>
              </a:ext>
            </a:extLst>
          </p:cNvPr>
          <p:cNvSpPr/>
          <p:nvPr/>
        </p:nvSpPr>
        <p:spPr>
          <a:xfrm>
            <a:off x="10820095" y="64465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 / NN</a:t>
            </a:r>
            <a:endParaRPr lang="en-US" sz="9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EFD1F2D-A459-6555-8DB1-5B09A2A74385}"/>
              </a:ext>
            </a:extLst>
          </p:cNvPr>
          <p:cNvSpPr/>
          <p:nvPr/>
        </p:nvSpPr>
        <p:spPr>
          <a:xfrm>
            <a:off x="457200" y="713232"/>
            <a:ext cx="11277295" cy="0"/>
          </a:xfrm>
          <a:prstGeom prst="line">
            <a:avLst/>
          </a:prstGeom>
          <a:noFill/>
          <a:ln w="6350">
            <a:solidFill>
              <a:srgbClr val="333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C3BD4C5-04AD-1F53-A20E-5CB1EA1F3AFB}"/>
              </a:ext>
            </a:extLst>
          </p:cNvPr>
          <p:cNvSpPr/>
          <p:nvPr/>
        </p:nvSpPr>
        <p:spPr>
          <a:xfrm>
            <a:off x="386029" y="96926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ARGUMENT</a:t>
            </a:r>
            <a:endParaRPr lang="en-US" sz="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FB3D801-C99E-6392-C8E3-8D9CEAC29E46}"/>
              </a:ext>
            </a:extLst>
          </p:cNvPr>
          <p:cNvSpPr/>
          <p:nvPr/>
        </p:nvSpPr>
        <p:spPr>
          <a:xfrm>
            <a:off x="457200" y="123444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AI Native from day one</a:t>
            </a:r>
            <a:endParaRPr lang="en-US" sz="260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4D9BD3A2-71EA-A137-BA37-E3FF5FB88A6A}"/>
              </a:ext>
            </a:extLst>
          </p:cNvPr>
          <p:cNvSpPr/>
          <p:nvPr/>
        </p:nvSpPr>
        <p:spPr>
          <a:xfrm>
            <a:off x="457200" y="2103120"/>
            <a:ext cx="3515258" cy="0"/>
          </a:xfrm>
          <a:prstGeom prst="line">
            <a:avLst/>
          </a:prstGeom>
          <a:noFill/>
          <a:ln w="9525">
            <a:solidFill>
              <a:srgbClr val="333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D0BF9773-9F8D-BDDD-FB4B-BDEC07924E5B}"/>
              </a:ext>
            </a:extLst>
          </p:cNvPr>
          <p:cNvSpPr/>
          <p:nvPr/>
        </p:nvSpPr>
        <p:spPr>
          <a:xfrm>
            <a:off x="457200" y="22402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5555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36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2CDEAE08-1D4F-B576-850A-A0D724B497E7}"/>
              </a:ext>
            </a:extLst>
          </p:cNvPr>
          <p:cNvSpPr/>
          <p:nvPr/>
        </p:nvSpPr>
        <p:spPr>
          <a:xfrm>
            <a:off x="457200" y="2880360"/>
            <a:ext cx="3515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</a:t>
            </a:r>
            <a:endParaRPr lang="en-US" sz="28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AAC19FD0-D623-6E64-7013-6C3B5B9C0556}"/>
              </a:ext>
            </a:extLst>
          </p:cNvPr>
          <p:cNvSpPr/>
          <p:nvPr/>
        </p:nvSpPr>
        <p:spPr>
          <a:xfrm>
            <a:off x="457200" y="3383280"/>
            <a:ext cx="3515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default. Status quo, not a strategy.</a:t>
            </a:r>
            <a:endParaRPr lang="en-US" sz="12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A1BD8BBC-8B0F-E3E7-8799-C25077C33575}"/>
              </a:ext>
            </a:extLst>
          </p:cNvPr>
          <p:cNvSpPr/>
          <p:nvPr/>
        </p:nvSpPr>
        <p:spPr>
          <a:xfrm>
            <a:off x="457200" y="3749040"/>
            <a:ext cx="35152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 EXECUTES</a:t>
            </a:r>
            <a:endParaRPr lang="en-US" sz="8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0EDDA62F-71B2-05FE-2C8B-37E3836E3062}"/>
              </a:ext>
            </a:extLst>
          </p:cNvPr>
          <p:cNvSpPr/>
          <p:nvPr/>
        </p:nvSpPr>
        <p:spPr>
          <a:xfrm>
            <a:off x="457200" y="3931920"/>
            <a:ext cx="35152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humans</a:t>
            </a:r>
            <a:endParaRPr lang="en-US" sz="13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8D614DB1-D8F8-C05E-E082-CFC443428106}"/>
              </a:ext>
            </a:extLst>
          </p:cNvPr>
          <p:cNvSpPr/>
          <p:nvPr/>
        </p:nvSpPr>
        <p:spPr>
          <a:xfrm>
            <a:off x="457200" y="4206240"/>
            <a:ext cx="35152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</a:t>
            </a:r>
            <a:endParaRPr lang="en-US" sz="8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A1F7EA43-8EA6-1D4A-704F-155B5293D8E9}"/>
              </a:ext>
            </a:extLst>
          </p:cNvPr>
          <p:cNvSpPr/>
          <p:nvPr/>
        </p:nvSpPr>
        <p:spPr>
          <a:xfrm>
            <a:off x="457200" y="4389120"/>
            <a:ext cx="35152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in the loop</a:t>
            </a:r>
            <a:endParaRPr lang="en-US" sz="130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7C28AE45-44E4-2788-C171-97508CFBC803}"/>
              </a:ext>
            </a:extLst>
          </p:cNvPr>
          <p:cNvSpPr/>
          <p:nvPr/>
        </p:nvSpPr>
        <p:spPr>
          <a:xfrm>
            <a:off x="457200" y="4663440"/>
            <a:ext cx="35152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CEILING</a:t>
            </a:r>
            <a:endParaRPr lang="en-US" sz="80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EB71AB88-6284-05F3-DAD5-277F17C513F7}"/>
              </a:ext>
            </a:extLst>
          </p:cNvPr>
          <p:cNvSpPr/>
          <p:nvPr/>
        </p:nvSpPr>
        <p:spPr>
          <a:xfrm>
            <a:off x="457200" y="4846320"/>
            <a:ext cx="35152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throughput</a:t>
            </a:r>
            <a:endParaRPr lang="en-US" sz="1300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0E9852BA-A9B5-B9BE-B76E-5CAC250B0E51}"/>
              </a:ext>
            </a:extLst>
          </p:cNvPr>
          <p:cNvSpPr/>
          <p:nvPr/>
        </p:nvSpPr>
        <p:spPr>
          <a:xfrm>
            <a:off x="4338218" y="2103120"/>
            <a:ext cx="3515258" cy="0"/>
          </a:xfrm>
          <a:prstGeom prst="line">
            <a:avLst/>
          </a:prstGeom>
          <a:noFill/>
          <a:ln w="9525">
            <a:solidFill>
              <a:srgbClr val="333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DD88C40D-8450-E841-D523-4F253C706590}"/>
              </a:ext>
            </a:extLst>
          </p:cNvPr>
          <p:cNvSpPr/>
          <p:nvPr/>
        </p:nvSpPr>
        <p:spPr>
          <a:xfrm>
            <a:off x="4338218" y="22402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5555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3600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9B46DBD7-A1A5-9FE5-418B-2D02804918C2}"/>
              </a:ext>
            </a:extLst>
          </p:cNvPr>
          <p:cNvSpPr/>
          <p:nvPr/>
        </p:nvSpPr>
        <p:spPr>
          <a:xfrm>
            <a:off x="4338218" y="2880360"/>
            <a:ext cx="3515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AUGMENTED</a:t>
            </a:r>
            <a:endParaRPr lang="en-US" sz="2800" dirty="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E8E00A21-7CB7-C59D-588F-94DEF60C3B57}"/>
              </a:ext>
            </a:extLst>
          </p:cNvPr>
          <p:cNvSpPr/>
          <p:nvPr/>
        </p:nvSpPr>
        <p:spPr>
          <a:xfrm>
            <a:off x="4338218" y="3383280"/>
            <a:ext cx="3515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every BU lands if they build alone.</a:t>
            </a:r>
            <a:endParaRPr lang="en-US" sz="1200" dirty="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DBED7588-7275-FE38-248A-DD012E5861E1}"/>
              </a:ext>
            </a:extLst>
          </p:cNvPr>
          <p:cNvSpPr/>
          <p:nvPr/>
        </p:nvSpPr>
        <p:spPr>
          <a:xfrm>
            <a:off x="4338218" y="3749040"/>
            <a:ext cx="35152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 EXECUTES</a:t>
            </a:r>
            <a:endParaRPr lang="en-US" sz="800" dirty="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67604F5E-D959-0873-0082-83B465B8ACE3}"/>
              </a:ext>
            </a:extLst>
          </p:cNvPr>
          <p:cNvSpPr/>
          <p:nvPr/>
        </p:nvSpPr>
        <p:spPr>
          <a:xfrm>
            <a:off x="4338218" y="3931920"/>
            <a:ext cx="35152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humans (agents assist)</a:t>
            </a:r>
            <a:endParaRPr lang="en-US" sz="1300" dirty="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E7476D5B-059D-1529-6F5E-A4BE6E7F76B8}"/>
              </a:ext>
            </a:extLst>
          </p:cNvPr>
          <p:cNvSpPr/>
          <p:nvPr/>
        </p:nvSpPr>
        <p:spPr>
          <a:xfrm>
            <a:off x="4338218" y="4206240"/>
            <a:ext cx="35152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</a:t>
            </a:r>
            <a:endParaRPr lang="en-US" sz="800" dirty="0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7BA29D39-2359-662D-6399-5789F1C4F38F}"/>
              </a:ext>
            </a:extLst>
          </p:cNvPr>
          <p:cNvSpPr/>
          <p:nvPr/>
        </p:nvSpPr>
        <p:spPr>
          <a:xfrm>
            <a:off x="4338218" y="4389120"/>
            <a:ext cx="35152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copilots, drafts</a:t>
            </a:r>
            <a:endParaRPr lang="en-US" sz="1300" dirty="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15A89BC8-6897-A3B9-67A4-5B1AFA110804}"/>
              </a:ext>
            </a:extLst>
          </p:cNvPr>
          <p:cNvSpPr/>
          <p:nvPr/>
        </p:nvSpPr>
        <p:spPr>
          <a:xfrm>
            <a:off x="4338218" y="4663440"/>
            <a:ext cx="35152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CEILING</a:t>
            </a:r>
            <a:endParaRPr lang="en-US" sz="800" dirty="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520403C6-5EF1-F31A-60FE-3DE2D1AA48A1}"/>
              </a:ext>
            </a:extLst>
          </p:cNvPr>
          <p:cNvSpPr/>
          <p:nvPr/>
        </p:nvSpPr>
        <p:spPr>
          <a:xfrm>
            <a:off x="4338218" y="4846320"/>
            <a:ext cx="35152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- same shape</a:t>
            </a:r>
            <a:endParaRPr lang="en-US" sz="1300" dirty="0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A21621D6-0610-7A02-5E0E-7F940C1CD7B6}"/>
              </a:ext>
            </a:extLst>
          </p:cNvPr>
          <p:cNvSpPr/>
          <p:nvPr/>
        </p:nvSpPr>
        <p:spPr>
          <a:xfrm>
            <a:off x="8219237" y="2103120"/>
            <a:ext cx="3515258" cy="45720"/>
          </a:xfrm>
          <a:prstGeom prst="rect">
            <a:avLst/>
          </a:prstGeom>
          <a:solidFill>
            <a:srgbClr val="977DFF"/>
          </a:solidFill>
          <a:ln w="12700">
            <a:solidFill>
              <a:srgbClr val="977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DBF2033F-B91D-F8C8-A324-B75E42DA16CE}"/>
              </a:ext>
            </a:extLst>
          </p:cNvPr>
          <p:cNvSpPr/>
          <p:nvPr/>
        </p:nvSpPr>
        <p:spPr>
          <a:xfrm>
            <a:off x="8219237" y="22402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977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3600" dirty="0"/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D824C07F-A14F-E106-8E46-DE4900F2C5B9}"/>
              </a:ext>
            </a:extLst>
          </p:cNvPr>
          <p:cNvSpPr/>
          <p:nvPr/>
        </p:nvSpPr>
        <p:spPr>
          <a:xfrm>
            <a:off x="8219237" y="2880360"/>
            <a:ext cx="3515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100" dirty="0">
                <a:solidFill>
                  <a:srgbClr val="97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</a:t>
            </a:r>
            <a:endParaRPr lang="en-US" sz="2800" dirty="0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4683A0B6-1383-B924-510E-A0826A57D9E9}"/>
              </a:ext>
            </a:extLst>
          </p:cNvPr>
          <p:cNvSpPr/>
          <p:nvPr/>
        </p:nvSpPr>
        <p:spPr>
          <a:xfrm>
            <a:off x="8219237" y="3383280"/>
            <a:ext cx="3515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97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squad lives from day one.</a:t>
            </a:r>
            <a:endParaRPr lang="en-US" sz="1200" dirty="0"/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3FE15087-55AB-7171-E4A7-45A87FE946A3}"/>
              </a:ext>
            </a:extLst>
          </p:cNvPr>
          <p:cNvSpPr/>
          <p:nvPr/>
        </p:nvSpPr>
        <p:spPr>
          <a:xfrm>
            <a:off x="8219237" y="3749040"/>
            <a:ext cx="35152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 EXECUTES</a:t>
            </a:r>
            <a:endParaRPr lang="en-US" sz="800" dirty="0"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9C4BEF84-A5A8-E035-A39A-5F04D4E4E887}"/>
              </a:ext>
            </a:extLst>
          </p:cNvPr>
          <p:cNvSpPr/>
          <p:nvPr/>
        </p:nvSpPr>
        <p:spPr>
          <a:xfrm>
            <a:off x="8219237" y="3931920"/>
            <a:ext cx="35152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(humans specify)</a:t>
            </a:r>
            <a:endParaRPr lang="en-US" sz="1300" dirty="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7BCAE5F7-BDB4-0C76-F331-98013B86F351}"/>
              </a:ext>
            </a:extLst>
          </p:cNvPr>
          <p:cNvSpPr/>
          <p:nvPr/>
        </p:nvSpPr>
        <p:spPr>
          <a:xfrm>
            <a:off x="8219237" y="4206240"/>
            <a:ext cx="35152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</a:t>
            </a:r>
            <a:endParaRPr lang="en-US" sz="800" dirty="0"/>
          </a:p>
        </p:txBody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B61C8F52-BB82-C733-196F-64690EACC6E8}"/>
              </a:ext>
            </a:extLst>
          </p:cNvPr>
          <p:cNvSpPr/>
          <p:nvPr/>
        </p:nvSpPr>
        <p:spPr>
          <a:xfrm>
            <a:off x="8219237" y="4389120"/>
            <a:ext cx="35152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 · generator · evaluator</a:t>
            </a:r>
            <a:endParaRPr lang="en-US" sz="1300" dirty="0"/>
          </a:p>
        </p:txBody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5445B6BB-D6AD-99A5-3E14-502B77D3400F}"/>
              </a:ext>
            </a:extLst>
          </p:cNvPr>
          <p:cNvSpPr/>
          <p:nvPr/>
        </p:nvSpPr>
        <p:spPr>
          <a:xfrm>
            <a:off x="8219237" y="4663440"/>
            <a:ext cx="35152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CEILING</a:t>
            </a:r>
            <a:endParaRPr lang="en-US" sz="800" dirty="0"/>
          </a:p>
        </p:txBody>
      </p:sp>
      <p:sp>
        <p:nvSpPr>
          <p:cNvPr id="38" name="Text 35">
            <a:extLst>
              <a:ext uri="{FF2B5EF4-FFF2-40B4-BE49-F238E27FC236}">
                <a16:creationId xmlns:a16="http://schemas.microsoft.com/office/drawing/2014/main" id="{D232BDB8-F67F-6580-0ABF-F6DDF67B8EE1}"/>
              </a:ext>
            </a:extLst>
          </p:cNvPr>
          <p:cNvSpPr/>
          <p:nvPr/>
        </p:nvSpPr>
        <p:spPr>
          <a:xfrm>
            <a:off x="8219237" y="4846320"/>
            <a:ext cx="35152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compounds with every ship</a:t>
            </a:r>
            <a:endParaRPr lang="en-US" sz="1300" dirty="0"/>
          </a:p>
        </p:txBody>
      </p:sp>
      <p:sp>
        <p:nvSpPr>
          <p:cNvPr id="39" name="Shape 36">
            <a:extLst>
              <a:ext uri="{FF2B5EF4-FFF2-40B4-BE49-F238E27FC236}">
                <a16:creationId xmlns:a16="http://schemas.microsoft.com/office/drawing/2014/main" id="{C8AC7A45-9972-987F-3249-B03D614709BD}"/>
              </a:ext>
            </a:extLst>
          </p:cNvPr>
          <p:cNvSpPr/>
          <p:nvPr/>
        </p:nvSpPr>
        <p:spPr>
          <a:xfrm>
            <a:off x="457200" y="5166360"/>
            <a:ext cx="11277295" cy="0"/>
          </a:xfrm>
          <a:prstGeom prst="line">
            <a:avLst/>
          </a:prstGeom>
          <a:noFill/>
          <a:ln w="6350">
            <a:solidFill>
              <a:srgbClr val="333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>
            <a:extLst>
              <a:ext uri="{FF2B5EF4-FFF2-40B4-BE49-F238E27FC236}">
                <a16:creationId xmlns:a16="http://schemas.microsoft.com/office/drawing/2014/main" id="{8E0BBFA4-934F-CA7C-5492-E0920D2FCF9B}"/>
              </a:ext>
            </a:extLst>
          </p:cNvPr>
          <p:cNvSpPr/>
          <p:nvPr/>
        </p:nvSpPr>
        <p:spPr>
          <a:xfrm>
            <a:off x="457200" y="52578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977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COMMITMENT</a:t>
            </a:r>
            <a:endParaRPr lang="en-US" sz="1000" dirty="0"/>
          </a:p>
        </p:txBody>
      </p:sp>
      <p:sp>
        <p:nvSpPr>
          <p:cNvPr id="41" name="Text 38">
            <a:extLst>
              <a:ext uri="{FF2B5EF4-FFF2-40B4-BE49-F238E27FC236}">
                <a16:creationId xmlns:a16="http://schemas.microsoft.com/office/drawing/2014/main" id="{D328F90A-450F-582D-D6B7-F960C9C2D92A}"/>
              </a:ext>
            </a:extLst>
          </p:cNvPr>
          <p:cNvSpPr/>
          <p:nvPr/>
        </p:nvSpPr>
        <p:spPr>
          <a:xfrm>
            <a:off x="457200" y="5532120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-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AI-written code. From day one.</a:t>
            </a:r>
            <a:endParaRPr lang="en-US" sz="3000" dirty="0"/>
          </a:p>
        </p:txBody>
      </p:sp>
      <p:sp>
        <p:nvSpPr>
          <p:cNvPr id="42" name="Text 39">
            <a:extLst>
              <a:ext uri="{FF2B5EF4-FFF2-40B4-BE49-F238E27FC236}">
                <a16:creationId xmlns:a16="http://schemas.microsoft.com/office/drawing/2014/main" id="{FA44D6F7-B615-F867-FBC1-E555C8BA2537}"/>
              </a:ext>
            </a:extLst>
          </p:cNvPr>
          <p:cNvSpPr/>
          <p:nvPr/>
        </p:nvSpPr>
        <p:spPr>
          <a:xfrm>
            <a:off x="457200" y="608076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97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is the starting point - under the pillar, not a destination we hope to reach.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004422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AI-NATIVE PROPOSAL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248095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977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§07 - THE PHASE 0 FIX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820095" y="64465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YONATAN ORPELI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713232"/>
            <a:ext cx="11277295" cy="0"/>
          </a:xfrm>
          <a:prstGeom prst="line">
            <a:avLst/>
          </a:prstGeom>
          <a:noFill/>
          <a:ln w="6350">
            <a:solidFill>
              <a:srgbClr val="333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ARGUMENT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Principles stay. Three small swaps in the delivery framing.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200" dirty="0">
                <a:solidFill>
                  <a:srgbClr val="977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71600" y="22860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286000" y="22860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strike="sngStrike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"Platform supports through enablement, tooling, infrastructure, and guidance."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27432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977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286000" y="27432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provides build squads as the form of that support.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371600" y="3291840"/>
            <a:ext cx="10362895" cy="0"/>
          </a:xfrm>
          <a:prstGeom prst="line">
            <a:avLst/>
          </a:prstGeom>
          <a:noFill/>
          <a:ln w="5080">
            <a:solidFill>
              <a:srgbClr val="333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34290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200" dirty="0">
                <a:solidFill>
                  <a:srgbClr val="977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371600" y="34290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286000" y="34290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strike="sngStrike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 staff their own builders.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38862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977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286000" y="38862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 fund the build capacity they consume.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371600" y="4434840"/>
            <a:ext cx="10362895" cy="0"/>
          </a:xfrm>
          <a:prstGeom prst="line">
            <a:avLst/>
          </a:prstGeom>
          <a:noFill/>
          <a:ln w="5080">
            <a:solidFill>
              <a:srgbClr val="333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45720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200" dirty="0">
                <a:solidFill>
                  <a:srgbClr val="977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371600" y="45720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286000" y="45720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strike="sngStrike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 as customers of advice.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71600" y="50292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977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286000" y="50292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 as owners of outcomes who contract for build capacity.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57200" y="5852160"/>
            <a:ext cx="11277295" cy="0"/>
          </a:xfrm>
          <a:prstGeom prst="line">
            <a:avLst/>
          </a:prstGeom>
          <a:noFill/>
          <a:ln w="6350">
            <a:solidFill>
              <a:srgbClr val="333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598932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i="1" dirty="0">
                <a:solidFill>
                  <a:srgbClr val="97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accountability. Sharper mechanism.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AI-NATIVE PROPOSAL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248095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977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§08 - THE ASK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820095" y="64465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YONATAN ORPELI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713232"/>
            <a:ext cx="11277295" cy="0"/>
          </a:xfrm>
          <a:prstGeom prst="line">
            <a:avLst/>
          </a:prstGeom>
          <a:noFill/>
          <a:ln w="6350">
            <a:solidFill>
              <a:srgbClr val="333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WE NEED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things, in order.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kern="0" spc="200" dirty="0">
                <a:solidFill>
                  <a:srgbClr val="977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737360" y="2103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AGREEMENT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737360" y="2514600"/>
            <a:ext cx="9997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 framing of Platform's role updated to reflect build squads in the BU AI Transformation pillar, BU-funded for BU work. Ownership language stays.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737360" y="3291840"/>
            <a:ext cx="9997135" cy="0"/>
          </a:xfrm>
          <a:prstGeom prst="line">
            <a:avLst/>
          </a:prstGeom>
          <a:noFill/>
          <a:ln w="5080">
            <a:solidFill>
              <a:srgbClr val="333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33832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kern="0" spc="200" dirty="0">
                <a:solidFill>
                  <a:srgbClr val="977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737360" y="3383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SQUADS TO START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737360" y="3794760"/>
            <a:ext cx="9997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people: 2 PM-Builders + 2 AI Engineers. Internal allocation preferred; external hires as fallback. Scale gated on demand, not calendar.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737360" y="4572000"/>
            <a:ext cx="9997135" cy="0"/>
          </a:xfrm>
          <a:prstGeom prst="line">
            <a:avLst/>
          </a:prstGeom>
          <a:noFill/>
          <a:ln w="5080">
            <a:solidFill>
              <a:srgbClr val="333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46634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kern="0" spc="200" dirty="0">
                <a:solidFill>
                  <a:srgbClr val="977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1737360" y="4663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 + FINANCE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737360" y="5074920"/>
            <a:ext cx="9997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Cross-BU intake board chaired by Mor's orchestration layer. Finance defines the chargeback. Both stood up ASAP (6/8</a:t>
            </a:r>
            <a:r>
              <a:rPr lang="en-US" sz="1400" baseline="3000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</a:t>
            </a:r>
            <a:r>
              <a:rPr lang="en-US" sz="140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5852160"/>
            <a:ext cx="11277295" cy="0"/>
          </a:xfrm>
          <a:prstGeom prst="line">
            <a:avLst/>
          </a:prstGeom>
          <a:noFill/>
          <a:ln w="6350">
            <a:solidFill>
              <a:srgbClr val="333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598932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before June 8, the C-Suite engages a working model - not a sketch.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11AEFE-77CD-5A97-72F6-C84F138AA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02D0B13-56D0-6DE9-229F-DAD6A915E396}"/>
              </a:ext>
            </a:extLst>
          </p:cNvPr>
          <p:cNvSpPr/>
          <p:nvPr/>
        </p:nvSpPr>
        <p:spPr>
          <a:xfrm>
            <a:off x="457200" y="365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AI-NATIVE PROPOSAL</a:t>
            </a:r>
            <a:endParaRPr lang="en-US" sz="9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38B1479-49D8-8538-E46B-4F34987F9A64}"/>
              </a:ext>
            </a:extLst>
          </p:cNvPr>
          <p:cNvSpPr/>
          <p:nvPr/>
        </p:nvSpPr>
        <p:spPr>
          <a:xfrm>
            <a:off x="6248095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977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§09  —  THE DISCOVERY</a:t>
            </a:r>
            <a:endParaRPr lang="en-US" sz="9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D951146-0929-D998-9691-C00ABBE51E44}"/>
              </a:ext>
            </a:extLst>
          </p:cNvPr>
          <p:cNvSpPr/>
          <p:nvPr/>
        </p:nvSpPr>
        <p:spPr>
          <a:xfrm>
            <a:off x="10820095" y="64465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10/10</a:t>
            </a:r>
            <a:endParaRPr lang="en-US" sz="9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E59BDAB-AEE3-93EA-FF0A-CB8BEA9C7447}"/>
              </a:ext>
            </a:extLst>
          </p:cNvPr>
          <p:cNvSpPr/>
          <p:nvPr/>
        </p:nvSpPr>
        <p:spPr>
          <a:xfrm>
            <a:off x="457200" y="713232"/>
            <a:ext cx="11277295" cy="0"/>
          </a:xfrm>
          <a:prstGeom prst="line">
            <a:avLst/>
          </a:prstGeom>
          <a:noFill/>
          <a:ln w="6350">
            <a:solidFill>
              <a:srgbClr val="333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D75795F-E86C-F23D-F86D-EC208F7D9D2D}"/>
              </a:ext>
            </a:extLst>
          </p:cNvPr>
          <p:cNvSpPr/>
          <p:nvPr/>
        </p:nvSpPr>
        <p:spPr>
          <a:xfrm>
            <a:off x="457200" y="9601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ARGUMENT</a:t>
            </a:r>
            <a:endParaRPr lang="en-US" sz="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E850C97-6684-3492-0E57-0E57AE2A427C}"/>
              </a:ext>
            </a:extLst>
          </p:cNvPr>
          <p:cNvSpPr/>
          <p:nvPr/>
        </p:nvSpPr>
        <p:spPr>
          <a:xfrm>
            <a:off x="457200" y="123444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is the first contract between the squad and the BU.</a:t>
            </a:r>
            <a:endParaRPr lang="en-US" sz="24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3BE5AEBD-DC90-70E9-C723-E4431AB7B5CE}"/>
              </a:ext>
            </a:extLst>
          </p:cNvPr>
          <p:cNvSpPr/>
          <p:nvPr/>
        </p:nvSpPr>
        <p:spPr>
          <a:xfrm>
            <a:off x="457200" y="178308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to Four weeks. BU velocity sets the floor.</a:t>
            </a:r>
            <a:endParaRPr lang="en-US" sz="150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954CF488-B15F-D194-0EA3-127A6438FDE0}"/>
              </a:ext>
            </a:extLst>
          </p:cNvPr>
          <p:cNvSpPr/>
          <p:nvPr/>
        </p:nvSpPr>
        <p:spPr>
          <a:xfrm>
            <a:off x="594360" y="2651760"/>
            <a:ext cx="11002975" cy="0"/>
          </a:xfrm>
          <a:prstGeom prst="line">
            <a:avLst/>
          </a:prstGeom>
          <a:noFill/>
          <a:ln w="12700">
            <a:solidFill>
              <a:srgbClr val="333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05CABF48-1E96-6578-3C32-BF37C41E983B}"/>
              </a:ext>
            </a:extLst>
          </p:cNvPr>
          <p:cNvSpPr/>
          <p:nvPr/>
        </p:nvSpPr>
        <p:spPr>
          <a:xfrm>
            <a:off x="502920" y="2560320"/>
            <a:ext cx="201168" cy="201168"/>
          </a:xfrm>
          <a:prstGeom prst="ellipse">
            <a:avLst/>
          </a:prstGeom>
          <a:solidFill>
            <a:srgbClr val="977DFF"/>
          </a:solidFill>
          <a:ln w="12700">
            <a:solidFill>
              <a:srgbClr val="977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AF5A8BA1-C4D8-00B5-804A-B708E096C1F7}"/>
              </a:ext>
            </a:extLst>
          </p:cNvPr>
          <p:cNvSpPr/>
          <p:nvPr/>
        </p:nvSpPr>
        <p:spPr>
          <a:xfrm>
            <a:off x="777240" y="247802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00" dirty="0">
                <a:solidFill>
                  <a:srgbClr val="977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6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80A12038-4F3C-5621-8A18-4D302D28CCD1}"/>
              </a:ext>
            </a:extLst>
          </p:cNvPr>
          <p:cNvSpPr/>
          <p:nvPr/>
        </p:nvSpPr>
        <p:spPr>
          <a:xfrm>
            <a:off x="457200" y="3017520"/>
            <a:ext cx="25792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</a:t>
            </a:r>
            <a:endParaRPr lang="en-US" sz="22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01226341-1B6E-C06D-BAE2-C7E591F613B7}"/>
              </a:ext>
            </a:extLst>
          </p:cNvPr>
          <p:cNvSpPr/>
          <p:nvPr/>
        </p:nvSpPr>
        <p:spPr>
          <a:xfrm>
            <a:off x="457200" y="3474720"/>
            <a:ext cx="25792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1</a:t>
            </a:r>
            <a:endParaRPr lang="en-US" sz="10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944AED2D-9BF1-5074-C98F-18DAD192E146}"/>
              </a:ext>
            </a:extLst>
          </p:cNvPr>
          <p:cNvSpPr/>
          <p:nvPr/>
        </p:nvSpPr>
        <p:spPr>
          <a:xfrm>
            <a:off x="457200" y="3840480"/>
            <a:ext cx="257929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 kickoff with the BU workflow owner. Scope agreed. Problem statement</a:t>
            </a:r>
            <a:endParaRPr lang="en-US" sz="1300" dirty="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500209EA-83BD-90C2-B417-AD073686A7C5}"/>
              </a:ext>
            </a:extLst>
          </p:cNvPr>
          <p:cNvSpPr/>
          <p:nvPr/>
        </p:nvSpPr>
        <p:spPr>
          <a:xfrm>
            <a:off x="3402254" y="2560320"/>
            <a:ext cx="201168" cy="201168"/>
          </a:xfrm>
          <a:prstGeom prst="ellipse">
            <a:avLst/>
          </a:prstGeom>
          <a:solidFill>
            <a:srgbClr val="977DFF"/>
          </a:solidFill>
          <a:ln w="12700">
            <a:solidFill>
              <a:srgbClr val="977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4CE3CF68-EF05-FFE8-2EF4-3981CC23A1F1}"/>
              </a:ext>
            </a:extLst>
          </p:cNvPr>
          <p:cNvSpPr/>
          <p:nvPr/>
        </p:nvSpPr>
        <p:spPr>
          <a:xfrm>
            <a:off x="3676574" y="247802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00" dirty="0">
                <a:solidFill>
                  <a:srgbClr val="977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60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64236D89-7B6E-EA44-49F5-83BE05D3119A}"/>
              </a:ext>
            </a:extLst>
          </p:cNvPr>
          <p:cNvSpPr/>
          <p:nvPr/>
        </p:nvSpPr>
        <p:spPr>
          <a:xfrm>
            <a:off x="3356534" y="3017520"/>
            <a:ext cx="25792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</a:t>
            </a:r>
            <a:endParaRPr lang="en-US" sz="22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2CF538A9-63FB-73FA-7069-C5BEB96F89AB}"/>
              </a:ext>
            </a:extLst>
          </p:cNvPr>
          <p:cNvSpPr/>
          <p:nvPr/>
        </p:nvSpPr>
        <p:spPr>
          <a:xfrm>
            <a:off x="3356534" y="3474720"/>
            <a:ext cx="25792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1 — 2</a:t>
            </a:r>
            <a:endParaRPr lang="en-US" sz="100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2165DE03-234A-4D3D-F72F-802B5AF7B867}"/>
              </a:ext>
            </a:extLst>
          </p:cNvPr>
          <p:cNvSpPr/>
          <p:nvPr/>
        </p:nvSpPr>
        <p:spPr>
          <a:xfrm>
            <a:off x="3356534" y="3840480"/>
            <a:ext cx="257929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Current-state workflow drawn end-to-end. Triggers, handoffs, decisions, where human effort sits.</a:t>
            </a:r>
            <a:endParaRPr lang="en-US" sz="1300" dirty="0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080B6591-B01F-34ED-6C0B-39C3E7B68C7E}"/>
              </a:ext>
            </a:extLst>
          </p:cNvPr>
          <p:cNvSpPr/>
          <p:nvPr/>
        </p:nvSpPr>
        <p:spPr>
          <a:xfrm>
            <a:off x="6301588" y="2560320"/>
            <a:ext cx="201168" cy="201168"/>
          </a:xfrm>
          <a:prstGeom prst="ellipse">
            <a:avLst/>
          </a:prstGeom>
          <a:solidFill>
            <a:srgbClr val="977DFF"/>
          </a:solidFill>
          <a:ln w="12700">
            <a:solidFill>
              <a:srgbClr val="977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1442F0F9-2A9F-F5B2-A24A-D633326BD82E}"/>
              </a:ext>
            </a:extLst>
          </p:cNvPr>
          <p:cNvSpPr/>
          <p:nvPr/>
        </p:nvSpPr>
        <p:spPr>
          <a:xfrm>
            <a:off x="6575908" y="247802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00" dirty="0">
                <a:solidFill>
                  <a:srgbClr val="977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600" dirty="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F4475C46-FF53-2F49-7196-00654F357C36}"/>
              </a:ext>
            </a:extLst>
          </p:cNvPr>
          <p:cNvSpPr/>
          <p:nvPr/>
        </p:nvSpPr>
        <p:spPr>
          <a:xfrm>
            <a:off x="6255868" y="3017520"/>
            <a:ext cx="25792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2200" dirty="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11EC65C5-A508-7994-2F5E-BE8AF5127A09}"/>
              </a:ext>
            </a:extLst>
          </p:cNvPr>
          <p:cNvSpPr/>
          <p:nvPr/>
        </p:nvSpPr>
        <p:spPr>
          <a:xfrm>
            <a:off x="6255868" y="3474720"/>
            <a:ext cx="25792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2 — 3</a:t>
            </a:r>
            <a:endParaRPr lang="en-US" sz="1000" dirty="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EC4D17DE-14CF-4D0A-D6AA-B24D6A2E7ACE}"/>
              </a:ext>
            </a:extLst>
          </p:cNvPr>
          <p:cNvSpPr/>
          <p:nvPr/>
        </p:nvSpPr>
        <p:spPr>
          <a:xfrm>
            <a:off x="6255868" y="3840480"/>
            <a:ext cx="257929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AI-native target state, co-solved with the BU. Build plan drafted. Reusable components named.</a:t>
            </a:r>
            <a:endParaRPr lang="en-US" sz="1300" dirty="0"/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FE93CD4D-308A-6E7B-9347-880C7CFF1347}"/>
              </a:ext>
            </a:extLst>
          </p:cNvPr>
          <p:cNvSpPr/>
          <p:nvPr/>
        </p:nvSpPr>
        <p:spPr>
          <a:xfrm>
            <a:off x="9200921" y="2560320"/>
            <a:ext cx="201168" cy="201168"/>
          </a:xfrm>
          <a:prstGeom prst="ellipse">
            <a:avLst/>
          </a:prstGeom>
          <a:solidFill>
            <a:srgbClr val="977DFF"/>
          </a:solidFill>
          <a:ln w="12700">
            <a:solidFill>
              <a:srgbClr val="977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A4A98CE1-19E7-B4D6-0C3F-C207A6CD3935}"/>
              </a:ext>
            </a:extLst>
          </p:cNvPr>
          <p:cNvSpPr/>
          <p:nvPr/>
        </p:nvSpPr>
        <p:spPr>
          <a:xfrm>
            <a:off x="9475241" y="247802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00" dirty="0">
                <a:solidFill>
                  <a:srgbClr val="977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600" dirty="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0EA97DA3-534A-DC5B-A5E0-E910A10D5796}"/>
              </a:ext>
            </a:extLst>
          </p:cNvPr>
          <p:cNvSpPr/>
          <p:nvPr/>
        </p:nvSpPr>
        <p:spPr>
          <a:xfrm>
            <a:off x="9155201" y="3017520"/>
            <a:ext cx="25792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/ NO-GO</a:t>
            </a:r>
            <a:endParaRPr lang="en-US" sz="2200" dirty="0"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7BB14655-1C11-A570-B640-E06FC2D6A229}"/>
              </a:ext>
            </a:extLst>
          </p:cNvPr>
          <p:cNvSpPr/>
          <p:nvPr/>
        </p:nvSpPr>
        <p:spPr>
          <a:xfrm>
            <a:off x="9155201" y="3474720"/>
            <a:ext cx="25792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3 — 4</a:t>
            </a:r>
            <a:endParaRPr lang="en-US" sz="1000" dirty="0"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8BD3267F-4168-10E9-23AB-58341F29C93B}"/>
              </a:ext>
            </a:extLst>
          </p:cNvPr>
          <p:cNvSpPr/>
          <p:nvPr/>
        </p:nvSpPr>
        <p:spPr>
          <a:xfrm>
            <a:off x="9155201" y="3840480"/>
            <a:ext cx="257929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 decision: build, refine, or stop. If go, “contract signed” - deliverable, date, graduation gate.</a:t>
            </a:r>
            <a:endParaRPr lang="en-US" sz="1300" dirty="0"/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9B718D47-9B6C-059D-76A9-EC4B28009F4A}"/>
              </a:ext>
            </a:extLst>
          </p:cNvPr>
          <p:cNvSpPr/>
          <p:nvPr/>
        </p:nvSpPr>
        <p:spPr>
          <a:xfrm>
            <a:off x="457200" y="5212080"/>
            <a:ext cx="11277295" cy="0"/>
          </a:xfrm>
          <a:prstGeom prst="line">
            <a:avLst/>
          </a:prstGeom>
          <a:noFill/>
          <a:ln w="6350">
            <a:solidFill>
              <a:srgbClr val="333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D9EDBE9A-BD14-C226-8096-874BA93EFCE8}"/>
              </a:ext>
            </a:extLst>
          </p:cNvPr>
          <p:cNvSpPr/>
          <p:nvPr/>
        </p:nvSpPr>
        <p:spPr>
          <a:xfrm>
            <a:off x="382926" y="5437917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977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THE BU PROVIDES DURING DISCOVERY</a:t>
            </a:r>
            <a:endParaRPr lang="en-US" sz="900" dirty="0"/>
          </a:p>
        </p:txBody>
      </p:sp>
      <p:sp>
        <p:nvSpPr>
          <p:cNvPr id="33" name="Shape 30">
            <a:extLst>
              <a:ext uri="{FF2B5EF4-FFF2-40B4-BE49-F238E27FC236}">
                <a16:creationId xmlns:a16="http://schemas.microsoft.com/office/drawing/2014/main" id="{EAA8472D-6365-D474-7477-D924203B3388}"/>
              </a:ext>
            </a:extLst>
          </p:cNvPr>
          <p:cNvSpPr/>
          <p:nvPr/>
        </p:nvSpPr>
        <p:spPr>
          <a:xfrm>
            <a:off x="457200" y="5715000"/>
            <a:ext cx="320040" cy="0"/>
          </a:xfrm>
          <a:prstGeom prst="line">
            <a:avLst/>
          </a:prstGeom>
          <a:noFill/>
          <a:ln w="19050">
            <a:solidFill>
              <a:srgbClr val="977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39132445-2B42-2228-BF49-A9BDE59DA908}"/>
              </a:ext>
            </a:extLst>
          </p:cNvPr>
          <p:cNvSpPr/>
          <p:nvPr/>
        </p:nvSpPr>
        <p:spPr>
          <a:xfrm>
            <a:off x="457200" y="5806440"/>
            <a:ext cx="35762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owner present, not delegated.</a:t>
            </a:r>
            <a:endParaRPr lang="en-US" sz="1400" dirty="0"/>
          </a:p>
        </p:txBody>
      </p:sp>
      <p:sp>
        <p:nvSpPr>
          <p:cNvPr id="35" name="Shape 32">
            <a:extLst>
              <a:ext uri="{FF2B5EF4-FFF2-40B4-BE49-F238E27FC236}">
                <a16:creationId xmlns:a16="http://schemas.microsoft.com/office/drawing/2014/main" id="{8C984440-CF81-F231-3C82-C3820C5B9847}"/>
              </a:ext>
            </a:extLst>
          </p:cNvPr>
          <p:cNvSpPr/>
          <p:nvPr/>
        </p:nvSpPr>
        <p:spPr>
          <a:xfrm>
            <a:off x="4307738" y="5715000"/>
            <a:ext cx="320040" cy="0"/>
          </a:xfrm>
          <a:prstGeom prst="line">
            <a:avLst/>
          </a:prstGeom>
          <a:noFill/>
          <a:ln w="19050">
            <a:solidFill>
              <a:srgbClr val="977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B876DE0D-D694-0F19-56E0-7C2E00690CE1}"/>
              </a:ext>
            </a:extLst>
          </p:cNvPr>
          <p:cNvSpPr/>
          <p:nvPr/>
        </p:nvSpPr>
        <p:spPr>
          <a:xfrm>
            <a:off x="4307738" y="5806440"/>
            <a:ext cx="35762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access decided in days, not weeks.</a:t>
            </a:r>
            <a:endParaRPr lang="en-US" sz="1400" dirty="0"/>
          </a:p>
        </p:txBody>
      </p:sp>
      <p:sp>
        <p:nvSpPr>
          <p:cNvPr id="37" name="Shape 34">
            <a:extLst>
              <a:ext uri="{FF2B5EF4-FFF2-40B4-BE49-F238E27FC236}">
                <a16:creationId xmlns:a16="http://schemas.microsoft.com/office/drawing/2014/main" id="{352DB9C7-FEB0-C519-3516-2B080848A83C}"/>
              </a:ext>
            </a:extLst>
          </p:cNvPr>
          <p:cNvSpPr/>
          <p:nvPr/>
        </p:nvSpPr>
        <p:spPr>
          <a:xfrm>
            <a:off x="8158277" y="5715000"/>
            <a:ext cx="320040" cy="0"/>
          </a:xfrm>
          <a:prstGeom prst="line">
            <a:avLst/>
          </a:prstGeom>
          <a:noFill/>
          <a:ln w="19050">
            <a:solidFill>
              <a:srgbClr val="977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>
            <a:extLst>
              <a:ext uri="{FF2B5EF4-FFF2-40B4-BE49-F238E27FC236}">
                <a16:creationId xmlns:a16="http://schemas.microsoft.com/office/drawing/2014/main" id="{ED92EB2A-6944-B6FD-ECDA-2EF15F71F718}"/>
              </a:ext>
            </a:extLst>
          </p:cNvPr>
          <p:cNvSpPr/>
          <p:nvPr/>
        </p:nvSpPr>
        <p:spPr>
          <a:xfrm>
            <a:off x="8158277" y="5806440"/>
            <a:ext cx="35762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made, No red tape</a:t>
            </a:r>
            <a:endParaRPr lang="en-US" sz="1400" dirty="0"/>
          </a:p>
        </p:txBody>
      </p:sp>
      <p:sp>
        <p:nvSpPr>
          <p:cNvPr id="39" name="Shape 36">
            <a:extLst>
              <a:ext uri="{FF2B5EF4-FFF2-40B4-BE49-F238E27FC236}">
                <a16:creationId xmlns:a16="http://schemas.microsoft.com/office/drawing/2014/main" id="{9EF54AD7-4BDC-3E3C-4D51-15A1A025F443}"/>
              </a:ext>
            </a:extLst>
          </p:cNvPr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6350">
            <a:solidFill>
              <a:srgbClr val="333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>
            <a:extLst>
              <a:ext uri="{FF2B5EF4-FFF2-40B4-BE49-F238E27FC236}">
                <a16:creationId xmlns:a16="http://schemas.microsoft.com/office/drawing/2014/main" id="{C59E4AFA-916A-9A10-4CBD-663F18CD36D0}"/>
              </a:ext>
            </a:extLst>
          </p:cNvPr>
          <p:cNvSpPr/>
          <p:nvPr/>
        </p:nvSpPr>
        <p:spPr>
          <a:xfrm>
            <a:off x="45720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i="1" dirty="0">
                <a:solidFill>
                  <a:srgbClr val="97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these, discovery stalls and the squad rotates.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7079639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046DCC-6844-A496-A565-8A19EDC1E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>
            <a:extLst>
              <a:ext uri="{FF2B5EF4-FFF2-40B4-BE49-F238E27FC236}">
                <a16:creationId xmlns:a16="http://schemas.microsoft.com/office/drawing/2014/main" id="{60794C84-0175-4E30-8AB5-D7F547A767A3}"/>
              </a:ext>
            </a:extLst>
          </p:cNvPr>
          <p:cNvSpPr/>
          <p:nvPr/>
        </p:nvSpPr>
        <p:spPr>
          <a:xfrm>
            <a:off x="731520" y="3383280"/>
            <a:ext cx="107286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5600" b="1" kern="0" spc="-100" dirty="0">
                <a:solidFill>
                  <a:srgbClr val="97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5600" dirty="0"/>
          </a:p>
        </p:txBody>
      </p:sp>
    </p:spTree>
    <p:extLst>
      <p:ext uri="{BB962C8B-B14F-4D97-AF65-F5344CB8AC3E}">
        <p14:creationId xmlns:p14="http://schemas.microsoft.com/office/powerpoint/2010/main" val="1646308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1215</Words>
  <Application>Microsoft Macintosh PowerPoint</Application>
  <PresentationFormat>Widescreen</PresentationFormat>
  <Paragraphs>238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 AI Transformation — Build Squad Model</dc:title>
  <dc:subject>PptxGenJS Presentation</dc:subject>
  <dc:creator>Yonatan Orpeli</dc:creator>
  <cp:lastModifiedBy>Yonatan Orpeli</cp:lastModifiedBy>
  <cp:revision>7</cp:revision>
  <dcterms:created xsi:type="dcterms:W3CDTF">2026-05-29T12:15:56Z</dcterms:created>
  <dcterms:modified xsi:type="dcterms:W3CDTF">2026-05-31T08:08:37Z</dcterms:modified>
</cp:coreProperties>
</file>