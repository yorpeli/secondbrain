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3584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571500" y="571500"/>
            <a:ext cx="419100" cy="19050"/>
          </a:xfrm>
          <a:prstGeom prst="rect">
            <a:avLst/>
          </a:prstGeom>
          <a:solidFill>
            <a:srgbClr val="171717"/>
          </a:solidFill>
          <a:ln/>
        </p:spPr>
        <p:txBody>
          <a:bodyPr/>
          <a:lstStyle/>
          <a:p>
            <a:endParaRPr lang="en-IL"/>
          </a:p>
        </p:txBody>
      </p:sp>
      <p:sp>
        <p:nvSpPr>
          <p:cNvPr id="4" name="Shape 2"/>
          <p:cNvSpPr/>
          <p:nvPr/>
        </p:nvSpPr>
        <p:spPr>
          <a:xfrm>
            <a:off x="571500" y="571500"/>
            <a:ext cx="19050" cy="419100"/>
          </a:xfrm>
          <a:prstGeom prst="rect">
            <a:avLst/>
          </a:prstGeom>
          <a:solidFill>
            <a:srgbClr val="171717"/>
          </a:solidFill>
          <a:ln/>
        </p:spPr>
        <p:txBody>
          <a:bodyPr/>
          <a:lstStyle/>
          <a:p>
            <a:endParaRPr lang="en-IL"/>
          </a:p>
        </p:txBody>
      </p:sp>
      <p:sp>
        <p:nvSpPr>
          <p:cNvPr id="5" name="Shape 3"/>
          <p:cNvSpPr/>
          <p:nvPr/>
        </p:nvSpPr>
        <p:spPr>
          <a:xfrm>
            <a:off x="17716500" y="571500"/>
            <a:ext cx="419100" cy="19050"/>
          </a:xfrm>
          <a:prstGeom prst="rect">
            <a:avLst/>
          </a:prstGeom>
          <a:solidFill>
            <a:srgbClr val="171717"/>
          </a:solidFill>
          <a:ln/>
        </p:spPr>
        <p:txBody>
          <a:bodyPr/>
          <a:lstStyle/>
          <a:p>
            <a:endParaRPr lang="en-IL"/>
          </a:p>
        </p:txBody>
      </p:sp>
      <p:sp>
        <p:nvSpPr>
          <p:cNvPr id="6" name="Shape 4"/>
          <p:cNvSpPr/>
          <p:nvPr/>
        </p:nvSpPr>
        <p:spPr>
          <a:xfrm>
            <a:off x="18116550" y="571500"/>
            <a:ext cx="19050" cy="419100"/>
          </a:xfrm>
          <a:prstGeom prst="rect">
            <a:avLst/>
          </a:prstGeom>
          <a:solidFill>
            <a:srgbClr val="171717"/>
          </a:solidFill>
          <a:ln/>
        </p:spPr>
        <p:txBody>
          <a:bodyPr/>
          <a:lstStyle/>
          <a:p>
            <a:endParaRPr lang="en-IL"/>
          </a:p>
        </p:txBody>
      </p:sp>
      <p:sp>
        <p:nvSpPr>
          <p:cNvPr id="7" name="Shape 5"/>
          <p:cNvSpPr/>
          <p:nvPr/>
        </p:nvSpPr>
        <p:spPr>
          <a:xfrm>
            <a:off x="571500" y="10115550"/>
            <a:ext cx="419100" cy="19050"/>
          </a:xfrm>
          <a:prstGeom prst="rect">
            <a:avLst/>
          </a:prstGeom>
          <a:solidFill>
            <a:srgbClr val="171717"/>
          </a:solidFill>
          <a:ln/>
        </p:spPr>
        <p:txBody>
          <a:bodyPr/>
          <a:lstStyle/>
          <a:p>
            <a:endParaRPr lang="en-IL"/>
          </a:p>
        </p:txBody>
      </p:sp>
      <p:sp>
        <p:nvSpPr>
          <p:cNvPr id="8" name="Shape 6"/>
          <p:cNvSpPr/>
          <p:nvPr/>
        </p:nvSpPr>
        <p:spPr>
          <a:xfrm>
            <a:off x="571500" y="9715500"/>
            <a:ext cx="19050" cy="419100"/>
          </a:xfrm>
          <a:prstGeom prst="rect">
            <a:avLst/>
          </a:prstGeom>
          <a:solidFill>
            <a:srgbClr val="171717"/>
          </a:solidFill>
          <a:ln/>
        </p:spPr>
        <p:txBody>
          <a:bodyPr/>
          <a:lstStyle/>
          <a:p>
            <a:endParaRPr lang="en-IL"/>
          </a:p>
        </p:txBody>
      </p:sp>
      <p:sp>
        <p:nvSpPr>
          <p:cNvPr id="9" name="Shape 7"/>
          <p:cNvSpPr/>
          <p:nvPr/>
        </p:nvSpPr>
        <p:spPr>
          <a:xfrm>
            <a:off x="17716500" y="10115550"/>
            <a:ext cx="419100" cy="19050"/>
          </a:xfrm>
          <a:prstGeom prst="rect">
            <a:avLst/>
          </a:prstGeom>
          <a:solidFill>
            <a:srgbClr val="171717"/>
          </a:solidFill>
          <a:ln/>
        </p:spPr>
        <p:txBody>
          <a:bodyPr/>
          <a:lstStyle/>
          <a:p>
            <a:endParaRPr lang="en-IL"/>
          </a:p>
        </p:txBody>
      </p:sp>
      <p:sp>
        <p:nvSpPr>
          <p:cNvPr id="10" name="Shape 8"/>
          <p:cNvSpPr/>
          <p:nvPr/>
        </p:nvSpPr>
        <p:spPr>
          <a:xfrm>
            <a:off x="18116550" y="9715500"/>
            <a:ext cx="19050" cy="419100"/>
          </a:xfrm>
          <a:prstGeom prst="rect">
            <a:avLst/>
          </a:prstGeom>
          <a:solidFill>
            <a:srgbClr val="171717"/>
          </a:solidFill>
          <a:ln/>
        </p:spPr>
        <p:txBody>
          <a:bodyPr/>
          <a:lstStyle/>
          <a:p>
            <a:endParaRPr lang="en-IL"/>
          </a:p>
        </p:txBody>
      </p:sp>
      <p:sp>
        <p:nvSpPr>
          <p:cNvPr id="11" name="Text 9"/>
          <p:cNvSpPr/>
          <p:nvPr/>
        </p:nvSpPr>
        <p:spPr>
          <a:xfrm>
            <a:off x="952500" y="762000"/>
            <a:ext cx="4505740" cy="2952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6B7280"/>
                </a:solidFill>
                <a:latin typeface="Courier New" pitchFamily="34" charset="0"/>
                <a:ea typeface="Courier New" pitchFamily="34" charset="-122"/>
                <a:cs typeface="Courier New" pitchFamily="34" charset="-120"/>
              </a:rPr>
              <a:t>FIG. 00 — PROPOSAL SCHEMATIC</a:t>
            </a:r>
            <a:endParaRPr lang="en-US" sz="1800" dirty="0"/>
          </a:p>
        </p:txBody>
      </p:sp>
      <p:sp>
        <p:nvSpPr>
          <p:cNvPr id="12" name="Text 10"/>
          <p:cNvSpPr/>
          <p:nvPr/>
        </p:nvSpPr>
        <p:spPr>
          <a:xfrm>
            <a:off x="15773102" y="762000"/>
            <a:ext cx="1638598" cy="295275"/>
          </a:xfrm>
          <a:prstGeom prst="rect">
            <a:avLst/>
          </a:prstGeom>
          <a:noFill/>
          <a:ln/>
        </p:spPr>
        <p:txBody>
          <a:bodyPr wrap="square" lIns="25400" tIns="25400" rIns="25400" bIns="25400" rtlCol="0" anchor="t">
            <a:normAutofit/>
          </a:bodyPr>
          <a:lstStyle/>
          <a:p>
            <a:pPr marL="0" indent="0" algn="l">
              <a:buNone/>
            </a:pPr>
            <a:r>
              <a:rPr lang="en-US" sz="1800" kern="0" spc="150" dirty="0">
                <a:solidFill>
                  <a:srgbClr val="6B7280"/>
                </a:solidFill>
                <a:latin typeface="Courier New" pitchFamily="34" charset="0"/>
                <a:ea typeface="Courier New" pitchFamily="34" charset="-122"/>
                <a:cs typeface="Courier New" pitchFamily="34" charset="-120"/>
              </a:rPr>
              <a:t>APRIL 2026</a:t>
            </a:r>
            <a:endParaRPr lang="en-US" sz="1800" dirty="0"/>
          </a:p>
        </p:txBody>
      </p:sp>
      <p:pic>
        <p:nvPicPr>
          <p:cNvPr id="13" name="Image 0" descr="preencoded.png"/>
          <p:cNvPicPr>
            <a:picLocks noChangeAspect="1"/>
          </p:cNvPicPr>
          <p:nvPr/>
        </p:nvPicPr>
        <p:blipFill>
          <a:blip r:embed="rId3"/>
          <a:stretch>
            <a:fillRect/>
          </a:stretch>
        </p:blipFill>
        <p:spPr>
          <a:xfrm>
            <a:off x="952500" y="1885057"/>
            <a:ext cx="2354461" cy="457200"/>
          </a:xfrm>
          <a:prstGeom prst="rect">
            <a:avLst/>
          </a:prstGeom>
        </p:spPr>
      </p:pic>
      <p:sp>
        <p:nvSpPr>
          <p:cNvPr id="14" name="Text 11"/>
          <p:cNvSpPr/>
          <p:nvPr/>
        </p:nvSpPr>
        <p:spPr>
          <a:xfrm>
            <a:off x="952500" y="2685157"/>
            <a:ext cx="8364584" cy="390525"/>
          </a:xfrm>
          <a:prstGeom prst="rect">
            <a:avLst/>
          </a:prstGeom>
          <a:noFill/>
          <a:ln/>
        </p:spPr>
        <p:txBody>
          <a:bodyPr wrap="square" lIns="25400" tIns="25400" rIns="25400" bIns="25400" rtlCol="0" anchor="t">
            <a:normAutofit/>
          </a:bodyPr>
          <a:lstStyle/>
          <a:p>
            <a:pPr marL="0" indent="0" algn="l">
              <a:buNone/>
            </a:pPr>
            <a:r>
              <a:rPr lang="en-US" sz="2100" b="1" kern="0" spc="300" dirty="0">
                <a:solidFill>
                  <a:srgbClr val="2563EB"/>
                </a:solidFill>
                <a:latin typeface="Courier New" pitchFamily="34" charset="0"/>
                <a:ea typeface="Courier New" pitchFamily="34" charset="-122"/>
                <a:cs typeface="Courier New" pitchFamily="34" charset="-120"/>
              </a:rPr>
              <a:t>PROPOSAL 01 / AIR²</a:t>
            </a:r>
            <a:endParaRPr lang="en-US" sz="2100" dirty="0"/>
          </a:p>
        </p:txBody>
      </p:sp>
      <p:sp>
        <p:nvSpPr>
          <p:cNvPr id="15" name="Text 12"/>
          <p:cNvSpPr/>
          <p:nvPr/>
        </p:nvSpPr>
        <p:spPr>
          <a:xfrm>
            <a:off x="952500" y="3342382"/>
            <a:ext cx="8364584" cy="3947071"/>
          </a:xfrm>
          <a:prstGeom prst="rect">
            <a:avLst/>
          </a:prstGeom>
          <a:noFill/>
          <a:ln/>
        </p:spPr>
        <p:txBody>
          <a:bodyPr wrap="square" lIns="25400" tIns="25400" rIns="25400" bIns="25400" rtlCol="0" anchor="t">
            <a:normAutofit/>
          </a:bodyPr>
          <a:lstStyle/>
          <a:p>
            <a:pPr marL="0" indent="0" algn="l">
              <a:lnSpc>
                <a:spcPct val="95000"/>
              </a:lnSpc>
              <a:buNone/>
            </a:pPr>
            <a:r>
              <a:rPr lang="en-US" sz="10800" b="1" kern="0" spc="-375" dirty="0">
                <a:solidFill>
                  <a:srgbClr val="171717"/>
                </a:solidFill>
                <a:latin typeface="Arial" pitchFamily="34" charset="0"/>
                <a:ea typeface="Arial" pitchFamily="34" charset="-122"/>
                <a:cs typeface="Arial" pitchFamily="34" charset="-120"/>
              </a:rPr>
              <a:t>The AI-native jump.</a:t>
            </a:r>
            <a:endParaRPr lang="en-US" sz="10800" dirty="0"/>
          </a:p>
        </p:txBody>
      </p:sp>
      <p:sp>
        <p:nvSpPr>
          <p:cNvPr id="16" name="Text 13"/>
          <p:cNvSpPr/>
          <p:nvPr/>
        </p:nvSpPr>
        <p:spPr>
          <a:xfrm>
            <a:off x="952500" y="7632353"/>
            <a:ext cx="7652385" cy="998041"/>
          </a:xfrm>
          <a:prstGeom prst="rect">
            <a:avLst/>
          </a:prstGeom>
          <a:noFill/>
          <a:ln/>
        </p:spPr>
        <p:txBody>
          <a:bodyPr wrap="square" lIns="25400" tIns="25400" rIns="25400" bIns="25400" rtlCol="0" anchor="t">
            <a:normAutofit/>
          </a:bodyPr>
          <a:lstStyle/>
          <a:p>
            <a:pPr marL="0" indent="0" algn="l">
              <a:lnSpc>
                <a:spcPct val="140000"/>
              </a:lnSpc>
              <a:buNone/>
            </a:pPr>
            <a:r>
              <a:rPr lang="en-US" sz="2700" dirty="0">
                <a:solidFill>
                  <a:srgbClr val="3A3A38"/>
                </a:solidFill>
                <a:latin typeface="Arial" pitchFamily="34" charset="0"/>
                <a:ea typeface="Arial" pitchFamily="34" charset="-122"/>
                <a:cs typeface="Arial" pitchFamily="34" charset="-120"/>
              </a:rPr>
              <a:t>Why AIR² is the where the first fully AI-native team at Payoneer should live.</a:t>
            </a:r>
            <a:endParaRPr lang="en-US" sz="2700" dirty="0"/>
          </a:p>
        </p:txBody>
      </p:sp>
      <p:pic>
        <p:nvPicPr>
          <p:cNvPr id="17" name="Image 1" descr="preencoded.png"/>
          <p:cNvPicPr>
            <a:picLocks noChangeAspect="1"/>
          </p:cNvPicPr>
          <p:nvPr/>
        </p:nvPicPr>
        <p:blipFill>
          <a:blip r:embed="rId4"/>
          <a:stretch>
            <a:fillRect/>
          </a:stretch>
        </p:blipFill>
        <p:spPr>
          <a:xfrm>
            <a:off x="9987855" y="2224385"/>
            <a:ext cx="7347496" cy="6028581"/>
          </a:xfrm>
          <a:prstGeom prst="rect">
            <a:avLst/>
          </a:prstGeom>
        </p:spPr>
      </p:pic>
      <p:sp>
        <p:nvSpPr>
          <p:cNvPr id="18" name="Shape 14"/>
          <p:cNvSpPr/>
          <p:nvPr/>
        </p:nvSpPr>
        <p:spPr>
          <a:xfrm>
            <a:off x="952500" y="9239250"/>
            <a:ext cx="16383000" cy="9525"/>
          </a:xfrm>
          <a:prstGeom prst="rect">
            <a:avLst/>
          </a:prstGeom>
          <a:solidFill>
            <a:srgbClr val="D4D4D0"/>
          </a:solidFill>
          <a:ln/>
        </p:spPr>
        <p:txBody>
          <a:bodyPr/>
          <a:lstStyle/>
          <a:p>
            <a:endParaRPr lang="en-IL"/>
          </a:p>
        </p:txBody>
      </p:sp>
      <p:sp>
        <p:nvSpPr>
          <p:cNvPr id="19" name="Text 15"/>
          <p:cNvSpPr/>
          <p:nvPr/>
        </p:nvSpPr>
        <p:spPr>
          <a:xfrm>
            <a:off x="952500" y="9458325"/>
            <a:ext cx="2196852"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6B7280"/>
                </a:solidFill>
                <a:latin typeface="Courier New" pitchFamily="34" charset="0"/>
                <a:ea typeface="Courier New" pitchFamily="34" charset="-122"/>
                <a:cs typeface="Courier New" pitchFamily="34" charset="-120"/>
              </a:rPr>
              <a:t>YONATAN ORPELI</a:t>
            </a:r>
            <a:endParaRPr lang="en-US" sz="1800" dirty="0"/>
          </a:p>
        </p:txBody>
      </p:sp>
      <p:sp>
        <p:nvSpPr>
          <p:cNvPr id="20" name="Text 16"/>
          <p:cNvSpPr/>
          <p:nvPr/>
        </p:nvSpPr>
        <p:spPr>
          <a:xfrm>
            <a:off x="8386614" y="9458325"/>
            <a:ext cx="2652275"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6B7280"/>
                </a:solidFill>
                <a:latin typeface="Courier New" pitchFamily="34" charset="0"/>
                <a:ea typeface="Courier New" pitchFamily="34" charset="-122"/>
                <a:cs typeface="Courier New" pitchFamily="34" charset="-120"/>
              </a:rPr>
              <a:t>RUNTIME / ~18 MIN</a:t>
            </a:r>
            <a:endParaRPr lang="en-US" sz="1800" dirty="0"/>
          </a:p>
        </p:txBody>
      </p:sp>
      <p:sp>
        <p:nvSpPr>
          <p:cNvPr id="21" name="Text 17"/>
          <p:cNvSpPr/>
          <p:nvPr/>
        </p:nvSpPr>
        <p:spPr>
          <a:xfrm>
            <a:off x="16275100" y="9458325"/>
            <a:ext cx="1136600"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6B7280"/>
                </a:solidFill>
                <a:latin typeface="Courier New" pitchFamily="34" charset="0"/>
                <a:ea typeface="Courier New" pitchFamily="34" charset="-122"/>
                <a:cs typeface="Courier New" pitchFamily="34" charset="-120"/>
              </a:rPr>
              <a:t>01 / 08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§01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THE PRIMITIVE IS WRONG</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02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THE ARGUMENT</a:t>
            </a:r>
            <a:endParaRPr lang="en-US" sz="2100" dirty="0"/>
          </a:p>
        </p:txBody>
      </p:sp>
      <p:sp>
        <p:nvSpPr>
          <p:cNvPr id="10" name="Text 7"/>
          <p:cNvSpPr/>
          <p:nvPr/>
        </p:nvSpPr>
        <p:spPr>
          <a:xfrm>
            <a:off x="952500" y="2105025"/>
            <a:ext cx="15697200" cy="1318022"/>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171717"/>
                </a:solidFill>
                <a:latin typeface="Arial" pitchFamily="34" charset="0"/>
                <a:ea typeface="Arial" pitchFamily="34" charset="-122"/>
                <a:cs typeface="Arial" pitchFamily="34" charset="-120"/>
              </a:rPr>
              <a:t>Stop sizing teams by headcount. Start sizing by </a:t>
            </a:r>
            <a:r>
              <a:rPr lang="en-US" sz="4800" b="1" kern="0" spc="-112" dirty="0">
                <a:solidFill>
                  <a:srgbClr val="2563EB"/>
                </a:solidFill>
                <a:latin typeface="Arial" pitchFamily="34" charset="0"/>
                <a:ea typeface="Arial" pitchFamily="34" charset="-122"/>
                <a:cs typeface="Arial" pitchFamily="34" charset="-120"/>
              </a:rPr>
              <a:t>value unit</a:t>
            </a:r>
            <a:r>
              <a:rPr lang="en-US" sz="4800" b="1" kern="0" spc="-112" dirty="0">
                <a:solidFill>
                  <a:srgbClr val="171717"/>
                </a:solidFill>
                <a:latin typeface="Arial" pitchFamily="34" charset="0"/>
                <a:ea typeface="Arial" pitchFamily="34" charset="-122"/>
                <a:cs typeface="Arial" pitchFamily="34" charset="-120"/>
              </a:rPr>
              <a:t>.</a:t>
            </a:r>
            <a:endParaRPr lang="en-US" sz="4800" dirty="0"/>
          </a:p>
        </p:txBody>
      </p:sp>
      <p:sp>
        <p:nvSpPr>
          <p:cNvPr id="11" name="Text 8"/>
          <p:cNvSpPr/>
          <p:nvPr/>
        </p:nvSpPr>
        <p:spPr>
          <a:xfrm>
            <a:off x="952500" y="3651647"/>
            <a:ext cx="14716125" cy="1032272"/>
          </a:xfrm>
          <a:prstGeom prst="rect">
            <a:avLst/>
          </a:prstGeom>
          <a:noFill/>
          <a:ln/>
        </p:spPr>
        <p:txBody>
          <a:bodyPr wrap="square" lIns="25400" tIns="25400" rIns="25400" bIns="25400" rtlCol="0" anchor="t">
            <a:normAutofit/>
          </a:bodyPr>
          <a:lstStyle/>
          <a:p>
            <a:pPr marL="0" indent="0" algn="l">
              <a:lnSpc>
                <a:spcPct val="145000"/>
              </a:lnSpc>
              <a:buNone/>
            </a:pPr>
            <a:r>
              <a:rPr lang="en-US" sz="2700" dirty="0">
                <a:solidFill>
                  <a:srgbClr val="3A3A38"/>
                </a:solidFill>
                <a:latin typeface="Arial" pitchFamily="34" charset="0"/>
                <a:ea typeface="Arial" pitchFamily="34" charset="-122"/>
                <a:cs typeface="Arial" pitchFamily="34" charset="-120"/>
              </a:rPr>
              <a:t>The value unit is the smallest autonomous cell that delivers a measurable business outcome end-to-end, on an ongoing basis. Size follows. Shape follows.</a:t>
            </a:r>
            <a:endParaRPr lang="en-US" sz="2700" dirty="0"/>
          </a:p>
        </p:txBody>
      </p:sp>
      <p:sp>
        <p:nvSpPr>
          <p:cNvPr id="12" name="Shape 9"/>
          <p:cNvSpPr/>
          <p:nvPr/>
        </p:nvSpPr>
        <p:spPr>
          <a:xfrm>
            <a:off x="952500" y="5331619"/>
            <a:ext cx="8001000" cy="3697188"/>
          </a:xfrm>
          <a:prstGeom prst="rect">
            <a:avLst/>
          </a:prstGeom>
          <a:solidFill>
            <a:srgbClr val="FFFFFF"/>
          </a:solidFill>
          <a:ln w="19050">
            <a:solidFill>
              <a:srgbClr val="DC2626"/>
            </a:solidFill>
            <a:prstDash val="solid"/>
          </a:ln>
        </p:spPr>
        <p:txBody>
          <a:bodyPr/>
          <a:lstStyle/>
          <a:p>
            <a:endParaRPr lang="en-IL"/>
          </a:p>
        </p:txBody>
      </p:sp>
      <p:sp>
        <p:nvSpPr>
          <p:cNvPr id="13" name="Text 10"/>
          <p:cNvSpPr/>
          <p:nvPr/>
        </p:nvSpPr>
        <p:spPr>
          <a:xfrm>
            <a:off x="1352550" y="5693569"/>
            <a:ext cx="7416927"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DC2626"/>
                </a:solidFill>
                <a:latin typeface="Courier New" pitchFamily="34" charset="0"/>
                <a:ea typeface="Courier New" pitchFamily="34" charset="-122"/>
                <a:cs typeface="Courier New" pitchFamily="34" charset="-120"/>
              </a:rPr>
              <a:t>CURRENT PRIMITIVE</a:t>
            </a:r>
            <a:endParaRPr lang="en-US" sz="2100" dirty="0"/>
          </a:p>
        </p:txBody>
      </p:sp>
      <p:sp>
        <p:nvSpPr>
          <p:cNvPr id="14" name="Text 11"/>
          <p:cNvSpPr/>
          <p:nvPr/>
        </p:nvSpPr>
        <p:spPr>
          <a:xfrm>
            <a:off x="1352550" y="6179344"/>
            <a:ext cx="7416927"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Headcount</a:t>
            </a:r>
            <a:endParaRPr lang="en-US" sz="3300" dirty="0"/>
          </a:p>
        </p:txBody>
      </p:sp>
      <p:sp>
        <p:nvSpPr>
          <p:cNvPr id="15" name="Text 12"/>
          <p:cNvSpPr/>
          <p:nvPr/>
        </p:nvSpPr>
        <p:spPr>
          <a:xfrm>
            <a:off x="1352550" y="6922294"/>
            <a:ext cx="7416927" cy="392311"/>
          </a:xfrm>
          <a:prstGeom prst="rect">
            <a:avLst/>
          </a:prstGeom>
          <a:noFill/>
          <a:ln/>
        </p:spPr>
        <p:txBody>
          <a:bodyPr wrap="square" lIns="25400" tIns="25400" rIns="25400" bIns="25400" rtlCol="0" anchor="t">
            <a:normAutofit/>
          </a:bodyPr>
          <a:lstStyle/>
          <a:p>
            <a:pPr marL="0" indent="0" algn="l">
              <a:lnSpc>
                <a:spcPct val="155000"/>
              </a:lnSpc>
              <a:buNone/>
            </a:pPr>
            <a:r>
              <a:rPr lang="en-US" sz="1800" kern="0" spc="150" dirty="0">
                <a:solidFill>
                  <a:srgbClr val="6B7280"/>
                </a:solidFill>
                <a:latin typeface="Courier New" pitchFamily="34" charset="0"/>
                <a:ea typeface="Courier New" pitchFamily="34" charset="-122"/>
                <a:cs typeface="Courier New" pitchFamily="34" charset="-120"/>
              </a:rPr>
              <a:t>PLAN BY</a:t>
            </a:r>
            <a:endParaRPr lang="en-US" sz="1800" dirty="0"/>
          </a:p>
        </p:txBody>
      </p:sp>
      <p:sp>
        <p:nvSpPr>
          <p:cNvPr id="16" name="Text 13"/>
          <p:cNvSpPr/>
          <p:nvPr/>
        </p:nvSpPr>
        <p:spPr>
          <a:xfrm>
            <a:off x="1352550" y="7371755"/>
            <a:ext cx="6443670" cy="333375"/>
          </a:xfrm>
          <a:prstGeom prst="rect">
            <a:avLst/>
          </a:prstGeom>
          <a:noFill/>
          <a:ln/>
        </p:spPr>
        <p:txBody>
          <a:bodyPr wrap="square" lIns="0" tIns="0" rIns="0" bIns="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the smallest number of humans we can put in a team</a:t>
            </a:r>
            <a:endParaRPr lang="en-US" sz="2100" dirty="0"/>
          </a:p>
        </p:txBody>
      </p:sp>
      <p:sp>
        <p:nvSpPr>
          <p:cNvPr id="17" name="Text 14"/>
          <p:cNvSpPr/>
          <p:nvPr/>
        </p:nvSpPr>
        <p:spPr>
          <a:xfrm>
            <a:off x="1352550" y="7861250"/>
            <a:ext cx="7416927" cy="392311"/>
          </a:xfrm>
          <a:prstGeom prst="rect">
            <a:avLst/>
          </a:prstGeom>
          <a:noFill/>
          <a:ln/>
        </p:spPr>
        <p:txBody>
          <a:bodyPr wrap="square" lIns="25400" tIns="25400" rIns="25400" bIns="25400" rtlCol="0" anchor="t">
            <a:normAutofit/>
          </a:bodyPr>
          <a:lstStyle/>
          <a:p>
            <a:pPr marL="0" indent="0" algn="l">
              <a:lnSpc>
                <a:spcPct val="155000"/>
              </a:lnSpc>
              <a:buNone/>
            </a:pPr>
            <a:r>
              <a:rPr lang="en-US" sz="1800" kern="0" spc="150" dirty="0">
                <a:solidFill>
                  <a:srgbClr val="6B7280"/>
                </a:solidFill>
                <a:latin typeface="Courier New" pitchFamily="34" charset="0"/>
                <a:ea typeface="Courier New" pitchFamily="34" charset="-122"/>
                <a:cs typeface="Courier New" pitchFamily="34" charset="-120"/>
              </a:rPr>
              <a:t>ASSUMES</a:t>
            </a:r>
            <a:endParaRPr lang="en-US" sz="1800" dirty="0"/>
          </a:p>
        </p:txBody>
      </p:sp>
      <p:sp>
        <p:nvSpPr>
          <p:cNvPr id="18" name="Text 15"/>
          <p:cNvSpPr/>
          <p:nvPr/>
        </p:nvSpPr>
        <p:spPr>
          <a:xfrm>
            <a:off x="1352550" y="8310711"/>
            <a:ext cx="4993672" cy="333375"/>
          </a:xfrm>
          <a:prstGeom prst="rect">
            <a:avLst/>
          </a:prstGeom>
          <a:noFill/>
          <a:ln/>
        </p:spPr>
        <p:txBody>
          <a:bodyPr wrap="square" lIns="0" tIns="0" rIns="0" bIns="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the shape of the team is fixed in advance</a:t>
            </a:r>
            <a:endParaRPr lang="en-US" sz="2100" dirty="0"/>
          </a:p>
        </p:txBody>
      </p:sp>
      <p:sp>
        <p:nvSpPr>
          <p:cNvPr id="19" name="Shape 16"/>
          <p:cNvSpPr/>
          <p:nvPr/>
        </p:nvSpPr>
        <p:spPr>
          <a:xfrm>
            <a:off x="9334500" y="5331619"/>
            <a:ext cx="8001000" cy="3697188"/>
          </a:xfrm>
          <a:prstGeom prst="rect">
            <a:avLst/>
          </a:prstGeom>
          <a:solidFill>
            <a:srgbClr val="FFFFFF"/>
          </a:solidFill>
          <a:ln w="19050">
            <a:solidFill>
              <a:srgbClr val="2563EB"/>
            </a:solidFill>
            <a:prstDash val="solid"/>
          </a:ln>
        </p:spPr>
        <p:txBody>
          <a:bodyPr/>
          <a:lstStyle/>
          <a:p>
            <a:endParaRPr lang="en-IL"/>
          </a:p>
        </p:txBody>
      </p:sp>
      <p:sp>
        <p:nvSpPr>
          <p:cNvPr id="20" name="Text 17"/>
          <p:cNvSpPr/>
          <p:nvPr/>
        </p:nvSpPr>
        <p:spPr>
          <a:xfrm>
            <a:off x="9734550" y="5693569"/>
            <a:ext cx="7416927"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PROPOSED PRIMITIVE</a:t>
            </a:r>
            <a:endParaRPr lang="en-US" sz="2100" dirty="0"/>
          </a:p>
        </p:txBody>
      </p:sp>
      <p:sp>
        <p:nvSpPr>
          <p:cNvPr id="21" name="Text 18"/>
          <p:cNvSpPr/>
          <p:nvPr/>
        </p:nvSpPr>
        <p:spPr>
          <a:xfrm>
            <a:off x="9734550" y="6179344"/>
            <a:ext cx="7416927"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Value unit</a:t>
            </a:r>
            <a:endParaRPr lang="en-US" sz="3300" dirty="0"/>
          </a:p>
        </p:txBody>
      </p:sp>
      <p:sp>
        <p:nvSpPr>
          <p:cNvPr id="22" name="Text 19"/>
          <p:cNvSpPr/>
          <p:nvPr/>
        </p:nvSpPr>
        <p:spPr>
          <a:xfrm>
            <a:off x="9734550" y="6922294"/>
            <a:ext cx="7416927" cy="392311"/>
          </a:xfrm>
          <a:prstGeom prst="rect">
            <a:avLst/>
          </a:prstGeom>
          <a:noFill/>
          <a:ln/>
        </p:spPr>
        <p:txBody>
          <a:bodyPr wrap="square" lIns="25400" tIns="25400" rIns="25400" bIns="25400" rtlCol="0" anchor="t">
            <a:normAutofit/>
          </a:bodyPr>
          <a:lstStyle/>
          <a:p>
            <a:pPr marL="0" indent="0" algn="l">
              <a:lnSpc>
                <a:spcPct val="155000"/>
              </a:lnSpc>
              <a:buNone/>
            </a:pPr>
            <a:r>
              <a:rPr lang="en-US" sz="1800" kern="0" spc="150" dirty="0">
                <a:solidFill>
                  <a:srgbClr val="6B7280"/>
                </a:solidFill>
                <a:latin typeface="Courier New" pitchFamily="34" charset="0"/>
                <a:ea typeface="Courier New" pitchFamily="34" charset="-122"/>
                <a:cs typeface="Courier New" pitchFamily="34" charset="-120"/>
              </a:rPr>
              <a:t>PLAN BY</a:t>
            </a:r>
            <a:endParaRPr lang="en-US" sz="1800" dirty="0"/>
          </a:p>
        </p:txBody>
      </p:sp>
      <p:sp>
        <p:nvSpPr>
          <p:cNvPr id="23" name="Text 20"/>
          <p:cNvSpPr/>
          <p:nvPr/>
        </p:nvSpPr>
        <p:spPr>
          <a:xfrm>
            <a:off x="9734550" y="7371755"/>
            <a:ext cx="6963946" cy="333375"/>
          </a:xfrm>
          <a:prstGeom prst="rect">
            <a:avLst/>
          </a:prstGeom>
          <a:noFill/>
          <a:ln/>
        </p:spPr>
        <p:txBody>
          <a:bodyPr wrap="square" lIns="0" tIns="0" rIns="0" bIns="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the shape that delivers the outcome, on an ongoing basis</a:t>
            </a:r>
            <a:endParaRPr lang="en-US" sz="2100" dirty="0"/>
          </a:p>
        </p:txBody>
      </p:sp>
      <p:sp>
        <p:nvSpPr>
          <p:cNvPr id="24" name="Text 21"/>
          <p:cNvSpPr/>
          <p:nvPr/>
        </p:nvSpPr>
        <p:spPr>
          <a:xfrm>
            <a:off x="9734550" y="7861250"/>
            <a:ext cx="7416927" cy="392311"/>
          </a:xfrm>
          <a:prstGeom prst="rect">
            <a:avLst/>
          </a:prstGeom>
          <a:noFill/>
          <a:ln/>
        </p:spPr>
        <p:txBody>
          <a:bodyPr wrap="square" lIns="25400" tIns="25400" rIns="25400" bIns="25400" rtlCol="0" anchor="t">
            <a:normAutofit/>
          </a:bodyPr>
          <a:lstStyle/>
          <a:p>
            <a:pPr marL="0" indent="0" algn="l">
              <a:lnSpc>
                <a:spcPct val="155000"/>
              </a:lnSpc>
              <a:buNone/>
            </a:pPr>
            <a:r>
              <a:rPr lang="en-US" sz="1800" kern="0" spc="150" dirty="0">
                <a:solidFill>
                  <a:srgbClr val="6B7280"/>
                </a:solidFill>
                <a:latin typeface="Courier New" pitchFamily="34" charset="0"/>
                <a:ea typeface="Courier New" pitchFamily="34" charset="-122"/>
                <a:cs typeface="Courier New" pitchFamily="34" charset="-120"/>
              </a:rPr>
              <a:t>ASSUMES</a:t>
            </a:r>
            <a:endParaRPr lang="en-US" sz="1800" dirty="0"/>
          </a:p>
        </p:txBody>
      </p:sp>
      <p:sp>
        <p:nvSpPr>
          <p:cNvPr id="25" name="Text 22"/>
          <p:cNvSpPr/>
          <p:nvPr/>
        </p:nvSpPr>
        <p:spPr>
          <a:xfrm>
            <a:off x="9734550" y="8310711"/>
            <a:ext cx="6062584" cy="333375"/>
          </a:xfrm>
          <a:prstGeom prst="rect">
            <a:avLst/>
          </a:prstGeom>
          <a:noFill/>
          <a:ln/>
        </p:spPr>
        <p:txBody>
          <a:bodyPr wrap="square" lIns="0" tIns="0" rIns="0" bIns="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size and shape are outputs of the work, not inputs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§02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SKIP AUGMENTED, GO NATIVE</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03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THE ARGUMENT</a:t>
            </a:r>
            <a:endParaRPr lang="en-US" sz="2100" dirty="0"/>
          </a:p>
        </p:txBody>
      </p:sp>
      <p:sp>
        <p:nvSpPr>
          <p:cNvPr id="10" name="Text 7"/>
          <p:cNvSpPr/>
          <p:nvPr/>
        </p:nvSpPr>
        <p:spPr>
          <a:xfrm>
            <a:off x="952500" y="2105025"/>
            <a:ext cx="16678275" cy="658118"/>
          </a:xfrm>
          <a:prstGeom prst="rect">
            <a:avLst/>
          </a:prstGeom>
          <a:noFill/>
          <a:ln/>
        </p:spPr>
        <p:txBody>
          <a:bodyPr wrap="square" lIns="25400" tIns="25400" rIns="25400" bIns="25400" rtlCol="0" anchor="t">
            <a:normAutofit/>
          </a:bodyPr>
          <a:lstStyle/>
          <a:p>
            <a:pPr marL="0" indent="0" algn="l">
              <a:lnSpc>
                <a:spcPct val="105000"/>
              </a:lnSpc>
              <a:buNone/>
            </a:pPr>
            <a:r>
              <a:rPr lang="en-US" sz="4650" b="1" kern="0" spc="-112" dirty="0">
                <a:solidFill>
                  <a:srgbClr val="171717"/>
                </a:solidFill>
                <a:latin typeface="Arial" pitchFamily="34" charset="0"/>
                <a:ea typeface="Arial" pitchFamily="34" charset="-122"/>
                <a:cs typeface="Arial" pitchFamily="34" charset="-120"/>
              </a:rPr>
              <a:t>To lead, we skip </a:t>
            </a:r>
            <a:r>
              <a:rPr lang="en-US" sz="4650" b="1" kern="0" spc="-112" dirty="0">
                <a:solidFill>
                  <a:srgbClr val="DC2626"/>
                </a:solidFill>
                <a:latin typeface="Arial" pitchFamily="34" charset="0"/>
                <a:ea typeface="Arial" pitchFamily="34" charset="-122"/>
                <a:cs typeface="Arial" pitchFamily="34" charset="-120"/>
              </a:rPr>
              <a:t>Augmented </a:t>
            </a:r>
            <a:r>
              <a:rPr lang="en-US" sz="4650" b="1" kern="0" spc="-112" dirty="0">
                <a:solidFill>
                  <a:srgbClr val="171717"/>
                </a:solidFill>
                <a:latin typeface="Arial" pitchFamily="34" charset="0"/>
                <a:ea typeface="Arial" pitchFamily="34" charset="-122"/>
                <a:cs typeface="Arial" pitchFamily="34" charset="-120"/>
              </a:rPr>
              <a:t>and go </a:t>
            </a:r>
            <a:r>
              <a:rPr lang="en-US" sz="4650" b="1" kern="0" spc="-112" dirty="0">
                <a:solidFill>
                  <a:srgbClr val="2563EB"/>
                </a:solidFill>
                <a:latin typeface="Arial" pitchFamily="34" charset="0"/>
                <a:ea typeface="Arial" pitchFamily="34" charset="-122"/>
                <a:cs typeface="Arial" pitchFamily="34" charset="-120"/>
              </a:rPr>
              <a:t>AI-Native</a:t>
            </a:r>
            <a:r>
              <a:rPr lang="en-US" sz="4650" b="1" kern="0" spc="-112" dirty="0">
                <a:solidFill>
                  <a:srgbClr val="171717"/>
                </a:solidFill>
                <a:latin typeface="Arial" pitchFamily="34" charset="0"/>
                <a:ea typeface="Arial" pitchFamily="34" charset="-122"/>
                <a:cs typeface="Arial" pitchFamily="34" charset="-120"/>
              </a:rPr>
              <a:t>.</a:t>
            </a:r>
            <a:endParaRPr lang="en-US" sz="4650" dirty="0"/>
          </a:p>
        </p:txBody>
      </p:sp>
      <p:sp>
        <p:nvSpPr>
          <p:cNvPr id="11" name="Shape 8"/>
          <p:cNvSpPr/>
          <p:nvPr/>
        </p:nvSpPr>
        <p:spPr>
          <a:xfrm>
            <a:off x="952500" y="3144143"/>
            <a:ext cx="5308550" cy="4531519"/>
          </a:xfrm>
          <a:prstGeom prst="rect">
            <a:avLst/>
          </a:prstGeom>
          <a:solidFill>
            <a:srgbClr val="FFFFFF"/>
          </a:solidFill>
          <a:ln w="19050">
            <a:solidFill>
              <a:srgbClr val="6B7280"/>
            </a:solidFill>
            <a:prstDash val="solid"/>
          </a:ln>
        </p:spPr>
        <p:txBody>
          <a:bodyPr/>
          <a:lstStyle/>
          <a:p>
            <a:endParaRPr lang="en-IL"/>
          </a:p>
        </p:txBody>
      </p:sp>
      <p:sp>
        <p:nvSpPr>
          <p:cNvPr id="12" name="Shape 9"/>
          <p:cNvSpPr/>
          <p:nvPr/>
        </p:nvSpPr>
        <p:spPr>
          <a:xfrm>
            <a:off x="952500" y="3144143"/>
            <a:ext cx="365820" cy="390525"/>
          </a:xfrm>
          <a:prstGeom prst="rect">
            <a:avLst/>
          </a:prstGeom>
          <a:solidFill>
            <a:srgbClr val="6B7280"/>
          </a:solidFill>
          <a:ln/>
        </p:spPr>
        <p:txBody>
          <a:bodyPr/>
          <a:lstStyle/>
          <a:p>
            <a:endParaRPr lang="en-IL"/>
          </a:p>
        </p:txBody>
      </p:sp>
      <p:sp>
        <p:nvSpPr>
          <p:cNvPr id="13" name="Text 10"/>
          <p:cNvSpPr/>
          <p:nvPr/>
        </p:nvSpPr>
        <p:spPr>
          <a:xfrm>
            <a:off x="1057275" y="3191768"/>
            <a:ext cx="232470"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FFFFF"/>
                </a:solidFill>
                <a:latin typeface="Courier New" pitchFamily="34" charset="0"/>
                <a:ea typeface="Courier New" pitchFamily="34" charset="-122"/>
                <a:cs typeface="Courier New" pitchFamily="34" charset="-120"/>
              </a:rPr>
              <a:t>A</a:t>
            </a:r>
            <a:endParaRPr lang="en-US" sz="1800" dirty="0"/>
          </a:p>
        </p:txBody>
      </p:sp>
      <p:sp>
        <p:nvSpPr>
          <p:cNvPr id="14" name="Text 11"/>
          <p:cNvSpPr/>
          <p:nvPr/>
        </p:nvSpPr>
        <p:spPr>
          <a:xfrm>
            <a:off x="1219200" y="3544193"/>
            <a:ext cx="4918405" cy="333375"/>
          </a:xfrm>
          <a:prstGeom prst="rect">
            <a:avLst/>
          </a:prstGeom>
          <a:noFill/>
          <a:ln/>
        </p:spPr>
        <p:txBody>
          <a:bodyPr wrap="square" lIns="25400" tIns="25400" rIns="25400" bIns="25400" rtlCol="0" anchor="t">
            <a:normAutofit/>
          </a:bodyPr>
          <a:lstStyle/>
          <a:p>
            <a:pPr marL="0" indent="0" algn="l">
              <a:buNone/>
            </a:pPr>
            <a:r>
              <a:rPr lang="en-US" sz="1800" b="1" kern="0" spc="188" dirty="0">
                <a:solidFill>
                  <a:srgbClr val="6B7280"/>
                </a:solidFill>
                <a:latin typeface="Courier New" pitchFamily="34" charset="0"/>
                <a:ea typeface="Courier New" pitchFamily="34" charset="-122"/>
                <a:cs typeface="Courier New" pitchFamily="34" charset="-120"/>
              </a:rPr>
              <a:t>WHERE WE ARE</a:t>
            </a:r>
            <a:endParaRPr lang="en-US" sz="1800" dirty="0"/>
          </a:p>
        </p:txBody>
      </p:sp>
      <p:sp>
        <p:nvSpPr>
          <p:cNvPr id="15" name="Text 12"/>
          <p:cNvSpPr/>
          <p:nvPr/>
        </p:nvSpPr>
        <p:spPr>
          <a:xfrm>
            <a:off x="1219200" y="3896618"/>
            <a:ext cx="4918405"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Manual</a:t>
            </a:r>
            <a:endParaRPr lang="en-US" sz="3300" dirty="0"/>
          </a:p>
        </p:txBody>
      </p:sp>
      <p:sp>
        <p:nvSpPr>
          <p:cNvPr id="16" name="Shape 13"/>
          <p:cNvSpPr/>
          <p:nvPr/>
        </p:nvSpPr>
        <p:spPr>
          <a:xfrm>
            <a:off x="1219200" y="4544318"/>
            <a:ext cx="4775150" cy="9525"/>
          </a:xfrm>
          <a:prstGeom prst="rect">
            <a:avLst/>
          </a:prstGeom>
          <a:solidFill>
            <a:srgbClr val="D4D4D0"/>
          </a:solidFill>
          <a:ln/>
        </p:spPr>
        <p:txBody>
          <a:bodyPr/>
          <a:lstStyle/>
          <a:p>
            <a:endParaRPr lang="en-IL"/>
          </a:p>
        </p:txBody>
      </p:sp>
      <p:sp>
        <p:nvSpPr>
          <p:cNvPr id="17" name="Shape 14"/>
          <p:cNvSpPr/>
          <p:nvPr/>
        </p:nvSpPr>
        <p:spPr>
          <a:xfrm>
            <a:off x="1219200" y="5475684"/>
            <a:ext cx="4775150" cy="9525"/>
          </a:xfrm>
          <a:prstGeom prst="rect">
            <a:avLst/>
          </a:prstGeom>
          <a:solidFill>
            <a:srgbClr val="E6E5E0"/>
          </a:solidFill>
          <a:ln/>
        </p:spPr>
        <p:txBody>
          <a:bodyPr/>
          <a:lstStyle/>
          <a:p>
            <a:endParaRPr lang="en-IL"/>
          </a:p>
        </p:txBody>
      </p:sp>
      <p:sp>
        <p:nvSpPr>
          <p:cNvPr id="18" name="Text 15"/>
          <p:cNvSpPr/>
          <p:nvPr/>
        </p:nvSpPr>
        <p:spPr>
          <a:xfrm>
            <a:off x="1219200" y="4782443"/>
            <a:ext cx="1314450" cy="65514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WHO EXECUTES</a:t>
            </a:r>
            <a:endParaRPr lang="en-US" sz="1800" dirty="0"/>
          </a:p>
        </p:txBody>
      </p:sp>
      <p:sp>
        <p:nvSpPr>
          <p:cNvPr id="19" name="Text 16"/>
          <p:cNvSpPr/>
          <p:nvPr/>
        </p:nvSpPr>
        <p:spPr>
          <a:xfrm>
            <a:off x="2590800" y="4725293"/>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humans</a:t>
            </a:r>
            <a:endParaRPr lang="en-US" sz="2100" dirty="0"/>
          </a:p>
        </p:txBody>
      </p:sp>
      <p:sp>
        <p:nvSpPr>
          <p:cNvPr id="20" name="Shape 17"/>
          <p:cNvSpPr/>
          <p:nvPr/>
        </p:nvSpPr>
        <p:spPr>
          <a:xfrm>
            <a:off x="1219200" y="6003280"/>
            <a:ext cx="4775150" cy="9525"/>
          </a:xfrm>
          <a:prstGeom prst="rect">
            <a:avLst/>
          </a:prstGeom>
          <a:solidFill>
            <a:srgbClr val="E6E5E0"/>
          </a:solidFill>
          <a:ln/>
        </p:spPr>
        <p:txBody>
          <a:bodyPr/>
          <a:lstStyle/>
          <a:p>
            <a:endParaRPr lang="en-IL"/>
          </a:p>
        </p:txBody>
      </p:sp>
      <p:sp>
        <p:nvSpPr>
          <p:cNvPr id="21" name="Text 18"/>
          <p:cNvSpPr/>
          <p:nvPr/>
        </p:nvSpPr>
        <p:spPr>
          <a:xfrm>
            <a:off x="1219200" y="5618559"/>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AGENTS</a:t>
            </a:r>
            <a:endParaRPr lang="en-US" sz="1800" dirty="0"/>
          </a:p>
        </p:txBody>
      </p:sp>
      <p:sp>
        <p:nvSpPr>
          <p:cNvPr id="22" name="Text 19"/>
          <p:cNvSpPr/>
          <p:nvPr/>
        </p:nvSpPr>
        <p:spPr>
          <a:xfrm>
            <a:off x="2590800" y="5561409"/>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not in the loop</a:t>
            </a:r>
            <a:endParaRPr lang="en-US" sz="2100" dirty="0"/>
          </a:p>
        </p:txBody>
      </p:sp>
      <p:sp>
        <p:nvSpPr>
          <p:cNvPr id="23" name="Shape 20"/>
          <p:cNvSpPr/>
          <p:nvPr/>
        </p:nvSpPr>
        <p:spPr>
          <a:xfrm>
            <a:off x="1219200" y="6530876"/>
            <a:ext cx="4775150" cy="9525"/>
          </a:xfrm>
          <a:prstGeom prst="rect">
            <a:avLst/>
          </a:prstGeom>
          <a:solidFill>
            <a:srgbClr val="E6E5E0"/>
          </a:solidFill>
          <a:ln/>
        </p:spPr>
        <p:txBody>
          <a:bodyPr/>
          <a:lstStyle/>
          <a:p>
            <a:endParaRPr lang="en-IL"/>
          </a:p>
        </p:txBody>
      </p:sp>
      <p:sp>
        <p:nvSpPr>
          <p:cNvPr id="24" name="Text 21"/>
          <p:cNvSpPr/>
          <p:nvPr/>
        </p:nvSpPr>
        <p:spPr>
          <a:xfrm>
            <a:off x="1219200" y="6146155"/>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CEILING</a:t>
            </a:r>
            <a:endParaRPr lang="en-US" sz="1800" dirty="0"/>
          </a:p>
        </p:txBody>
      </p:sp>
      <p:sp>
        <p:nvSpPr>
          <p:cNvPr id="25" name="Text 22"/>
          <p:cNvSpPr/>
          <p:nvPr/>
        </p:nvSpPr>
        <p:spPr>
          <a:xfrm>
            <a:off x="2590800" y="6089005"/>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human throughput</a:t>
            </a:r>
            <a:endParaRPr lang="en-US" sz="2100" dirty="0"/>
          </a:p>
        </p:txBody>
      </p:sp>
      <p:sp>
        <p:nvSpPr>
          <p:cNvPr id="26" name="Text 23"/>
          <p:cNvSpPr/>
          <p:nvPr/>
        </p:nvSpPr>
        <p:spPr>
          <a:xfrm>
            <a:off x="1219200" y="6673751"/>
            <a:ext cx="4918405"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3A3A38"/>
                </a:solidFill>
                <a:latin typeface="Arial" pitchFamily="34" charset="0"/>
                <a:ea typeface="Arial" pitchFamily="34" charset="-122"/>
                <a:cs typeface="Arial" pitchFamily="34" charset="-120"/>
              </a:rPr>
              <a:t>Today's default. Status quo, not a strategy.</a:t>
            </a:r>
            <a:endParaRPr lang="en-US" sz="2100" dirty="0"/>
          </a:p>
        </p:txBody>
      </p:sp>
      <p:sp>
        <p:nvSpPr>
          <p:cNvPr id="27" name="Shape 24"/>
          <p:cNvSpPr/>
          <p:nvPr/>
        </p:nvSpPr>
        <p:spPr>
          <a:xfrm>
            <a:off x="6489650" y="3144143"/>
            <a:ext cx="5308550" cy="4531519"/>
          </a:xfrm>
          <a:prstGeom prst="rect">
            <a:avLst/>
          </a:prstGeom>
          <a:solidFill>
            <a:srgbClr val="FBE9E9"/>
          </a:solidFill>
          <a:ln w="19050">
            <a:solidFill>
              <a:srgbClr val="DC2626"/>
            </a:solidFill>
            <a:prstDash val="solid"/>
          </a:ln>
        </p:spPr>
        <p:txBody>
          <a:bodyPr/>
          <a:lstStyle/>
          <a:p>
            <a:endParaRPr lang="en-IL"/>
          </a:p>
        </p:txBody>
      </p:sp>
      <p:sp>
        <p:nvSpPr>
          <p:cNvPr id="28" name="Shape 25"/>
          <p:cNvSpPr/>
          <p:nvPr/>
        </p:nvSpPr>
        <p:spPr>
          <a:xfrm>
            <a:off x="6489650" y="3144143"/>
            <a:ext cx="365820" cy="390525"/>
          </a:xfrm>
          <a:prstGeom prst="rect">
            <a:avLst/>
          </a:prstGeom>
          <a:solidFill>
            <a:srgbClr val="DC2626"/>
          </a:solidFill>
          <a:ln/>
        </p:spPr>
        <p:txBody>
          <a:bodyPr/>
          <a:lstStyle/>
          <a:p>
            <a:endParaRPr lang="en-IL"/>
          </a:p>
        </p:txBody>
      </p:sp>
      <p:sp>
        <p:nvSpPr>
          <p:cNvPr id="29" name="Text 26"/>
          <p:cNvSpPr/>
          <p:nvPr/>
        </p:nvSpPr>
        <p:spPr>
          <a:xfrm>
            <a:off x="6594425" y="3191768"/>
            <a:ext cx="232470"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FFFFF"/>
                </a:solidFill>
                <a:latin typeface="Courier New" pitchFamily="34" charset="0"/>
                <a:ea typeface="Courier New" pitchFamily="34" charset="-122"/>
                <a:cs typeface="Courier New" pitchFamily="34" charset="-120"/>
              </a:rPr>
              <a:t>B</a:t>
            </a:r>
            <a:endParaRPr lang="en-US" sz="1800" dirty="0"/>
          </a:p>
        </p:txBody>
      </p:sp>
      <p:sp>
        <p:nvSpPr>
          <p:cNvPr id="30" name="Text 27"/>
          <p:cNvSpPr/>
          <p:nvPr/>
        </p:nvSpPr>
        <p:spPr>
          <a:xfrm>
            <a:off x="6756350" y="3544193"/>
            <a:ext cx="4918405" cy="333375"/>
          </a:xfrm>
          <a:prstGeom prst="rect">
            <a:avLst/>
          </a:prstGeom>
          <a:noFill/>
          <a:ln/>
        </p:spPr>
        <p:txBody>
          <a:bodyPr wrap="square" lIns="25400" tIns="25400" rIns="25400" bIns="25400" rtlCol="0" anchor="t">
            <a:normAutofit/>
          </a:bodyPr>
          <a:lstStyle/>
          <a:p>
            <a:pPr marL="0" indent="0" algn="l">
              <a:buNone/>
            </a:pPr>
            <a:r>
              <a:rPr lang="en-US" sz="1800" b="1" kern="0" spc="188" dirty="0">
                <a:solidFill>
                  <a:srgbClr val="DC2626"/>
                </a:solidFill>
                <a:latin typeface="Courier New" pitchFamily="34" charset="0"/>
                <a:ea typeface="Courier New" pitchFamily="34" charset="-122"/>
                <a:cs typeface="Courier New" pitchFamily="34" charset="-120"/>
              </a:rPr>
              <a:t>THE TEMPTING MIDDLE STEP</a:t>
            </a:r>
            <a:endParaRPr lang="en-US" sz="1800" dirty="0"/>
          </a:p>
        </p:txBody>
      </p:sp>
      <p:sp>
        <p:nvSpPr>
          <p:cNvPr id="31" name="Text 28"/>
          <p:cNvSpPr/>
          <p:nvPr/>
        </p:nvSpPr>
        <p:spPr>
          <a:xfrm>
            <a:off x="6756350" y="3896618"/>
            <a:ext cx="4918405"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Augmented</a:t>
            </a:r>
            <a:endParaRPr lang="en-US" sz="3300" dirty="0"/>
          </a:p>
        </p:txBody>
      </p:sp>
      <p:sp>
        <p:nvSpPr>
          <p:cNvPr id="32" name="Shape 29"/>
          <p:cNvSpPr/>
          <p:nvPr/>
        </p:nvSpPr>
        <p:spPr>
          <a:xfrm>
            <a:off x="6756350" y="4544318"/>
            <a:ext cx="4775150" cy="9525"/>
          </a:xfrm>
          <a:prstGeom prst="rect">
            <a:avLst/>
          </a:prstGeom>
          <a:solidFill>
            <a:srgbClr val="D4D4D0"/>
          </a:solidFill>
          <a:ln/>
        </p:spPr>
        <p:txBody>
          <a:bodyPr/>
          <a:lstStyle/>
          <a:p>
            <a:endParaRPr lang="en-IL"/>
          </a:p>
        </p:txBody>
      </p:sp>
      <p:sp>
        <p:nvSpPr>
          <p:cNvPr id="33" name="Shape 30"/>
          <p:cNvSpPr/>
          <p:nvPr/>
        </p:nvSpPr>
        <p:spPr>
          <a:xfrm>
            <a:off x="6756350" y="5475684"/>
            <a:ext cx="4775150" cy="9525"/>
          </a:xfrm>
          <a:prstGeom prst="rect">
            <a:avLst/>
          </a:prstGeom>
          <a:solidFill>
            <a:srgbClr val="E6E5E0"/>
          </a:solidFill>
          <a:ln/>
        </p:spPr>
        <p:txBody>
          <a:bodyPr/>
          <a:lstStyle/>
          <a:p>
            <a:endParaRPr lang="en-IL"/>
          </a:p>
        </p:txBody>
      </p:sp>
      <p:sp>
        <p:nvSpPr>
          <p:cNvPr id="34" name="Text 31"/>
          <p:cNvSpPr/>
          <p:nvPr/>
        </p:nvSpPr>
        <p:spPr>
          <a:xfrm>
            <a:off x="6756350" y="4782443"/>
            <a:ext cx="1314450" cy="65514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WHO EXECUTES</a:t>
            </a:r>
            <a:endParaRPr lang="en-US" sz="1800" dirty="0"/>
          </a:p>
        </p:txBody>
      </p:sp>
      <p:sp>
        <p:nvSpPr>
          <p:cNvPr id="35" name="Text 32"/>
          <p:cNvSpPr/>
          <p:nvPr/>
        </p:nvSpPr>
        <p:spPr>
          <a:xfrm>
            <a:off x="8127950" y="4725293"/>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humans (agents assist)</a:t>
            </a:r>
            <a:endParaRPr lang="en-US" sz="2100" dirty="0"/>
          </a:p>
        </p:txBody>
      </p:sp>
      <p:sp>
        <p:nvSpPr>
          <p:cNvPr id="36" name="Shape 33"/>
          <p:cNvSpPr/>
          <p:nvPr/>
        </p:nvSpPr>
        <p:spPr>
          <a:xfrm>
            <a:off x="6756350" y="6003280"/>
            <a:ext cx="4775150" cy="9525"/>
          </a:xfrm>
          <a:prstGeom prst="rect">
            <a:avLst/>
          </a:prstGeom>
          <a:solidFill>
            <a:srgbClr val="E6E5E0"/>
          </a:solidFill>
          <a:ln/>
        </p:spPr>
        <p:txBody>
          <a:bodyPr/>
          <a:lstStyle/>
          <a:p>
            <a:endParaRPr lang="en-IL"/>
          </a:p>
        </p:txBody>
      </p:sp>
      <p:sp>
        <p:nvSpPr>
          <p:cNvPr id="37" name="Text 34"/>
          <p:cNvSpPr/>
          <p:nvPr/>
        </p:nvSpPr>
        <p:spPr>
          <a:xfrm>
            <a:off x="6756350" y="5618559"/>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AGENTS</a:t>
            </a:r>
            <a:endParaRPr lang="en-US" sz="1800" dirty="0"/>
          </a:p>
        </p:txBody>
      </p:sp>
      <p:sp>
        <p:nvSpPr>
          <p:cNvPr id="38" name="Text 35"/>
          <p:cNvSpPr/>
          <p:nvPr/>
        </p:nvSpPr>
        <p:spPr>
          <a:xfrm>
            <a:off x="8127950" y="5561409"/>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copilots, drafts, snippets</a:t>
            </a:r>
            <a:endParaRPr lang="en-US" sz="2100" dirty="0"/>
          </a:p>
        </p:txBody>
      </p:sp>
      <p:sp>
        <p:nvSpPr>
          <p:cNvPr id="39" name="Shape 36"/>
          <p:cNvSpPr/>
          <p:nvPr/>
        </p:nvSpPr>
        <p:spPr>
          <a:xfrm>
            <a:off x="6756350" y="6530876"/>
            <a:ext cx="4775150" cy="9525"/>
          </a:xfrm>
          <a:prstGeom prst="rect">
            <a:avLst/>
          </a:prstGeom>
          <a:solidFill>
            <a:srgbClr val="E6E5E0"/>
          </a:solidFill>
          <a:ln/>
        </p:spPr>
        <p:txBody>
          <a:bodyPr/>
          <a:lstStyle/>
          <a:p>
            <a:endParaRPr lang="en-IL"/>
          </a:p>
        </p:txBody>
      </p:sp>
      <p:sp>
        <p:nvSpPr>
          <p:cNvPr id="40" name="Text 37"/>
          <p:cNvSpPr/>
          <p:nvPr/>
        </p:nvSpPr>
        <p:spPr>
          <a:xfrm>
            <a:off x="6756350" y="6146155"/>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CEILING</a:t>
            </a:r>
            <a:endParaRPr lang="en-US" sz="1800" dirty="0"/>
          </a:p>
        </p:txBody>
      </p:sp>
      <p:sp>
        <p:nvSpPr>
          <p:cNvPr id="41" name="Text 38"/>
          <p:cNvSpPr/>
          <p:nvPr/>
        </p:nvSpPr>
        <p:spPr>
          <a:xfrm>
            <a:off x="8127950" y="6089005"/>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"faster" — same shape</a:t>
            </a:r>
            <a:endParaRPr lang="en-US" sz="2100" dirty="0"/>
          </a:p>
        </p:txBody>
      </p:sp>
      <p:sp>
        <p:nvSpPr>
          <p:cNvPr id="42" name="Text 39"/>
          <p:cNvSpPr/>
          <p:nvPr/>
        </p:nvSpPr>
        <p:spPr>
          <a:xfrm>
            <a:off x="6756350" y="6673751"/>
            <a:ext cx="4918405" cy="811411"/>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3A3A38"/>
                </a:solidFill>
                <a:latin typeface="Arial" pitchFamily="34" charset="0"/>
                <a:ea typeface="Arial" pitchFamily="34" charset="-122"/>
                <a:cs typeface="Arial" pitchFamily="34" charset="-120"/>
              </a:rPr>
              <a:t>Faster today. Same roles, same handoffs. No compounding.</a:t>
            </a:r>
            <a:endParaRPr lang="en-US" sz="2100" dirty="0"/>
          </a:p>
        </p:txBody>
      </p:sp>
      <p:sp>
        <p:nvSpPr>
          <p:cNvPr id="43" name="Shape 40"/>
          <p:cNvSpPr/>
          <p:nvPr/>
        </p:nvSpPr>
        <p:spPr>
          <a:xfrm>
            <a:off x="12026801" y="3144143"/>
            <a:ext cx="5308550" cy="4531519"/>
          </a:xfrm>
          <a:prstGeom prst="rect">
            <a:avLst/>
          </a:prstGeom>
          <a:solidFill>
            <a:srgbClr val="EAF0FF"/>
          </a:solidFill>
          <a:ln w="19050">
            <a:solidFill>
              <a:srgbClr val="2563EB"/>
            </a:solidFill>
            <a:prstDash val="solid"/>
          </a:ln>
        </p:spPr>
        <p:txBody>
          <a:bodyPr/>
          <a:lstStyle/>
          <a:p>
            <a:endParaRPr lang="en-IL"/>
          </a:p>
        </p:txBody>
      </p:sp>
      <p:sp>
        <p:nvSpPr>
          <p:cNvPr id="44" name="Shape 41"/>
          <p:cNvSpPr/>
          <p:nvPr/>
        </p:nvSpPr>
        <p:spPr>
          <a:xfrm>
            <a:off x="12026801" y="3144143"/>
            <a:ext cx="365820" cy="390525"/>
          </a:xfrm>
          <a:prstGeom prst="rect">
            <a:avLst/>
          </a:prstGeom>
          <a:solidFill>
            <a:srgbClr val="2563EB"/>
          </a:solidFill>
          <a:ln/>
        </p:spPr>
        <p:txBody>
          <a:bodyPr/>
          <a:lstStyle/>
          <a:p>
            <a:endParaRPr lang="en-IL"/>
          </a:p>
        </p:txBody>
      </p:sp>
      <p:sp>
        <p:nvSpPr>
          <p:cNvPr id="45" name="Text 42"/>
          <p:cNvSpPr/>
          <p:nvPr/>
        </p:nvSpPr>
        <p:spPr>
          <a:xfrm>
            <a:off x="12131576" y="3191768"/>
            <a:ext cx="232470"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FFFFF"/>
                </a:solidFill>
                <a:latin typeface="Courier New" pitchFamily="34" charset="0"/>
                <a:ea typeface="Courier New" pitchFamily="34" charset="-122"/>
                <a:cs typeface="Courier New" pitchFamily="34" charset="-120"/>
              </a:rPr>
              <a:t>C</a:t>
            </a:r>
            <a:endParaRPr lang="en-US" sz="1800" dirty="0"/>
          </a:p>
        </p:txBody>
      </p:sp>
      <p:sp>
        <p:nvSpPr>
          <p:cNvPr id="46" name="Text 43"/>
          <p:cNvSpPr/>
          <p:nvPr/>
        </p:nvSpPr>
        <p:spPr>
          <a:xfrm>
            <a:off x="12293501" y="3544193"/>
            <a:ext cx="4918405" cy="333375"/>
          </a:xfrm>
          <a:prstGeom prst="rect">
            <a:avLst/>
          </a:prstGeom>
          <a:noFill/>
          <a:ln/>
        </p:spPr>
        <p:txBody>
          <a:bodyPr wrap="square" lIns="25400" tIns="25400" rIns="25400" bIns="25400" rtlCol="0" anchor="t">
            <a:normAutofit/>
          </a:bodyPr>
          <a:lstStyle/>
          <a:p>
            <a:pPr marL="0" indent="0" algn="l">
              <a:buNone/>
            </a:pPr>
            <a:r>
              <a:rPr lang="en-US" sz="1800" b="1" kern="0" spc="188" dirty="0">
                <a:solidFill>
                  <a:srgbClr val="2563EB"/>
                </a:solidFill>
                <a:latin typeface="Courier New" pitchFamily="34" charset="0"/>
                <a:ea typeface="Courier New" pitchFamily="34" charset="-122"/>
                <a:cs typeface="Courier New" pitchFamily="34" charset="-120"/>
              </a:rPr>
              <a:t>WHERE WE'RE GOING</a:t>
            </a:r>
            <a:endParaRPr lang="en-US" sz="1800" dirty="0"/>
          </a:p>
        </p:txBody>
      </p:sp>
      <p:sp>
        <p:nvSpPr>
          <p:cNvPr id="47" name="Text 44"/>
          <p:cNvSpPr/>
          <p:nvPr/>
        </p:nvSpPr>
        <p:spPr>
          <a:xfrm>
            <a:off x="12293501" y="3896618"/>
            <a:ext cx="4918405"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AI-Native</a:t>
            </a:r>
            <a:endParaRPr lang="en-US" sz="3300" dirty="0"/>
          </a:p>
        </p:txBody>
      </p:sp>
      <p:sp>
        <p:nvSpPr>
          <p:cNvPr id="48" name="Shape 45"/>
          <p:cNvSpPr/>
          <p:nvPr/>
        </p:nvSpPr>
        <p:spPr>
          <a:xfrm>
            <a:off x="12293501" y="4544318"/>
            <a:ext cx="4775150" cy="9525"/>
          </a:xfrm>
          <a:prstGeom prst="rect">
            <a:avLst/>
          </a:prstGeom>
          <a:solidFill>
            <a:srgbClr val="D4D4D0"/>
          </a:solidFill>
          <a:ln/>
        </p:spPr>
        <p:txBody>
          <a:bodyPr/>
          <a:lstStyle/>
          <a:p>
            <a:endParaRPr lang="en-IL"/>
          </a:p>
        </p:txBody>
      </p:sp>
      <p:sp>
        <p:nvSpPr>
          <p:cNvPr id="49" name="Shape 46"/>
          <p:cNvSpPr/>
          <p:nvPr/>
        </p:nvSpPr>
        <p:spPr>
          <a:xfrm>
            <a:off x="12293501" y="5475684"/>
            <a:ext cx="4775150" cy="9525"/>
          </a:xfrm>
          <a:prstGeom prst="rect">
            <a:avLst/>
          </a:prstGeom>
          <a:solidFill>
            <a:srgbClr val="E6E5E0"/>
          </a:solidFill>
          <a:ln/>
        </p:spPr>
        <p:txBody>
          <a:bodyPr/>
          <a:lstStyle/>
          <a:p>
            <a:endParaRPr lang="en-IL"/>
          </a:p>
        </p:txBody>
      </p:sp>
      <p:sp>
        <p:nvSpPr>
          <p:cNvPr id="50" name="Text 47"/>
          <p:cNvSpPr/>
          <p:nvPr/>
        </p:nvSpPr>
        <p:spPr>
          <a:xfrm>
            <a:off x="12293501" y="4782443"/>
            <a:ext cx="1314450" cy="65514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WHO EXECUTES</a:t>
            </a:r>
            <a:endParaRPr lang="en-US" sz="1800" dirty="0"/>
          </a:p>
        </p:txBody>
      </p:sp>
      <p:sp>
        <p:nvSpPr>
          <p:cNvPr id="51" name="Text 48"/>
          <p:cNvSpPr/>
          <p:nvPr/>
        </p:nvSpPr>
        <p:spPr>
          <a:xfrm>
            <a:off x="13665101" y="4725293"/>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agents (humans specify)</a:t>
            </a:r>
            <a:endParaRPr lang="en-US" sz="2100" dirty="0"/>
          </a:p>
        </p:txBody>
      </p:sp>
      <p:sp>
        <p:nvSpPr>
          <p:cNvPr id="52" name="Shape 49"/>
          <p:cNvSpPr/>
          <p:nvPr/>
        </p:nvSpPr>
        <p:spPr>
          <a:xfrm>
            <a:off x="12293501" y="6357640"/>
            <a:ext cx="4775150" cy="9525"/>
          </a:xfrm>
          <a:prstGeom prst="rect">
            <a:avLst/>
          </a:prstGeom>
          <a:solidFill>
            <a:srgbClr val="E6E5E0"/>
          </a:solidFill>
          <a:ln/>
        </p:spPr>
        <p:txBody>
          <a:bodyPr/>
          <a:lstStyle/>
          <a:p>
            <a:endParaRPr lang="en-IL"/>
          </a:p>
        </p:txBody>
      </p:sp>
      <p:sp>
        <p:nvSpPr>
          <p:cNvPr id="53" name="Text 50"/>
          <p:cNvSpPr/>
          <p:nvPr/>
        </p:nvSpPr>
        <p:spPr>
          <a:xfrm>
            <a:off x="12293501" y="5618559"/>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AGENTS</a:t>
            </a:r>
            <a:endParaRPr lang="en-US" sz="1800" dirty="0"/>
          </a:p>
        </p:txBody>
      </p:sp>
      <p:sp>
        <p:nvSpPr>
          <p:cNvPr id="54" name="Text 51"/>
          <p:cNvSpPr/>
          <p:nvPr/>
        </p:nvSpPr>
        <p:spPr>
          <a:xfrm>
            <a:off x="13665101" y="5561409"/>
            <a:ext cx="3505657" cy="75813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planner · generator · evaluator</a:t>
            </a:r>
            <a:endParaRPr lang="en-US" sz="2100" dirty="0"/>
          </a:p>
        </p:txBody>
      </p:sp>
      <p:sp>
        <p:nvSpPr>
          <p:cNvPr id="55" name="Shape 52"/>
          <p:cNvSpPr/>
          <p:nvPr/>
        </p:nvSpPr>
        <p:spPr>
          <a:xfrm>
            <a:off x="12293501" y="6885236"/>
            <a:ext cx="4775150" cy="9525"/>
          </a:xfrm>
          <a:prstGeom prst="rect">
            <a:avLst/>
          </a:prstGeom>
          <a:solidFill>
            <a:srgbClr val="E6E5E0"/>
          </a:solidFill>
          <a:ln/>
        </p:spPr>
        <p:txBody>
          <a:bodyPr/>
          <a:lstStyle/>
          <a:p>
            <a:endParaRPr lang="en-IL"/>
          </a:p>
        </p:txBody>
      </p:sp>
      <p:sp>
        <p:nvSpPr>
          <p:cNvPr id="56" name="Text 53"/>
          <p:cNvSpPr/>
          <p:nvPr/>
        </p:nvSpPr>
        <p:spPr>
          <a:xfrm>
            <a:off x="12293501" y="6500515"/>
            <a:ext cx="1314450" cy="346621"/>
          </a:xfrm>
          <a:prstGeom prst="rect">
            <a:avLst/>
          </a:prstGeom>
          <a:noFill/>
          <a:ln/>
        </p:spPr>
        <p:txBody>
          <a:bodyPr wrap="square" lIns="25400" tIns="25400" rIns="25400" bIns="25400" rtlCol="0" anchor="t">
            <a:normAutofit/>
          </a:bodyPr>
          <a:lstStyle/>
          <a:p>
            <a:pPr marL="0" indent="0" algn="l">
              <a:lnSpc>
                <a:spcPct val="135000"/>
              </a:lnSpc>
              <a:buNone/>
            </a:pPr>
            <a:r>
              <a:rPr lang="en-US" sz="1800" kern="0" spc="113" dirty="0">
                <a:solidFill>
                  <a:srgbClr val="6B7280"/>
                </a:solidFill>
                <a:latin typeface="Courier New" pitchFamily="34" charset="0"/>
                <a:ea typeface="Courier New" pitchFamily="34" charset="-122"/>
                <a:cs typeface="Courier New" pitchFamily="34" charset="-120"/>
              </a:rPr>
              <a:t>CEILING</a:t>
            </a:r>
            <a:endParaRPr lang="en-US" sz="1800" dirty="0"/>
          </a:p>
        </p:txBody>
      </p:sp>
      <p:sp>
        <p:nvSpPr>
          <p:cNvPr id="57" name="Text 54"/>
          <p:cNvSpPr/>
          <p:nvPr/>
        </p:nvSpPr>
        <p:spPr>
          <a:xfrm>
            <a:off x="13665101" y="6443365"/>
            <a:ext cx="3505657" cy="39811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171717"/>
                </a:solidFill>
                <a:latin typeface="Arial" pitchFamily="34" charset="0"/>
                <a:ea typeface="Arial" pitchFamily="34" charset="-122"/>
                <a:cs typeface="Arial" pitchFamily="34" charset="-120"/>
              </a:rPr>
              <a:t>compounds with every ship</a:t>
            </a:r>
            <a:endParaRPr lang="en-US" sz="2100" dirty="0"/>
          </a:p>
        </p:txBody>
      </p:sp>
      <p:sp>
        <p:nvSpPr>
          <p:cNvPr id="58" name="Text 55"/>
          <p:cNvSpPr/>
          <p:nvPr/>
        </p:nvSpPr>
        <p:spPr>
          <a:xfrm>
            <a:off x="12293501" y="7060406"/>
            <a:ext cx="4918405" cy="424755"/>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3A3A38"/>
                </a:solidFill>
                <a:latin typeface="Arial" pitchFamily="34" charset="0"/>
                <a:ea typeface="Arial" pitchFamily="34" charset="-122"/>
                <a:cs typeface="Arial" pitchFamily="34" charset="-120"/>
              </a:rPr>
              <a:t>Different shape. Every ship compounds.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§03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THE COMMITMENT</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04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TARGET STATE</a:t>
            </a:r>
            <a:endParaRPr lang="en-US" sz="2100" dirty="0"/>
          </a:p>
        </p:txBody>
      </p:sp>
      <p:sp>
        <p:nvSpPr>
          <p:cNvPr id="10" name="Text 7"/>
          <p:cNvSpPr/>
          <p:nvPr/>
        </p:nvSpPr>
        <p:spPr>
          <a:xfrm>
            <a:off x="952500" y="2105025"/>
            <a:ext cx="16678275" cy="678061"/>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2563EB"/>
                </a:solidFill>
                <a:latin typeface="Arial" pitchFamily="34" charset="0"/>
                <a:ea typeface="Arial" pitchFamily="34" charset="-122"/>
                <a:cs typeface="Arial" pitchFamily="34" charset="-120"/>
              </a:rPr>
              <a:t>100% </a:t>
            </a:r>
            <a:r>
              <a:rPr lang="en-US" sz="4800" b="1" kern="0" spc="-112" dirty="0">
                <a:solidFill>
                  <a:srgbClr val="171717"/>
                </a:solidFill>
                <a:latin typeface="Arial" pitchFamily="34" charset="0"/>
                <a:ea typeface="Arial" pitchFamily="34" charset="-122"/>
                <a:cs typeface="Arial" pitchFamily="34" charset="-120"/>
              </a:rPr>
              <a:t>machine-owned execution.</a:t>
            </a:r>
            <a:endParaRPr lang="en-US" sz="4800" dirty="0"/>
          </a:p>
        </p:txBody>
      </p:sp>
      <p:sp>
        <p:nvSpPr>
          <p:cNvPr id="11" name="Text 8"/>
          <p:cNvSpPr/>
          <p:nvPr/>
        </p:nvSpPr>
        <p:spPr>
          <a:xfrm>
            <a:off x="952500" y="2973586"/>
            <a:ext cx="14716125" cy="535186"/>
          </a:xfrm>
          <a:prstGeom prst="rect">
            <a:avLst/>
          </a:prstGeom>
          <a:noFill/>
          <a:ln/>
        </p:spPr>
        <p:txBody>
          <a:bodyPr wrap="square" lIns="25400" tIns="25400" rIns="25400" bIns="25400" rtlCol="0" anchor="t">
            <a:normAutofit/>
          </a:bodyPr>
          <a:lstStyle/>
          <a:p>
            <a:pPr marL="0" indent="0" algn="l">
              <a:lnSpc>
                <a:spcPct val="145000"/>
              </a:lnSpc>
              <a:buNone/>
            </a:pPr>
            <a:r>
              <a:rPr lang="en-US" sz="2700" dirty="0">
                <a:solidFill>
                  <a:srgbClr val="3A3A38"/>
                </a:solidFill>
                <a:latin typeface="Arial" pitchFamily="34" charset="0"/>
                <a:ea typeface="Arial" pitchFamily="34" charset="-122"/>
                <a:cs typeface="Arial" pitchFamily="34" charset="-120"/>
              </a:rPr>
              <a:t>Humans still decide. They stop producing the output.</a:t>
            </a:r>
            <a:endParaRPr lang="en-US" sz="2700" dirty="0"/>
          </a:p>
        </p:txBody>
      </p:sp>
      <p:sp>
        <p:nvSpPr>
          <p:cNvPr id="12" name="Shape 9"/>
          <p:cNvSpPr/>
          <p:nvPr/>
        </p:nvSpPr>
        <p:spPr>
          <a:xfrm>
            <a:off x="952500" y="4004072"/>
            <a:ext cx="8001000" cy="4610100"/>
          </a:xfrm>
          <a:prstGeom prst="rect">
            <a:avLst/>
          </a:prstGeom>
          <a:solidFill>
            <a:srgbClr val="FFFFFF"/>
          </a:solidFill>
          <a:ln w="19050">
            <a:solidFill>
              <a:srgbClr val="2563EB"/>
            </a:solidFill>
            <a:prstDash val="solid"/>
          </a:ln>
        </p:spPr>
        <p:txBody>
          <a:bodyPr/>
          <a:lstStyle/>
          <a:p>
            <a:endParaRPr lang="en-IL"/>
          </a:p>
        </p:txBody>
      </p:sp>
      <p:sp>
        <p:nvSpPr>
          <p:cNvPr id="13" name="Text 10"/>
          <p:cNvSpPr/>
          <p:nvPr/>
        </p:nvSpPr>
        <p:spPr>
          <a:xfrm>
            <a:off x="1314450" y="4327922"/>
            <a:ext cx="7495413"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MACHINES OWN</a:t>
            </a:r>
            <a:endParaRPr lang="en-US" sz="2100" dirty="0"/>
          </a:p>
        </p:txBody>
      </p:sp>
      <p:sp>
        <p:nvSpPr>
          <p:cNvPr id="14" name="Shape 11"/>
          <p:cNvSpPr/>
          <p:nvPr/>
        </p:nvSpPr>
        <p:spPr>
          <a:xfrm>
            <a:off x="1314450" y="5470922"/>
            <a:ext cx="7277100" cy="9525"/>
          </a:xfrm>
          <a:prstGeom prst="rect">
            <a:avLst/>
          </a:prstGeom>
          <a:solidFill>
            <a:srgbClr val="E6E5E0"/>
          </a:solidFill>
          <a:ln/>
        </p:spPr>
        <p:txBody>
          <a:bodyPr/>
          <a:lstStyle/>
          <a:p>
            <a:endParaRPr lang="en-IL"/>
          </a:p>
        </p:txBody>
      </p:sp>
      <p:sp>
        <p:nvSpPr>
          <p:cNvPr id="15" name="Text 12"/>
          <p:cNvSpPr/>
          <p:nvPr/>
        </p:nvSpPr>
        <p:spPr>
          <a:xfrm>
            <a:off x="1314450" y="498514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code</a:t>
            </a:r>
            <a:endParaRPr lang="en-US" sz="2100" dirty="0"/>
          </a:p>
        </p:txBody>
      </p:sp>
      <p:sp>
        <p:nvSpPr>
          <p:cNvPr id="16" name="Text 13"/>
          <p:cNvSpPr/>
          <p:nvPr/>
        </p:nvSpPr>
        <p:spPr>
          <a:xfrm>
            <a:off x="3600450" y="502324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produce PRs, refactor, migrate</a:t>
            </a:r>
            <a:endParaRPr lang="en-US" sz="2100" dirty="0"/>
          </a:p>
        </p:txBody>
      </p:sp>
      <p:sp>
        <p:nvSpPr>
          <p:cNvPr id="17" name="Shape 14"/>
          <p:cNvSpPr/>
          <p:nvPr/>
        </p:nvSpPr>
        <p:spPr>
          <a:xfrm>
            <a:off x="1314450" y="6099572"/>
            <a:ext cx="7277100" cy="9525"/>
          </a:xfrm>
          <a:prstGeom prst="rect">
            <a:avLst/>
          </a:prstGeom>
          <a:solidFill>
            <a:srgbClr val="E6E5E0"/>
          </a:solidFill>
          <a:ln/>
        </p:spPr>
        <p:txBody>
          <a:bodyPr/>
          <a:lstStyle/>
          <a:p>
            <a:endParaRPr lang="en-IL"/>
          </a:p>
        </p:txBody>
      </p:sp>
      <p:sp>
        <p:nvSpPr>
          <p:cNvPr id="18" name="Text 15"/>
          <p:cNvSpPr/>
          <p:nvPr/>
        </p:nvSpPr>
        <p:spPr>
          <a:xfrm>
            <a:off x="1314450" y="561379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tests</a:t>
            </a:r>
            <a:endParaRPr lang="en-US" sz="2100" dirty="0"/>
          </a:p>
        </p:txBody>
      </p:sp>
      <p:sp>
        <p:nvSpPr>
          <p:cNvPr id="19" name="Text 16"/>
          <p:cNvSpPr/>
          <p:nvPr/>
        </p:nvSpPr>
        <p:spPr>
          <a:xfrm>
            <a:off x="3600450" y="565189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generate, extend, harden</a:t>
            </a:r>
            <a:endParaRPr lang="en-US" sz="2100" dirty="0"/>
          </a:p>
        </p:txBody>
      </p:sp>
      <p:sp>
        <p:nvSpPr>
          <p:cNvPr id="20" name="Shape 17"/>
          <p:cNvSpPr/>
          <p:nvPr/>
        </p:nvSpPr>
        <p:spPr>
          <a:xfrm>
            <a:off x="1314450" y="6728222"/>
            <a:ext cx="7277100" cy="9525"/>
          </a:xfrm>
          <a:prstGeom prst="rect">
            <a:avLst/>
          </a:prstGeom>
          <a:solidFill>
            <a:srgbClr val="E6E5E0"/>
          </a:solidFill>
          <a:ln/>
        </p:spPr>
        <p:txBody>
          <a:bodyPr/>
          <a:lstStyle/>
          <a:p>
            <a:endParaRPr lang="en-IL"/>
          </a:p>
        </p:txBody>
      </p:sp>
      <p:sp>
        <p:nvSpPr>
          <p:cNvPr id="21" name="Text 18"/>
          <p:cNvSpPr/>
          <p:nvPr/>
        </p:nvSpPr>
        <p:spPr>
          <a:xfrm>
            <a:off x="1314450" y="624244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documentation</a:t>
            </a:r>
            <a:endParaRPr lang="en-US" sz="2100" dirty="0"/>
          </a:p>
        </p:txBody>
      </p:sp>
      <p:sp>
        <p:nvSpPr>
          <p:cNvPr id="22" name="Text 19"/>
          <p:cNvSpPr/>
          <p:nvPr/>
        </p:nvSpPr>
        <p:spPr>
          <a:xfrm>
            <a:off x="3600450" y="628054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write, update, cross-reference</a:t>
            </a:r>
            <a:endParaRPr lang="en-US" sz="2100" dirty="0"/>
          </a:p>
        </p:txBody>
      </p:sp>
      <p:sp>
        <p:nvSpPr>
          <p:cNvPr id="23" name="Shape 20"/>
          <p:cNvSpPr/>
          <p:nvPr/>
        </p:nvSpPr>
        <p:spPr>
          <a:xfrm>
            <a:off x="1314450" y="7356872"/>
            <a:ext cx="7277100" cy="9525"/>
          </a:xfrm>
          <a:prstGeom prst="rect">
            <a:avLst/>
          </a:prstGeom>
          <a:solidFill>
            <a:srgbClr val="E6E5E0"/>
          </a:solidFill>
          <a:ln/>
        </p:spPr>
        <p:txBody>
          <a:bodyPr/>
          <a:lstStyle/>
          <a:p>
            <a:endParaRPr lang="en-IL"/>
          </a:p>
        </p:txBody>
      </p:sp>
      <p:sp>
        <p:nvSpPr>
          <p:cNvPr id="24" name="Text 21"/>
          <p:cNvSpPr/>
          <p:nvPr/>
        </p:nvSpPr>
        <p:spPr>
          <a:xfrm>
            <a:off x="1314450" y="687109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bug triage</a:t>
            </a:r>
            <a:endParaRPr lang="en-US" sz="2100" dirty="0"/>
          </a:p>
        </p:txBody>
      </p:sp>
      <p:sp>
        <p:nvSpPr>
          <p:cNvPr id="25" name="Text 22"/>
          <p:cNvSpPr/>
          <p:nvPr/>
        </p:nvSpPr>
        <p:spPr>
          <a:xfrm>
            <a:off x="3600450" y="690919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triage, identify, fix, deploy</a:t>
            </a:r>
            <a:endParaRPr lang="en-US" sz="2100" dirty="0"/>
          </a:p>
        </p:txBody>
      </p:sp>
      <p:sp>
        <p:nvSpPr>
          <p:cNvPr id="26" name="Shape 23"/>
          <p:cNvSpPr/>
          <p:nvPr/>
        </p:nvSpPr>
        <p:spPr>
          <a:xfrm>
            <a:off x="1314450" y="8280797"/>
            <a:ext cx="7277100" cy="9525"/>
          </a:xfrm>
          <a:prstGeom prst="rect">
            <a:avLst/>
          </a:prstGeom>
          <a:solidFill>
            <a:srgbClr val="E6E5E0"/>
          </a:solidFill>
          <a:ln/>
        </p:spPr>
        <p:txBody>
          <a:bodyPr/>
          <a:lstStyle/>
          <a:p>
            <a:endParaRPr lang="en-IL"/>
          </a:p>
        </p:txBody>
      </p:sp>
      <p:sp>
        <p:nvSpPr>
          <p:cNvPr id="27" name="Text 24"/>
          <p:cNvSpPr/>
          <p:nvPr/>
        </p:nvSpPr>
        <p:spPr>
          <a:xfrm>
            <a:off x="1314450" y="749974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operations</a:t>
            </a:r>
            <a:endParaRPr lang="en-US" sz="2100" dirty="0"/>
          </a:p>
        </p:txBody>
      </p:sp>
      <p:sp>
        <p:nvSpPr>
          <p:cNvPr id="28" name="Text 25"/>
          <p:cNvSpPr/>
          <p:nvPr/>
        </p:nvSpPr>
        <p:spPr>
          <a:xfrm>
            <a:off x="3600450" y="7537847"/>
            <a:ext cx="5140833" cy="6477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deploys, routine remediation, on-call runbooks</a:t>
            </a:r>
            <a:endParaRPr lang="en-US" sz="2100" dirty="0"/>
          </a:p>
        </p:txBody>
      </p:sp>
      <p:sp>
        <p:nvSpPr>
          <p:cNvPr id="29" name="Shape 26"/>
          <p:cNvSpPr/>
          <p:nvPr/>
        </p:nvSpPr>
        <p:spPr>
          <a:xfrm>
            <a:off x="9334500" y="4004072"/>
            <a:ext cx="8001000" cy="4610100"/>
          </a:xfrm>
          <a:prstGeom prst="rect">
            <a:avLst/>
          </a:prstGeom>
          <a:solidFill>
            <a:srgbClr val="FFFFFF"/>
          </a:solidFill>
          <a:ln w="19050">
            <a:solidFill>
              <a:srgbClr val="171717"/>
            </a:solidFill>
            <a:prstDash val="solid"/>
          </a:ln>
        </p:spPr>
        <p:txBody>
          <a:bodyPr/>
          <a:lstStyle/>
          <a:p>
            <a:endParaRPr lang="en-IL"/>
          </a:p>
        </p:txBody>
      </p:sp>
      <p:sp>
        <p:nvSpPr>
          <p:cNvPr id="30" name="Text 27"/>
          <p:cNvSpPr/>
          <p:nvPr/>
        </p:nvSpPr>
        <p:spPr>
          <a:xfrm>
            <a:off x="9696450" y="4327922"/>
            <a:ext cx="7495413"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171717"/>
                </a:solidFill>
                <a:latin typeface="Courier New" pitchFamily="34" charset="0"/>
                <a:ea typeface="Courier New" pitchFamily="34" charset="-122"/>
                <a:cs typeface="Courier New" pitchFamily="34" charset="-120"/>
              </a:rPr>
              <a:t>HUMANS OWN</a:t>
            </a:r>
            <a:endParaRPr lang="en-US" sz="2100" dirty="0"/>
          </a:p>
        </p:txBody>
      </p:sp>
      <p:sp>
        <p:nvSpPr>
          <p:cNvPr id="31" name="Shape 28"/>
          <p:cNvSpPr/>
          <p:nvPr/>
        </p:nvSpPr>
        <p:spPr>
          <a:xfrm>
            <a:off x="9696450" y="5470922"/>
            <a:ext cx="7277100" cy="9525"/>
          </a:xfrm>
          <a:prstGeom prst="rect">
            <a:avLst/>
          </a:prstGeom>
          <a:solidFill>
            <a:srgbClr val="E6E5E0"/>
          </a:solidFill>
          <a:ln/>
        </p:spPr>
        <p:txBody>
          <a:bodyPr/>
          <a:lstStyle/>
          <a:p>
            <a:endParaRPr lang="en-IL"/>
          </a:p>
        </p:txBody>
      </p:sp>
      <p:sp>
        <p:nvSpPr>
          <p:cNvPr id="32" name="Text 29"/>
          <p:cNvSpPr/>
          <p:nvPr/>
        </p:nvSpPr>
        <p:spPr>
          <a:xfrm>
            <a:off x="9696450" y="498514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intent</a:t>
            </a:r>
            <a:endParaRPr lang="en-US" sz="2100" dirty="0"/>
          </a:p>
        </p:txBody>
      </p:sp>
      <p:sp>
        <p:nvSpPr>
          <p:cNvPr id="33" name="Text 30"/>
          <p:cNvSpPr/>
          <p:nvPr/>
        </p:nvSpPr>
        <p:spPr>
          <a:xfrm>
            <a:off x="11982450" y="502324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specify what "done" looks like</a:t>
            </a:r>
            <a:endParaRPr lang="en-US" sz="2100" dirty="0"/>
          </a:p>
        </p:txBody>
      </p:sp>
      <p:sp>
        <p:nvSpPr>
          <p:cNvPr id="34" name="Shape 31"/>
          <p:cNvSpPr/>
          <p:nvPr/>
        </p:nvSpPr>
        <p:spPr>
          <a:xfrm>
            <a:off x="9696450" y="6099572"/>
            <a:ext cx="7277100" cy="9525"/>
          </a:xfrm>
          <a:prstGeom prst="rect">
            <a:avLst/>
          </a:prstGeom>
          <a:solidFill>
            <a:srgbClr val="E6E5E0"/>
          </a:solidFill>
          <a:ln/>
        </p:spPr>
        <p:txBody>
          <a:bodyPr/>
          <a:lstStyle/>
          <a:p>
            <a:endParaRPr lang="en-IL"/>
          </a:p>
        </p:txBody>
      </p:sp>
      <p:sp>
        <p:nvSpPr>
          <p:cNvPr id="35" name="Text 32"/>
          <p:cNvSpPr/>
          <p:nvPr/>
        </p:nvSpPr>
        <p:spPr>
          <a:xfrm>
            <a:off x="9696450" y="561379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evaluators</a:t>
            </a:r>
            <a:endParaRPr lang="en-US" sz="2100" dirty="0"/>
          </a:p>
        </p:txBody>
      </p:sp>
      <p:sp>
        <p:nvSpPr>
          <p:cNvPr id="36" name="Text 33"/>
          <p:cNvSpPr/>
          <p:nvPr/>
        </p:nvSpPr>
        <p:spPr>
          <a:xfrm>
            <a:off x="11982450" y="565189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tune criteria, override when wrong</a:t>
            </a:r>
            <a:endParaRPr lang="en-US" sz="2100" dirty="0"/>
          </a:p>
        </p:txBody>
      </p:sp>
      <p:sp>
        <p:nvSpPr>
          <p:cNvPr id="37" name="Shape 34"/>
          <p:cNvSpPr/>
          <p:nvPr/>
        </p:nvSpPr>
        <p:spPr>
          <a:xfrm>
            <a:off x="9696450" y="6728222"/>
            <a:ext cx="7277100" cy="9525"/>
          </a:xfrm>
          <a:prstGeom prst="rect">
            <a:avLst/>
          </a:prstGeom>
          <a:solidFill>
            <a:srgbClr val="E6E5E0"/>
          </a:solidFill>
          <a:ln/>
        </p:spPr>
        <p:txBody>
          <a:bodyPr/>
          <a:lstStyle/>
          <a:p>
            <a:endParaRPr lang="en-IL"/>
          </a:p>
        </p:txBody>
      </p:sp>
      <p:sp>
        <p:nvSpPr>
          <p:cNvPr id="38" name="Text 35"/>
          <p:cNvSpPr/>
          <p:nvPr/>
        </p:nvSpPr>
        <p:spPr>
          <a:xfrm>
            <a:off x="9696450" y="6242447"/>
            <a:ext cx="2171700" cy="39052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decisions</a:t>
            </a:r>
            <a:endParaRPr lang="en-US" sz="2100" dirty="0"/>
          </a:p>
        </p:txBody>
      </p:sp>
      <p:sp>
        <p:nvSpPr>
          <p:cNvPr id="39" name="Text 36"/>
          <p:cNvSpPr/>
          <p:nvPr/>
        </p:nvSpPr>
        <p:spPr>
          <a:xfrm>
            <a:off x="11982450" y="628054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review at go/no-go points</a:t>
            </a:r>
            <a:endParaRPr lang="en-US" sz="2100" dirty="0"/>
          </a:p>
        </p:txBody>
      </p:sp>
      <p:sp>
        <p:nvSpPr>
          <p:cNvPr id="40" name="Shape 37"/>
          <p:cNvSpPr/>
          <p:nvPr/>
        </p:nvSpPr>
        <p:spPr>
          <a:xfrm>
            <a:off x="9696450" y="7709297"/>
            <a:ext cx="7277100" cy="9525"/>
          </a:xfrm>
          <a:prstGeom prst="rect">
            <a:avLst/>
          </a:prstGeom>
          <a:solidFill>
            <a:srgbClr val="E6E5E0"/>
          </a:solidFill>
          <a:ln/>
        </p:spPr>
        <p:txBody>
          <a:bodyPr/>
          <a:lstStyle/>
          <a:p>
            <a:endParaRPr lang="en-IL"/>
          </a:p>
        </p:txBody>
      </p:sp>
      <p:sp>
        <p:nvSpPr>
          <p:cNvPr id="41" name="Text 38"/>
          <p:cNvSpPr/>
          <p:nvPr/>
        </p:nvSpPr>
        <p:spPr>
          <a:xfrm>
            <a:off x="9696450" y="6871097"/>
            <a:ext cx="2171700" cy="742950"/>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human contract</a:t>
            </a:r>
            <a:endParaRPr lang="en-US" sz="2100" dirty="0"/>
          </a:p>
        </p:txBody>
      </p:sp>
      <p:sp>
        <p:nvSpPr>
          <p:cNvPr id="42" name="Text 39"/>
          <p:cNvSpPr/>
          <p:nvPr/>
        </p:nvSpPr>
        <p:spPr>
          <a:xfrm>
            <a:off x="11982450" y="6909197"/>
            <a:ext cx="5140833" cy="342900"/>
          </a:xfrm>
          <a:prstGeom prst="rect">
            <a:avLst/>
          </a:prstGeom>
          <a:noFill/>
          <a:ln/>
        </p:spPr>
        <p:txBody>
          <a:bodyPr wrap="square" lIns="25400" tIns="25400" rIns="25400" bIns="25400" rtlCol="0" anchor="t">
            <a:normAutofit/>
          </a:bodyPr>
          <a:lstStyle/>
          <a:p>
            <a:pPr marL="0" indent="0" algn="l">
              <a:buNone/>
            </a:pPr>
            <a:r>
              <a:rPr lang="en-US" sz="2100" dirty="0">
                <a:solidFill>
                  <a:srgbClr val="6B7280"/>
                </a:solidFill>
                <a:latin typeface="Arial" pitchFamily="34" charset="0"/>
                <a:ea typeface="Arial" pitchFamily="34" charset="-122"/>
                <a:cs typeface="Arial" pitchFamily="34" charset="-120"/>
              </a:rPr>
              <a:t>relationships, careers, culture</a:t>
            </a:r>
            <a:endParaRPr lang="en-US" sz="2100" dirty="0"/>
          </a:p>
        </p:txBody>
      </p:sp>
      <p:sp>
        <p:nvSpPr>
          <p:cNvPr id="43" name="Shape 40"/>
          <p:cNvSpPr/>
          <p:nvPr/>
        </p:nvSpPr>
        <p:spPr>
          <a:xfrm>
            <a:off x="952500" y="8880872"/>
            <a:ext cx="16383000" cy="638175"/>
          </a:xfrm>
          <a:prstGeom prst="rect">
            <a:avLst/>
          </a:prstGeom>
          <a:solidFill>
            <a:srgbClr val="171717"/>
          </a:solidFill>
          <a:ln/>
        </p:spPr>
        <p:txBody>
          <a:bodyPr/>
          <a:lstStyle/>
          <a:p>
            <a:endParaRPr lang="en-IL"/>
          </a:p>
        </p:txBody>
      </p:sp>
      <p:sp>
        <p:nvSpPr>
          <p:cNvPr id="44" name="Text 41"/>
          <p:cNvSpPr/>
          <p:nvPr/>
        </p:nvSpPr>
        <p:spPr>
          <a:xfrm>
            <a:off x="1219200" y="9052322"/>
            <a:ext cx="3052676" cy="333375"/>
          </a:xfrm>
          <a:prstGeom prst="rect">
            <a:avLst/>
          </a:prstGeom>
          <a:noFill/>
          <a:ln/>
        </p:spPr>
        <p:txBody>
          <a:bodyPr wrap="square" lIns="25400" tIns="25400" rIns="25400" bIns="25400" rtlCol="0" anchor="t">
            <a:normAutofit/>
          </a:bodyPr>
          <a:lstStyle/>
          <a:p>
            <a:pPr marL="0" indent="0" algn="l">
              <a:buNone/>
            </a:pPr>
            <a:r>
              <a:rPr lang="en-US" sz="2100" kern="0" spc="113" dirty="0">
                <a:solidFill>
                  <a:srgbClr val="FAFAF7"/>
                </a:solidFill>
                <a:latin typeface="Courier New" pitchFamily="34" charset="0"/>
                <a:ea typeface="Courier New" pitchFamily="34" charset="-122"/>
                <a:cs typeface="Courier New" pitchFamily="34" charset="-120"/>
              </a:rPr>
              <a:t>NORTH-STAR METRIC</a:t>
            </a:r>
            <a:endParaRPr lang="en-US" sz="2100" dirty="0"/>
          </a:p>
        </p:txBody>
      </p:sp>
      <p:sp>
        <p:nvSpPr>
          <p:cNvPr id="45" name="Text 42"/>
          <p:cNvSpPr/>
          <p:nvPr/>
        </p:nvSpPr>
        <p:spPr>
          <a:xfrm>
            <a:off x="8700790" y="9052322"/>
            <a:ext cx="8619050" cy="333375"/>
          </a:xfrm>
          <a:prstGeom prst="rect">
            <a:avLst/>
          </a:prstGeom>
          <a:noFill/>
          <a:ln/>
        </p:spPr>
        <p:txBody>
          <a:bodyPr wrap="square" lIns="25400" tIns="25400" rIns="25400" bIns="25400" rtlCol="0" anchor="t">
            <a:normAutofit/>
          </a:bodyPr>
          <a:lstStyle/>
          <a:p>
            <a:pPr marL="0" indent="0" algn="l">
              <a:buNone/>
            </a:pPr>
            <a:r>
              <a:rPr lang="en-US" sz="2100" kern="0" spc="113" dirty="0">
                <a:solidFill>
                  <a:srgbClr val="9EFF6E"/>
                </a:solidFill>
                <a:latin typeface="Courier New" pitchFamily="34" charset="0"/>
                <a:ea typeface="Courier New" pitchFamily="34" charset="-122"/>
                <a:cs typeface="Courier New" pitchFamily="34" charset="-120"/>
              </a:rPr>
              <a:t>% hand-authored code — trending ↓ week over week</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§04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THE FORCING FUNCTION</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05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WHY 100%, NOT "MOSTLY"</a:t>
            </a:r>
            <a:endParaRPr lang="en-US" sz="2100" dirty="0"/>
          </a:p>
        </p:txBody>
      </p:sp>
      <p:sp>
        <p:nvSpPr>
          <p:cNvPr id="10" name="Text 7"/>
          <p:cNvSpPr/>
          <p:nvPr/>
        </p:nvSpPr>
        <p:spPr>
          <a:xfrm>
            <a:off x="952500" y="2105025"/>
            <a:ext cx="16678275" cy="678061"/>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171717"/>
                </a:solidFill>
                <a:latin typeface="Arial" pitchFamily="34" charset="0"/>
                <a:ea typeface="Arial" pitchFamily="34" charset="-122"/>
                <a:cs typeface="Arial" pitchFamily="34" charset="-120"/>
              </a:rPr>
              <a:t>The 100% target is a </a:t>
            </a:r>
            <a:r>
              <a:rPr lang="en-US" sz="4800" b="1" kern="0" spc="-112" dirty="0">
                <a:solidFill>
                  <a:srgbClr val="2563EB"/>
                </a:solidFill>
                <a:latin typeface="Arial" pitchFamily="34" charset="0"/>
                <a:ea typeface="Arial" pitchFamily="34" charset="-122"/>
                <a:cs typeface="Arial" pitchFamily="34" charset="-120"/>
              </a:rPr>
              <a:t>forcing function</a:t>
            </a:r>
            <a:r>
              <a:rPr lang="en-US" sz="4800" b="1" kern="0" spc="-112" dirty="0">
                <a:solidFill>
                  <a:srgbClr val="171717"/>
                </a:solidFill>
                <a:latin typeface="Arial" pitchFamily="34" charset="0"/>
                <a:ea typeface="Arial" pitchFamily="34" charset="-122"/>
                <a:cs typeface="Arial" pitchFamily="34" charset="-120"/>
              </a:rPr>
              <a:t>, not a purity test.</a:t>
            </a:r>
            <a:endParaRPr lang="en-US" sz="4800" dirty="0"/>
          </a:p>
        </p:txBody>
      </p:sp>
      <p:sp>
        <p:nvSpPr>
          <p:cNvPr id="11" name="Shape 8"/>
          <p:cNvSpPr/>
          <p:nvPr/>
        </p:nvSpPr>
        <p:spPr>
          <a:xfrm>
            <a:off x="952500" y="3278386"/>
            <a:ext cx="8001000" cy="3061246"/>
          </a:xfrm>
          <a:prstGeom prst="rect">
            <a:avLst/>
          </a:prstGeom>
          <a:solidFill>
            <a:srgbClr val="FFFFFF"/>
          </a:solidFill>
          <a:ln w="19050">
            <a:solidFill>
              <a:srgbClr val="DC2626"/>
            </a:solidFill>
            <a:prstDash val="solid"/>
          </a:ln>
        </p:spPr>
        <p:txBody>
          <a:bodyPr/>
          <a:lstStyle/>
          <a:p>
            <a:endParaRPr lang="en-IL"/>
          </a:p>
        </p:txBody>
      </p:sp>
      <p:sp>
        <p:nvSpPr>
          <p:cNvPr id="12" name="Text 9"/>
          <p:cNvSpPr/>
          <p:nvPr/>
        </p:nvSpPr>
        <p:spPr>
          <a:xfrm>
            <a:off x="1314450" y="3602236"/>
            <a:ext cx="7495413"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DC2626"/>
                </a:solidFill>
                <a:latin typeface="Courier New" pitchFamily="34" charset="0"/>
                <a:ea typeface="Courier New" pitchFamily="34" charset="-122"/>
                <a:cs typeface="Courier New" pitchFamily="34" charset="-120"/>
              </a:rPr>
              <a:t>OPTION A — HAND-FIX</a:t>
            </a:r>
            <a:endParaRPr lang="en-US" sz="2100" dirty="0"/>
          </a:p>
        </p:txBody>
      </p:sp>
      <p:sp>
        <p:nvSpPr>
          <p:cNvPr id="13" name="Text 10"/>
          <p:cNvSpPr/>
          <p:nvPr/>
        </p:nvSpPr>
        <p:spPr>
          <a:xfrm>
            <a:off x="1314450" y="4107061"/>
            <a:ext cx="7495413"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Faster today</a:t>
            </a:r>
            <a:endParaRPr lang="en-US" sz="3300" dirty="0"/>
          </a:p>
        </p:txBody>
      </p:sp>
      <p:sp>
        <p:nvSpPr>
          <p:cNvPr id="14" name="Text 11"/>
          <p:cNvSpPr/>
          <p:nvPr/>
        </p:nvSpPr>
        <p:spPr>
          <a:xfrm>
            <a:off x="1337310" y="473571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dirty="0">
                <a:solidFill>
                  <a:srgbClr val="3A3A38"/>
                </a:solidFill>
                <a:latin typeface="Arial" pitchFamily="34" charset="0"/>
                <a:ea typeface="Arial" pitchFamily="34" charset="-122"/>
                <a:cs typeface="Arial" pitchFamily="34" charset="-120"/>
              </a:rPr>
              <a:t>Wins every individual task</a:t>
            </a:r>
            <a:endParaRPr lang="en-US" sz="2100" dirty="0"/>
          </a:p>
        </p:txBody>
      </p:sp>
      <p:sp>
        <p:nvSpPr>
          <p:cNvPr id="15" name="Text 12"/>
          <p:cNvSpPr/>
          <p:nvPr/>
        </p:nvSpPr>
        <p:spPr>
          <a:xfrm>
            <a:off x="1337310" y="516240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dirty="0">
                <a:solidFill>
                  <a:srgbClr val="3A3A38"/>
                </a:solidFill>
                <a:latin typeface="Arial" pitchFamily="34" charset="0"/>
                <a:ea typeface="Arial" pitchFamily="34" charset="-122"/>
                <a:cs typeface="Arial" pitchFamily="34" charset="-120"/>
              </a:rPr>
              <a:t>Cheaper on that one task</a:t>
            </a:r>
            <a:endParaRPr lang="en-US" sz="2100" dirty="0"/>
          </a:p>
        </p:txBody>
      </p:sp>
      <p:sp>
        <p:nvSpPr>
          <p:cNvPr id="16" name="Text 13"/>
          <p:cNvSpPr/>
          <p:nvPr/>
        </p:nvSpPr>
        <p:spPr>
          <a:xfrm>
            <a:off x="1337310" y="558909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b="1" dirty="0">
                <a:solidFill>
                  <a:srgbClr val="DC2626"/>
                </a:solidFill>
                <a:latin typeface="Arial" pitchFamily="34" charset="0"/>
                <a:ea typeface="Arial" pitchFamily="34" charset="-122"/>
                <a:cs typeface="Arial" pitchFamily="34" charset="-120"/>
              </a:rPr>
              <a:t>Never compounds</a:t>
            </a:r>
            <a:endParaRPr lang="en-US" sz="2100" dirty="0"/>
          </a:p>
        </p:txBody>
      </p:sp>
      <p:sp>
        <p:nvSpPr>
          <p:cNvPr id="17" name="Shape 14"/>
          <p:cNvSpPr/>
          <p:nvPr/>
        </p:nvSpPr>
        <p:spPr>
          <a:xfrm>
            <a:off x="9334500" y="3278386"/>
            <a:ext cx="8001000" cy="3061246"/>
          </a:xfrm>
          <a:prstGeom prst="rect">
            <a:avLst/>
          </a:prstGeom>
          <a:solidFill>
            <a:srgbClr val="FFFFFF"/>
          </a:solidFill>
          <a:ln w="19050">
            <a:solidFill>
              <a:srgbClr val="2563EB"/>
            </a:solidFill>
            <a:prstDash val="solid"/>
          </a:ln>
        </p:spPr>
        <p:txBody>
          <a:bodyPr/>
          <a:lstStyle/>
          <a:p>
            <a:endParaRPr lang="en-IL"/>
          </a:p>
        </p:txBody>
      </p:sp>
      <p:sp>
        <p:nvSpPr>
          <p:cNvPr id="18" name="Text 15"/>
          <p:cNvSpPr/>
          <p:nvPr/>
        </p:nvSpPr>
        <p:spPr>
          <a:xfrm>
            <a:off x="9696450" y="3602236"/>
            <a:ext cx="7495413"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OPTION B — BACK-PROPAGATE</a:t>
            </a:r>
            <a:endParaRPr lang="en-US" sz="2100" dirty="0"/>
          </a:p>
        </p:txBody>
      </p:sp>
      <p:sp>
        <p:nvSpPr>
          <p:cNvPr id="19" name="Text 16"/>
          <p:cNvSpPr/>
          <p:nvPr/>
        </p:nvSpPr>
        <p:spPr>
          <a:xfrm>
            <a:off x="9696450" y="4107061"/>
            <a:ext cx="7495413"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Cheaper tomorrow</a:t>
            </a:r>
            <a:endParaRPr lang="en-US" sz="3300" dirty="0"/>
          </a:p>
        </p:txBody>
      </p:sp>
      <p:sp>
        <p:nvSpPr>
          <p:cNvPr id="20" name="Text 17"/>
          <p:cNvSpPr/>
          <p:nvPr/>
        </p:nvSpPr>
        <p:spPr>
          <a:xfrm>
            <a:off x="9719310" y="473571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dirty="0">
                <a:solidFill>
                  <a:srgbClr val="3A3A38"/>
                </a:solidFill>
                <a:latin typeface="Arial" pitchFamily="34" charset="0"/>
                <a:ea typeface="Arial" pitchFamily="34" charset="-122"/>
                <a:cs typeface="Arial" pitchFamily="34" charset="-120"/>
              </a:rPr>
              <a:t>Add a guide, sensor, or evaluator</a:t>
            </a:r>
            <a:endParaRPr lang="en-US" sz="2100" dirty="0"/>
          </a:p>
        </p:txBody>
      </p:sp>
      <p:sp>
        <p:nvSpPr>
          <p:cNvPr id="21" name="Text 18"/>
          <p:cNvSpPr/>
          <p:nvPr/>
        </p:nvSpPr>
        <p:spPr>
          <a:xfrm>
            <a:off x="9719310" y="516240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dirty="0">
                <a:solidFill>
                  <a:srgbClr val="3A3A38"/>
                </a:solidFill>
                <a:latin typeface="Arial" pitchFamily="34" charset="0"/>
                <a:ea typeface="Arial" pitchFamily="34" charset="-122"/>
                <a:cs typeface="Arial" pitchFamily="34" charset="-120"/>
              </a:rPr>
              <a:t>Next failure of that class is caught</a:t>
            </a:r>
            <a:endParaRPr lang="en-US" sz="2100" dirty="0"/>
          </a:p>
        </p:txBody>
      </p:sp>
      <p:sp>
        <p:nvSpPr>
          <p:cNvPr id="22" name="Text 19"/>
          <p:cNvSpPr/>
          <p:nvPr/>
        </p:nvSpPr>
        <p:spPr>
          <a:xfrm>
            <a:off x="9719310" y="5589091"/>
            <a:ext cx="7466267" cy="464790"/>
          </a:xfrm>
          <a:prstGeom prst="rect">
            <a:avLst/>
          </a:prstGeom>
          <a:noFill/>
          <a:ln/>
        </p:spPr>
        <p:txBody>
          <a:bodyPr wrap="square" lIns="25400" tIns="25400" rIns="25400" bIns="25400" rtlCol="0" anchor="t">
            <a:normAutofit/>
          </a:bodyPr>
          <a:lstStyle/>
          <a:p>
            <a:pPr marL="186690" indent="-186690" algn="l">
              <a:lnSpc>
                <a:spcPct val="160000"/>
              </a:lnSpc>
              <a:buSzPct val="100000"/>
              <a:buChar char="•"/>
              <a:tabLst>
                <a:tab pos="186690" algn="l"/>
              </a:tabLst>
            </a:pPr>
            <a:r>
              <a:rPr lang="en-US" sz="2100" b="1" dirty="0">
                <a:solidFill>
                  <a:srgbClr val="2563EB"/>
                </a:solidFill>
                <a:latin typeface="Arial" pitchFamily="34" charset="0"/>
                <a:ea typeface="Arial" pitchFamily="34" charset="-122"/>
                <a:cs typeface="Arial" pitchFamily="34" charset="-120"/>
              </a:rPr>
              <a:t>Every ship accumulates</a:t>
            </a:r>
            <a:endParaRPr lang="en-US" sz="2100" dirty="0"/>
          </a:p>
        </p:txBody>
      </p:sp>
      <p:sp>
        <p:nvSpPr>
          <p:cNvPr id="23" name="Shape 20"/>
          <p:cNvSpPr/>
          <p:nvPr/>
        </p:nvSpPr>
        <p:spPr>
          <a:xfrm>
            <a:off x="952500" y="6720632"/>
            <a:ext cx="16192500" cy="1417141"/>
          </a:xfrm>
          <a:prstGeom prst="rect">
            <a:avLst/>
          </a:prstGeom>
          <a:solidFill>
            <a:srgbClr val="F0EFE9"/>
          </a:solidFill>
          <a:ln/>
        </p:spPr>
        <p:txBody>
          <a:bodyPr/>
          <a:lstStyle/>
          <a:p>
            <a:endParaRPr lang="en-IL"/>
          </a:p>
        </p:txBody>
      </p:sp>
      <p:sp>
        <p:nvSpPr>
          <p:cNvPr id="24" name="Shape 21"/>
          <p:cNvSpPr/>
          <p:nvPr/>
        </p:nvSpPr>
        <p:spPr>
          <a:xfrm>
            <a:off x="952500" y="6720632"/>
            <a:ext cx="38100" cy="1417141"/>
          </a:xfrm>
          <a:prstGeom prst="rect">
            <a:avLst/>
          </a:prstGeom>
          <a:solidFill>
            <a:srgbClr val="171717"/>
          </a:solidFill>
          <a:ln/>
        </p:spPr>
        <p:txBody>
          <a:bodyPr/>
          <a:lstStyle/>
          <a:p>
            <a:endParaRPr lang="en-IL"/>
          </a:p>
        </p:txBody>
      </p:sp>
      <p:sp>
        <p:nvSpPr>
          <p:cNvPr id="25" name="Text 22"/>
          <p:cNvSpPr/>
          <p:nvPr/>
        </p:nvSpPr>
        <p:spPr>
          <a:xfrm>
            <a:off x="1295400" y="6949232"/>
            <a:ext cx="16030575" cy="998041"/>
          </a:xfrm>
          <a:prstGeom prst="rect">
            <a:avLst/>
          </a:prstGeom>
          <a:noFill/>
          <a:ln/>
        </p:spPr>
        <p:txBody>
          <a:bodyPr wrap="square" lIns="25400" tIns="25400" rIns="25400" bIns="25400" rtlCol="0" anchor="t">
            <a:normAutofit/>
          </a:bodyPr>
          <a:lstStyle/>
          <a:p>
            <a:pPr marL="0" indent="0" algn="l">
              <a:lnSpc>
                <a:spcPct val="140000"/>
              </a:lnSpc>
              <a:buNone/>
            </a:pPr>
            <a:r>
              <a:rPr lang="en-US" sz="2700" i="1" dirty="0">
                <a:solidFill>
                  <a:srgbClr val="171717"/>
                </a:solidFill>
                <a:latin typeface="Arial" pitchFamily="34" charset="0"/>
                <a:ea typeface="Arial" pitchFamily="34" charset="-122"/>
                <a:cs typeface="Arial" pitchFamily="34" charset="-120"/>
              </a:rPr>
              <a:t>Without the commitment, engineers type code when it's faster and the team drifts back to augmented. The hard commit is what forces us to find exactly where the agent falls short, and invest there.</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§05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THE FRONTIER HAS MOVED</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06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EXTERNAL SIGNAL</a:t>
            </a:r>
            <a:endParaRPr lang="en-US" sz="2100" dirty="0"/>
          </a:p>
        </p:txBody>
      </p:sp>
      <p:sp>
        <p:nvSpPr>
          <p:cNvPr id="10" name="Text 7"/>
          <p:cNvSpPr/>
          <p:nvPr/>
        </p:nvSpPr>
        <p:spPr>
          <a:xfrm>
            <a:off x="952500" y="2105025"/>
            <a:ext cx="16678275" cy="1318022"/>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171717"/>
                </a:solidFill>
                <a:latin typeface="Arial" pitchFamily="34" charset="0"/>
                <a:ea typeface="Arial" pitchFamily="34" charset="-122"/>
                <a:cs typeface="Arial" pitchFamily="34" charset="-120"/>
              </a:rPr>
              <a:t>Three serious organizations. Converging vocabulary. An </a:t>
            </a:r>
            <a:r>
              <a:rPr lang="en-US" sz="4800" b="1" kern="0" spc="-112" dirty="0">
                <a:solidFill>
                  <a:srgbClr val="2563EB"/>
                </a:solidFill>
                <a:latin typeface="Arial" pitchFamily="34" charset="0"/>
                <a:ea typeface="Arial" pitchFamily="34" charset="-122"/>
                <a:cs typeface="Arial" pitchFamily="34" charset="-120"/>
              </a:rPr>
              <a:t>8-week window</a:t>
            </a:r>
            <a:r>
              <a:rPr lang="en-US" sz="4800" b="1" kern="0" spc="-112" dirty="0">
                <a:solidFill>
                  <a:srgbClr val="171717"/>
                </a:solidFill>
                <a:latin typeface="Arial" pitchFamily="34" charset="0"/>
                <a:ea typeface="Arial" pitchFamily="34" charset="-122"/>
                <a:cs typeface="Arial" pitchFamily="34" charset="-120"/>
              </a:rPr>
              <a:t>.</a:t>
            </a:r>
            <a:endParaRPr lang="en-US" sz="4800" dirty="0"/>
          </a:p>
        </p:txBody>
      </p:sp>
      <p:sp>
        <p:nvSpPr>
          <p:cNvPr id="11" name="Shape 8"/>
          <p:cNvSpPr/>
          <p:nvPr/>
        </p:nvSpPr>
        <p:spPr>
          <a:xfrm>
            <a:off x="952500" y="3918347"/>
            <a:ext cx="5257800" cy="4514850"/>
          </a:xfrm>
          <a:prstGeom prst="rect">
            <a:avLst/>
          </a:prstGeom>
          <a:solidFill>
            <a:srgbClr val="FFFFFF"/>
          </a:solidFill>
          <a:ln w="19050">
            <a:solidFill>
              <a:srgbClr val="171717"/>
            </a:solidFill>
            <a:prstDash val="solid"/>
          </a:ln>
        </p:spPr>
        <p:txBody>
          <a:bodyPr/>
          <a:lstStyle/>
          <a:p>
            <a:endParaRPr lang="en-IL"/>
          </a:p>
        </p:txBody>
      </p:sp>
      <p:sp>
        <p:nvSpPr>
          <p:cNvPr id="12" name="Text 9"/>
          <p:cNvSpPr/>
          <p:nvPr/>
        </p:nvSpPr>
        <p:spPr>
          <a:xfrm>
            <a:off x="1257300" y="4185047"/>
            <a:ext cx="4787646" cy="33337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6B7280"/>
                </a:solidFill>
                <a:latin typeface="Courier New" pitchFamily="34" charset="0"/>
                <a:ea typeface="Courier New" pitchFamily="34" charset="-122"/>
                <a:cs typeface="Courier New" pitchFamily="34" charset="-120"/>
              </a:rPr>
              <a:t>PRODUCT</a:t>
            </a:r>
            <a:endParaRPr lang="en-US" sz="2100" dirty="0"/>
          </a:p>
        </p:txBody>
      </p:sp>
      <p:sp>
        <p:nvSpPr>
          <p:cNvPr id="13" name="Text 10"/>
          <p:cNvSpPr/>
          <p:nvPr/>
        </p:nvSpPr>
        <p:spPr>
          <a:xfrm>
            <a:off x="1257300" y="4537472"/>
            <a:ext cx="4787646"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OpenAI</a:t>
            </a:r>
            <a:endParaRPr lang="en-US" sz="3300" dirty="0"/>
          </a:p>
        </p:txBody>
      </p:sp>
      <p:sp>
        <p:nvSpPr>
          <p:cNvPr id="14" name="Shape 11"/>
          <p:cNvSpPr/>
          <p:nvPr/>
        </p:nvSpPr>
        <p:spPr>
          <a:xfrm>
            <a:off x="1257300" y="5261372"/>
            <a:ext cx="4648200" cy="9525"/>
          </a:xfrm>
          <a:prstGeom prst="rect">
            <a:avLst/>
          </a:prstGeom>
          <a:solidFill>
            <a:srgbClr val="D4D4D0"/>
          </a:solidFill>
          <a:ln/>
        </p:spPr>
        <p:txBody>
          <a:bodyPr/>
          <a:lstStyle/>
          <a:p>
            <a:endParaRPr lang="en-IL"/>
          </a:p>
        </p:txBody>
      </p:sp>
      <p:sp>
        <p:nvSpPr>
          <p:cNvPr id="15" name="Shape 12"/>
          <p:cNvSpPr/>
          <p:nvPr/>
        </p:nvSpPr>
        <p:spPr>
          <a:xfrm>
            <a:off x="1257300" y="5890022"/>
            <a:ext cx="4648200" cy="9525"/>
          </a:xfrm>
          <a:prstGeom prst="rect">
            <a:avLst/>
          </a:prstGeom>
          <a:solidFill>
            <a:srgbClr val="E6E5E0"/>
          </a:solidFill>
          <a:ln/>
        </p:spPr>
        <p:txBody>
          <a:bodyPr/>
          <a:lstStyle/>
          <a:p>
            <a:endParaRPr lang="en-IL"/>
          </a:p>
        </p:txBody>
      </p:sp>
      <p:sp>
        <p:nvSpPr>
          <p:cNvPr id="16" name="Text 13"/>
          <p:cNvSpPr/>
          <p:nvPr/>
        </p:nvSpPr>
        <p:spPr>
          <a:xfrm>
            <a:off x="1257300" y="55280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0 1</a:t>
            </a:r>
            <a:endParaRPr lang="en-US" sz="1800" dirty="0"/>
          </a:p>
        </p:txBody>
      </p:sp>
      <p:sp>
        <p:nvSpPr>
          <p:cNvPr id="17" name="Text 14"/>
          <p:cNvSpPr/>
          <p:nvPr/>
        </p:nvSpPr>
        <p:spPr>
          <a:xfrm>
            <a:off x="1665089" y="5499497"/>
            <a:ext cx="2802502"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~1M lines of code</a:t>
            </a:r>
            <a:endParaRPr lang="en-US" sz="2100" dirty="0"/>
          </a:p>
        </p:txBody>
      </p:sp>
      <p:sp>
        <p:nvSpPr>
          <p:cNvPr id="18" name="Shape 15"/>
          <p:cNvSpPr/>
          <p:nvPr/>
        </p:nvSpPr>
        <p:spPr>
          <a:xfrm>
            <a:off x="1257300" y="6680597"/>
            <a:ext cx="4648200" cy="9525"/>
          </a:xfrm>
          <a:prstGeom prst="rect">
            <a:avLst/>
          </a:prstGeom>
          <a:solidFill>
            <a:srgbClr val="E6E5E0"/>
          </a:solidFill>
          <a:ln/>
        </p:spPr>
        <p:txBody>
          <a:bodyPr/>
          <a:lstStyle/>
          <a:p>
            <a:endParaRPr lang="en-IL"/>
          </a:p>
        </p:txBody>
      </p:sp>
      <p:sp>
        <p:nvSpPr>
          <p:cNvPr id="19" name="Text 16"/>
          <p:cNvSpPr/>
          <p:nvPr/>
        </p:nvSpPr>
        <p:spPr>
          <a:xfrm>
            <a:off x="1257300" y="6023372"/>
            <a:ext cx="34290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0 2</a:t>
            </a:r>
            <a:endParaRPr lang="en-US" sz="1800" dirty="0"/>
          </a:p>
        </p:txBody>
      </p:sp>
      <p:sp>
        <p:nvSpPr>
          <p:cNvPr id="20" name="Text 17"/>
          <p:cNvSpPr/>
          <p:nvPr/>
        </p:nvSpPr>
        <p:spPr>
          <a:xfrm>
            <a:off x="1657350" y="5994797"/>
            <a:ext cx="4375595" cy="628650"/>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5 months · 3 engineers (now 7)</a:t>
            </a:r>
            <a:endParaRPr lang="en-US" sz="2100" dirty="0"/>
          </a:p>
        </p:txBody>
      </p:sp>
      <p:sp>
        <p:nvSpPr>
          <p:cNvPr id="21" name="Shape 18"/>
          <p:cNvSpPr/>
          <p:nvPr/>
        </p:nvSpPr>
        <p:spPr>
          <a:xfrm>
            <a:off x="1257300" y="7175897"/>
            <a:ext cx="4648200" cy="9525"/>
          </a:xfrm>
          <a:prstGeom prst="rect">
            <a:avLst/>
          </a:prstGeom>
          <a:solidFill>
            <a:srgbClr val="E6E5E0"/>
          </a:solidFill>
          <a:ln/>
        </p:spPr>
        <p:txBody>
          <a:bodyPr/>
          <a:lstStyle/>
          <a:p>
            <a:endParaRPr lang="en-IL"/>
          </a:p>
        </p:txBody>
      </p:sp>
      <p:sp>
        <p:nvSpPr>
          <p:cNvPr id="22" name="Text 19"/>
          <p:cNvSpPr/>
          <p:nvPr/>
        </p:nvSpPr>
        <p:spPr>
          <a:xfrm>
            <a:off x="1257300" y="6813947"/>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0 3</a:t>
            </a:r>
            <a:endParaRPr lang="en-US" sz="1800" dirty="0"/>
          </a:p>
        </p:txBody>
      </p:sp>
      <p:sp>
        <p:nvSpPr>
          <p:cNvPr id="23" name="Text 20"/>
          <p:cNvSpPr/>
          <p:nvPr/>
        </p:nvSpPr>
        <p:spPr>
          <a:xfrm>
            <a:off x="1665089" y="6785372"/>
            <a:ext cx="3626758"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zero hand-written code</a:t>
            </a:r>
            <a:endParaRPr lang="en-US" sz="2100" dirty="0"/>
          </a:p>
        </p:txBody>
      </p:sp>
      <p:sp>
        <p:nvSpPr>
          <p:cNvPr id="24" name="Shape 21"/>
          <p:cNvSpPr/>
          <p:nvPr/>
        </p:nvSpPr>
        <p:spPr>
          <a:xfrm>
            <a:off x="1257300" y="7671197"/>
            <a:ext cx="4648200" cy="9525"/>
          </a:xfrm>
          <a:prstGeom prst="rect">
            <a:avLst/>
          </a:prstGeom>
          <a:solidFill>
            <a:srgbClr val="E6E5E0"/>
          </a:solidFill>
          <a:ln/>
        </p:spPr>
        <p:txBody>
          <a:bodyPr/>
          <a:lstStyle/>
          <a:p>
            <a:endParaRPr lang="en-IL"/>
          </a:p>
        </p:txBody>
      </p:sp>
      <p:sp>
        <p:nvSpPr>
          <p:cNvPr id="25" name="Text 22"/>
          <p:cNvSpPr/>
          <p:nvPr/>
        </p:nvSpPr>
        <p:spPr>
          <a:xfrm>
            <a:off x="1257300" y="7309247"/>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0 4</a:t>
            </a:r>
            <a:endParaRPr lang="en-US" sz="1800" dirty="0"/>
          </a:p>
        </p:txBody>
      </p:sp>
      <p:sp>
        <p:nvSpPr>
          <p:cNvPr id="26" name="Text 23"/>
          <p:cNvSpPr/>
          <p:nvPr/>
        </p:nvSpPr>
        <p:spPr>
          <a:xfrm>
            <a:off x="1665089" y="7280672"/>
            <a:ext cx="2967292"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~1,500 PRs shipped</a:t>
            </a:r>
            <a:endParaRPr lang="en-US" sz="2100" dirty="0"/>
          </a:p>
        </p:txBody>
      </p:sp>
      <p:sp>
        <p:nvSpPr>
          <p:cNvPr id="27" name="Text 24"/>
          <p:cNvSpPr/>
          <p:nvPr/>
        </p:nvSpPr>
        <p:spPr>
          <a:xfrm>
            <a:off x="1257300" y="7804547"/>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0 5</a:t>
            </a:r>
            <a:endParaRPr lang="en-US" sz="1800" dirty="0"/>
          </a:p>
        </p:txBody>
      </p:sp>
      <p:sp>
        <p:nvSpPr>
          <p:cNvPr id="28" name="Text 25"/>
          <p:cNvSpPr/>
          <p:nvPr/>
        </p:nvSpPr>
        <p:spPr>
          <a:xfrm>
            <a:off x="1665089" y="7775972"/>
            <a:ext cx="3956338"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3.5 PRs / engineer / day</a:t>
            </a:r>
            <a:endParaRPr lang="en-US" sz="2100" dirty="0"/>
          </a:p>
        </p:txBody>
      </p:sp>
      <p:sp>
        <p:nvSpPr>
          <p:cNvPr id="29" name="Shape 26"/>
          <p:cNvSpPr/>
          <p:nvPr/>
        </p:nvSpPr>
        <p:spPr>
          <a:xfrm>
            <a:off x="6515100" y="3918347"/>
            <a:ext cx="5257800" cy="4514850"/>
          </a:xfrm>
          <a:prstGeom prst="rect">
            <a:avLst/>
          </a:prstGeom>
          <a:solidFill>
            <a:srgbClr val="FFFFFF"/>
          </a:solidFill>
          <a:ln w="19050">
            <a:solidFill>
              <a:srgbClr val="171717"/>
            </a:solidFill>
            <a:prstDash val="solid"/>
          </a:ln>
        </p:spPr>
        <p:txBody>
          <a:bodyPr/>
          <a:lstStyle/>
          <a:p>
            <a:endParaRPr lang="en-IL"/>
          </a:p>
        </p:txBody>
      </p:sp>
      <p:sp>
        <p:nvSpPr>
          <p:cNvPr id="30" name="Text 27"/>
          <p:cNvSpPr/>
          <p:nvPr/>
        </p:nvSpPr>
        <p:spPr>
          <a:xfrm>
            <a:off x="6819900" y="4185047"/>
            <a:ext cx="4787646" cy="33337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6B7280"/>
                </a:solidFill>
                <a:latin typeface="Courier New" pitchFamily="34" charset="0"/>
                <a:ea typeface="Courier New" pitchFamily="34" charset="-122"/>
                <a:cs typeface="Courier New" pitchFamily="34" charset="-120"/>
              </a:rPr>
              <a:t>PATTERNS</a:t>
            </a:r>
            <a:endParaRPr lang="en-US" sz="2100" dirty="0"/>
          </a:p>
        </p:txBody>
      </p:sp>
      <p:sp>
        <p:nvSpPr>
          <p:cNvPr id="31" name="Text 28"/>
          <p:cNvSpPr/>
          <p:nvPr/>
        </p:nvSpPr>
        <p:spPr>
          <a:xfrm>
            <a:off x="6819900" y="4537472"/>
            <a:ext cx="4787646"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Anthropic</a:t>
            </a:r>
            <a:endParaRPr lang="en-US" sz="3300" dirty="0"/>
          </a:p>
        </p:txBody>
      </p:sp>
      <p:sp>
        <p:nvSpPr>
          <p:cNvPr id="32" name="Shape 29"/>
          <p:cNvSpPr/>
          <p:nvPr/>
        </p:nvSpPr>
        <p:spPr>
          <a:xfrm>
            <a:off x="6819900" y="5261372"/>
            <a:ext cx="4648200" cy="9525"/>
          </a:xfrm>
          <a:prstGeom prst="rect">
            <a:avLst/>
          </a:prstGeom>
          <a:solidFill>
            <a:srgbClr val="D4D4D0"/>
          </a:solidFill>
          <a:ln/>
        </p:spPr>
        <p:txBody>
          <a:bodyPr/>
          <a:lstStyle/>
          <a:p>
            <a:endParaRPr lang="en-IL"/>
          </a:p>
        </p:txBody>
      </p:sp>
      <p:sp>
        <p:nvSpPr>
          <p:cNvPr id="33" name="Shape 30"/>
          <p:cNvSpPr/>
          <p:nvPr/>
        </p:nvSpPr>
        <p:spPr>
          <a:xfrm>
            <a:off x="6819900" y="5890022"/>
            <a:ext cx="4648200" cy="9525"/>
          </a:xfrm>
          <a:prstGeom prst="rect">
            <a:avLst/>
          </a:prstGeom>
          <a:solidFill>
            <a:srgbClr val="E6E5E0"/>
          </a:solidFill>
          <a:ln/>
        </p:spPr>
        <p:txBody>
          <a:bodyPr/>
          <a:lstStyle/>
          <a:p>
            <a:endParaRPr lang="en-IL"/>
          </a:p>
        </p:txBody>
      </p:sp>
      <p:sp>
        <p:nvSpPr>
          <p:cNvPr id="34" name="Text 31"/>
          <p:cNvSpPr/>
          <p:nvPr/>
        </p:nvSpPr>
        <p:spPr>
          <a:xfrm>
            <a:off x="6819900" y="55280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0 1</a:t>
            </a:r>
            <a:endParaRPr lang="en-US" sz="1800" dirty="0"/>
          </a:p>
        </p:txBody>
      </p:sp>
      <p:sp>
        <p:nvSpPr>
          <p:cNvPr id="35" name="Text 32"/>
          <p:cNvSpPr/>
          <p:nvPr/>
        </p:nvSpPr>
        <p:spPr>
          <a:xfrm>
            <a:off x="7227689" y="5499497"/>
            <a:ext cx="2156817"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planner agent</a:t>
            </a:r>
            <a:endParaRPr lang="en-US" sz="2100" dirty="0"/>
          </a:p>
        </p:txBody>
      </p:sp>
      <p:sp>
        <p:nvSpPr>
          <p:cNvPr id="36" name="Shape 33"/>
          <p:cNvSpPr/>
          <p:nvPr/>
        </p:nvSpPr>
        <p:spPr>
          <a:xfrm>
            <a:off x="6819900" y="6385322"/>
            <a:ext cx="4648200" cy="9525"/>
          </a:xfrm>
          <a:prstGeom prst="rect">
            <a:avLst/>
          </a:prstGeom>
          <a:solidFill>
            <a:srgbClr val="E6E5E0"/>
          </a:solidFill>
          <a:ln/>
        </p:spPr>
        <p:txBody>
          <a:bodyPr/>
          <a:lstStyle/>
          <a:p>
            <a:endParaRPr lang="en-IL"/>
          </a:p>
        </p:txBody>
      </p:sp>
      <p:sp>
        <p:nvSpPr>
          <p:cNvPr id="37" name="Text 34"/>
          <p:cNvSpPr/>
          <p:nvPr/>
        </p:nvSpPr>
        <p:spPr>
          <a:xfrm>
            <a:off x="6819900" y="60233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0 2</a:t>
            </a:r>
            <a:endParaRPr lang="en-US" sz="1800" dirty="0"/>
          </a:p>
        </p:txBody>
      </p:sp>
      <p:sp>
        <p:nvSpPr>
          <p:cNvPr id="38" name="Text 35"/>
          <p:cNvSpPr/>
          <p:nvPr/>
        </p:nvSpPr>
        <p:spPr>
          <a:xfrm>
            <a:off x="7227689" y="5994797"/>
            <a:ext cx="2476946"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generator agent</a:t>
            </a:r>
            <a:endParaRPr lang="en-US" sz="2100" dirty="0"/>
          </a:p>
        </p:txBody>
      </p:sp>
      <p:sp>
        <p:nvSpPr>
          <p:cNvPr id="39" name="Shape 36"/>
          <p:cNvSpPr/>
          <p:nvPr/>
        </p:nvSpPr>
        <p:spPr>
          <a:xfrm>
            <a:off x="6819900" y="6880622"/>
            <a:ext cx="4648200" cy="9525"/>
          </a:xfrm>
          <a:prstGeom prst="rect">
            <a:avLst/>
          </a:prstGeom>
          <a:solidFill>
            <a:srgbClr val="E6E5E0"/>
          </a:solidFill>
          <a:ln/>
        </p:spPr>
        <p:txBody>
          <a:bodyPr/>
          <a:lstStyle/>
          <a:p>
            <a:endParaRPr lang="en-IL"/>
          </a:p>
        </p:txBody>
      </p:sp>
      <p:sp>
        <p:nvSpPr>
          <p:cNvPr id="40" name="Text 37"/>
          <p:cNvSpPr/>
          <p:nvPr/>
        </p:nvSpPr>
        <p:spPr>
          <a:xfrm>
            <a:off x="6819900" y="65186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0 3</a:t>
            </a:r>
            <a:endParaRPr lang="en-US" sz="1800" dirty="0"/>
          </a:p>
        </p:txBody>
      </p:sp>
      <p:sp>
        <p:nvSpPr>
          <p:cNvPr id="41" name="Text 38"/>
          <p:cNvSpPr/>
          <p:nvPr/>
        </p:nvSpPr>
        <p:spPr>
          <a:xfrm>
            <a:off x="7227689" y="6490097"/>
            <a:ext cx="2476946"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evaluator agent</a:t>
            </a:r>
            <a:endParaRPr lang="en-US" sz="2100" dirty="0"/>
          </a:p>
        </p:txBody>
      </p:sp>
      <p:sp>
        <p:nvSpPr>
          <p:cNvPr id="42" name="Shape 39"/>
          <p:cNvSpPr/>
          <p:nvPr/>
        </p:nvSpPr>
        <p:spPr>
          <a:xfrm>
            <a:off x="6819900" y="7375922"/>
            <a:ext cx="4648200" cy="9525"/>
          </a:xfrm>
          <a:prstGeom prst="rect">
            <a:avLst/>
          </a:prstGeom>
          <a:solidFill>
            <a:srgbClr val="E6E5E0"/>
          </a:solidFill>
          <a:ln/>
        </p:spPr>
        <p:txBody>
          <a:bodyPr/>
          <a:lstStyle/>
          <a:p>
            <a:endParaRPr lang="en-IL"/>
          </a:p>
        </p:txBody>
      </p:sp>
      <p:sp>
        <p:nvSpPr>
          <p:cNvPr id="43" name="Text 40"/>
          <p:cNvSpPr/>
          <p:nvPr/>
        </p:nvSpPr>
        <p:spPr>
          <a:xfrm>
            <a:off x="6819900" y="70139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0 4</a:t>
            </a:r>
            <a:endParaRPr lang="en-US" sz="1800" dirty="0"/>
          </a:p>
        </p:txBody>
      </p:sp>
      <p:sp>
        <p:nvSpPr>
          <p:cNvPr id="44" name="Text 41"/>
          <p:cNvSpPr/>
          <p:nvPr/>
        </p:nvSpPr>
        <p:spPr>
          <a:xfrm>
            <a:off x="7227689" y="6985397"/>
            <a:ext cx="2637559"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sprint contracts</a:t>
            </a:r>
            <a:endParaRPr lang="en-US" sz="2100" dirty="0"/>
          </a:p>
        </p:txBody>
      </p:sp>
      <p:sp>
        <p:nvSpPr>
          <p:cNvPr id="45" name="Text 42"/>
          <p:cNvSpPr/>
          <p:nvPr/>
        </p:nvSpPr>
        <p:spPr>
          <a:xfrm>
            <a:off x="6819900" y="7509272"/>
            <a:ext cx="342900"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0 5</a:t>
            </a:r>
            <a:endParaRPr lang="en-US" sz="1800" dirty="0"/>
          </a:p>
        </p:txBody>
      </p:sp>
      <p:sp>
        <p:nvSpPr>
          <p:cNvPr id="46" name="Text 43"/>
          <p:cNvSpPr/>
          <p:nvPr/>
        </p:nvSpPr>
        <p:spPr>
          <a:xfrm>
            <a:off x="7219950" y="7480697"/>
            <a:ext cx="4375595" cy="628650"/>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strip complexity as models improve</a:t>
            </a:r>
            <a:endParaRPr lang="en-US" sz="2100" dirty="0"/>
          </a:p>
        </p:txBody>
      </p:sp>
      <p:sp>
        <p:nvSpPr>
          <p:cNvPr id="47" name="Shape 44"/>
          <p:cNvSpPr/>
          <p:nvPr/>
        </p:nvSpPr>
        <p:spPr>
          <a:xfrm>
            <a:off x="12077700" y="3918347"/>
            <a:ext cx="5257800" cy="4514850"/>
          </a:xfrm>
          <a:prstGeom prst="rect">
            <a:avLst/>
          </a:prstGeom>
          <a:solidFill>
            <a:srgbClr val="FFFFFF"/>
          </a:solidFill>
          <a:ln w="19050">
            <a:solidFill>
              <a:srgbClr val="171717"/>
            </a:solidFill>
            <a:prstDash val="solid"/>
          </a:ln>
        </p:spPr>
        <p:txBody>
          <a:bodyPr/>
          <a:lstStyle/>
          <a:p>
            <a:endParaRPr lang="en-IL"/>
          </a:p>
        </p:txBody>
      </p:sp>
      <p:sp>
        <p:nvSpPr>
          <p:cNvPr id="48" name="Text 45"/>
          <p:cNvSpPr/>
          <p:nvPr/>
        </p:nvSpPr>
        <p:spPr>
          <a:xfrm>
            <a:off x="12382500" y="4185047"/>
            <a:ext cx="4787646" cy="33337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6B7280"/>
                </a:solidFill>
                <a:latin typeface="Courier New" pitchFamily="34" charset="0"/>
                <a:ea typeface="Courier New" pitchFamily="34" charset="-122"/>
                <a:cs typeface="Courier New" pitchFamily="34" charset="-120"/>
              </a:rPr>
              <a:t>VOCABULARY</a:t>
            </a:r>
            <a:endParaRPr lang="en-US" sz="2100" dirty="0"/>
          </a:p>
        </p:txBody>
      </p:sp>
      <p:sp>
        <p:nvSpPr>
          <p:cNvPr id="49" name="Text 46"/>
          <p:cNvSpPr/>
          <p:nvPr/>
        </p:nvSpPr>
        <p:spPr>
          <a:xfrm>
            <a:off x="12382500" y="4537472"/>
            <a:ext cx="4787646" cy="552450"/>
          </a:xfrm>
          <a:prstGeom prst="rect">
            <a:avLst/>
          </a:prstGeom>
          <a:noFill/>
          <a:ln/>
        </p:spPr>
        <p:txBody>
          <a:bodyPr wrap="square" lIns="25400" tIns="25400" rIns="25400" bIns="25400" rtlCol="0" anchor="t">
            <a:normAutofit/>
          </a:bodyPr>
          <a:lstStyle/>
          <a:p>
            <a:pPr marL="0" indent="0" algn="l">
              <a:buNone/>
            </a:pPr>
            <a:r>
              <a:rPr lang="en-US" sz="3300" b="1" dirty="0">
                <a:solidFill>
                  <a:srgbClr val="171717"/>
                </a:solidFill>
                <a:latin typeface="Arial" pitchFamily="34" charset="0"/>
                <a:ea typeface="Arial" pitchFamily="34" charset="-122"/>
                <a:cs typeface="Arial" pitchFamily="34" charset="-120"/>
              </a:rPr>
              <a:t>Thoughtworks</a:t>
            </a:r>
            <a:endParaRPr lang="en-US" sz="3300" dirty="0"/>
          </a:p>
        </p:txBody>
      </p:sp>
      <p:sp>
        <p:nvSpPr>
          <p:cNvPr id="50" name="Shape 47"/>
          <p:cNvSpPr/>
          <p:nvPr/>
        </p:nvSpPr>
        <p:spPr>
          <a:xfrm>
            <a:off x="12382500" y="5261372"/>
            <a:ext cx="4648200" cy="9525"/>
          </a:xfrm>
          <a:prstGeom prst="rect">
            <a:avLst/>
          </a:prstGeom>
          <a:solidFill>
            <a:srgbClr val="D4D4D0"/>
          </a:solidFill>
          <a:ln/>
        </p:spPr>
        <p:txBody>
          <a:bodyPr/>
          <a:lstStyle/>
          <a:p>
            <a:endParaRPr lang="en-IL"/>
          </a:p>
        </p:txBody>
      </p:sp>
      <p:sp>
        <p:nvSpPr>
          <p:cNvPr id="51" name="Shape 48"/>
          <p:cNvSpPr/>
          <p:nvPr/>
        </p:nvSpPr>
        <p:spPr>
          <a:xfrm>
            <a:off x="12382500" y="5890022"/>
            <a:ext cx="4648200" cy="9525"/>
          </a:xfrm>
          <a:prstGeom prst="rect">
            <a:avLst/>
          </a:prstGeom>
          <a:solidFill>
            <a:srgbClr val="E6E5E0"/>
          </a:solidFill>
          <a:ln/>
        </p:spPr>
        <p:txBody>
          <a:bodyPr/>
          <a:lstStyle/>
          <a:p>
            <a:endParaRPr lang="en-IL"/>
          </a:p>
        </p:txBody>
      </p:sp>
      <p:sp>
        <p:nvSpPr>
          <p:cNvPr id="52" name="Text 49"/>
          <p:cNvSpPr/>
          <p:nvPr/>
        </p:nvSpPr>
        <p:spPr>
          <a:xfrm>
            <a:off x="12382500" y="55280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0 1</a:t>
            </a:r>
            <a:endParaRPr lang="en-US" sz="1800" dirty="0"/>
          </a:p>
        </p:txBody>
      </p:sp>
      <p:sp>
        <p:nvSpPr>
          <p:cNvPr id="53" name="Text 50"/>
          <p:cNvSpPr/>
          <p:nvPr/>
        </p:nvSpPr>
        <p:spPr>
          <a:xfrm>
            <a:off x="12790289" y="5499497"/>
            <a:ext cx="2637559"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guides (prevent)</a:t>
            </a:r>
            <a:endParaRPr lang="en-US" sz="2100" dirty="0"/>
          </a:p>
        </p:txBody>
      </p:sp>
      <p:sp>
        <p:nvSpPr>
          <p:cNvPr id="54" name="Shape 51"/>
          <p:cNvSpPr/>
          <p:nvPr/>
        </p:nvSpPr>
        <p:spPr>
          <a:xfrm>
            <a:off x="12382500" y="6385322"/>
            <a:ext cx="4648200" cy="9525"/>
          </a:xfrm>
          <a:prstGeom prst="rect">
            <a:avLst/>
          </a:prstGeom>
          <a:solidFill>
            <a:srgbClr val="E6E5E0"/>
          </a:solidFill>
          <a:ln/>
        </p:spPr>
        <p:txBody>
          <a:bodyPr/>
          <a:lstStyle/>
          <a:p>
            <a:endParaRPr lang="en-IL"/>
          </a:p>
        </p:txBody>
      </p:sp>
      <p:sp>
        <p:nvSpPr>
          <p:cNvPr id="55" name="Text 52"/>
          <p:cNvSpPr/>
          <p:nvPr/>
        </p:nvSpPr>
        <p:spPr>
          <a:xfrm>
            <a:off x="12382500" y="60233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0 2</a:t>
            </a:r>
            <a:endParaRPr lang="en-US" sz="1800" dirty="0"/>
          </a:p>
        </p:txBody>
      </p:sp>
      <p:sp>
        <p:nvSpPr>
          <p:cNvPr id="56" name="Text 53"/>
          <p:cNvSpPr/>
          <p:nvPr/>
        </p:nvSpPr>
        <p:spPr>
          <a:xfrm>
            <a:off x="12790289" y="5994797"/>
            <a:ext cx="2637559"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sensors (detect)</a:t>
            </a:r>
            <a:endParaRPr lang="en-US" sz="2100" dirty="0"/>
          </a:p>
        </p:txBody>
      </p:sp>
      <p:sp>
        <p:nvSpPr>
          <p:cNvPr id="57" name="Shape 54"/>
          <p:cNvSpPr/>
          <p:nvPr/>
        </p:nvSpPr>
        <p:spPr>
          <a:xfrm>
            <a:off x="12382500" y="6880622"/>
            <a:ext cx="4648200" cy="9525"/>
          </a:xfrm>
          <a:prstGeom prst="rect">
            <a:avLst/>
          </a:prstGeom>
          <a:solidFill>
            <a:srgbClr val="E6E5E0"/>
          </a:solidFill>
          <a:ln/>
        </p:spPr>
        <p:txBody>
          <a:bodyPr/>
          <a:lstStyle/>
          <a:p>
            <a:endParaRPr lang="en-IL"/>
          </a:p>
        </p:txBody>
      </p:sp>
      <p:sp>
        <p:nvSpPr>
          <p:cNvPr id="58" name="Text 55"/>
          <p:cNvSpPr/>
          <p:nvPr/>
        </p:nvSpPr>
        <p:spPr>
          <a:xfrm>
            <a:off x="12382500" y="65186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0 3</a:t>
            </a:r>
            <a:endParaRPr lang="en-US" sz="1800" dirty="0"/>
          </a:p>
        </p:txBody>
      </p:sp>
      <p:sp>
        <p:nvSpPr>
          <p:cNvPr id="59" name="Text 56"/>
          <p:cNvSpPr/>
          <p:nvPr/>
        </p:nvSpPr>
        <p:spPr>
          <a:xfrm>
            <a:off x="12790289" y="6490097"/>
            <a:ext cx="3132235"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runtime constraints</a:t>
            </a:r>
            <a:endParaRPr lang="en-US" sz="2100" dirty="0"/>
          </a:p>
        </p:txBody>
      </p:sp>
      <p:sp>
        <p:nvSpPr>
          <p:cNvPr id="60" name="Shape 57"/>
          <p:cNvSpPr/>
          <p:nvPr/>
        </p:nvSpPr>
        <p:spPr>
          <a:xfrm>
            <a:off x="12382500" y="7375922"/>
            <a:ext cx="4648200" cy="9525"/>
          </a:xfrm>
          <a:prstGeom prst="rect">
            <a:avLst/>
          </a:prstGeom>
          <a:solidFill>
            <a:srgbClr val="E6E5E0"/>
          </a:solidFill>
          <a:ln/>
        </p:spPr>
        <p:txBody>
          <a:bodyPr/>
          <a:lstStyle/>
          <a:p>
            <a:endParaRPr lang="en-IL"/>
          </a:p>
        </p:txBody>
      </p:sp>
      <p:sp>
        <p:nvSpPr>
          <p:cNvPr id="61" name="Text 58"/>
          <p:cNvSpPr/>
          <p:nvPr/>
        </p:nvSpPr>
        <p:spPr>
          <a:xfrm>
            <a:off x="12382500" y="70139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0 4</a:t>
            </a:r>
            <a:endParaRPr lang="en-US" sz="1800" dirty="0"/>
          </a:p>
        </p:txBody>
      </p:sp>
      <p:sp>
        <p:nvSpPr>
          <p:cNvPr id="62" name="Text 59"/>
          <p:cNvSpPr/>
          <p:nvPr/>
        </p:nvSpPr>
        <p:spPr>
          <a:xfrm>
            <a:off x="12790289" y="6985397"/>
            <a:ext cx="1196578"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harness</a:t>
            </a:r>
            <a:endParaRPr lang="en-US" sz="2100" dirty="0"/>
          </a:p>
        </p:txBody>
      </p:sp>
      <p:sp>
        <p:nvSpPr>
          <p:cNvPr id="63" name="Text 60"/>
          <p:cNvSpPr/>
          <p:nvPr/>
        </p:nvSpPr>
        <p:spPr>
          <a:xfrm>
            <a:off x="12382500" y="7509272"/>
            <a:ext cx="350639" cy="2952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Courier New" pitchFamily="34" charset="0"/>
                <a:ea typeface="Courier New" pitchFamily="34" charset="-122"/>
                <a:cs typeface="Courier New" pitchFamily="34" charset="-120"/>
              </a:rPr>
              <a:t>0 5</a:t>
            </a:r>
            <a:endParaRPr lang="en-US" sz="1800" dirty="0"/>
          </a:p>
        </p:txBody>
      </p:sp>
      <p:sp>
        <p:nvSpPr>
          <p:cNvPr id="64" name="Text 61"/>
          <p:cNvSpPr/>
          <p:nvPr/>
        </p:nvSpPr>
        <p:spPr>
          <a:xfrm>
            <a:off x="12790289" y="7480697"/>
            <a:ext cx="4121281" cy="333375"/>
          </a:xfrm>
          <a:prstGeom prst="rect">
            <a:avLst/>
          </a:prstGeom>
          <a:noFill/>
          <a:ln/>
        </p:spPr>
        <p:txBody>
          <a:bodyPr wrap="square" lIns="25400" tIns="25400" rIns="25400" bIns="25400" rtlCol="0" anchor="t">
            <a:normAutofit/>
          </a:bodyPr>
          <a:lstStyle/>
          <a:p>
            <a:pPr marL="0" indent="0" algn="l">
              <a:buNone/>
            </a:pPr>
            <a:r>
              <a:rPr lang="en-US" sz="2100" dirty="0">
                <a:solidFill>
                  <a:srgbClr val="171717"/>
                </a:solidFill>
                <a:latin typeface="Courier New" pitchFamily="34" charset="0"/>
                <a:ea typeface="Courier New" pitchFamily="34" charset="-122"/>
                <a:cs typeface="Courier New" pitchFamily="34" charset="-120"/>
              </a:rPr>
              <a:t>next-gen service template</a:t>
            </a:r>
            <a:endParaRPr lang="en-US" sz="2100" dirty="0"/>
          </a:p>
        </p:txBody>
      </p:sp>
      <p:sp>
        <p:nvSpPr>
          <p:cNvPr id="65" name="Shape 62"/>
          <p:cNvSpPr/>
          <p:nvPr/>
        </p:nvSpPr>
        <p:spPr>
          <a:xfrm>
            <a:off x="952500" y="8737997"/>
            <a:ext cx="16383000" cy="676275"/>
          </a:xfrm>
          <a:prstGeom prst="rect">
            <a:avLst/>
          </a:prstGeom>
          <a:solidFill>
            <a:srgbClr val="171717"/>
          </a:solidFill>
          <a:ln/>
        </p:spPr>
        <p:txBody>
          <a:bodyPr/>
          <a:lstStyle/>
          <a:p>
            <a:endParaRPr lang="en-IL"/>
          </a:p>
        </p:txBody>
      </p:sp>
      <p:sp>
        <p:nvSpPr>
          <p:cNvPr id="66" name="Text 63"/>
          <p:cNvSpPr/>
          <p:nvPr/>
        </p:nvSpPr>
        <p:spPr>
          <a:xfrm>
            <a:off x="1219200" y="8928497"/>
            <a:ext cx="2168277" cy="333375"/>
          </a:xfrm>
          <a:prstGeom prst="rect">
            <a:avLst/>
          </a:prstGeom>
          <a:noFill/>
          <a:ln/>
        </p:spPr>
        <p:txBody>
          <a:bodyPr wrap="square" lIns="25400" tIns="25400" rIns="25400" bIns="25400" rtlCol="0" anchor="t">
            <a:normAutofit/>
          </a:bodyPr>
          <a:lstStyle/>
          <a:p>
            <a:pPr marL="0" indent="0" algn="l">
              <a:buNone/>
            </a:pPr>
            <a:r>
              <a:rPr lang="en-US" sz="2100" kern="0" spc="113" dirty="0">
                <a:solidFill>
                  <a:srgbClr val="FAFAF7"/>
                </a:solidFill>
                <a:latin typeface="Courier New" pitchFamily="34" charset="0"/>
                <a:ea typeface="Courier New" pitchFamily="34" charset="-122"/>
                <a:cs typeface="Courier New" pitchFamily="34" charset="-120"/>
              </a:rPr>
              <a:t>CONVERGES ON</a:t>
            </a:r>
            <a:endParaRPr lang="en-US" sz="2100" dirty="0"/>
          </a:p>
        </p:txBody>
      </p:sp>
      <p:sp>
        <p:nvSpPr>
          <p:cNvPr id="67" name="Text 64"/>
          <p:cNvSpPr/>
          <p:nvPr/>
        </p:nvSpPr>
        <p:spPr>
          <a:xfrm>
            <a:off x="3391049" y="8928497"/>
            <a:ext cx="10773890" cy="333375"/>
          </a:xfrm>
          <a:prstGeom prst="rect">
            <a:avLst/>
          </a:prstGeom>
          <a:noFill/>
          <a:ln/>
        </p:spPr>
        <p:txBody>
          <a:bodyPr wrap="square" lIns="25400" tIns="25400" rIns="25400" bIns="25400" rtlCol="0" anchor="t">
            <a:normAutofit/>
          </a:bodyPr>
          <a:lstStyle/>
          <a:p>
            <a:pPr marL="0" indent="0" algn="l">
              <a:buNone/>
            </a:pPr>
            <a:r>
              <a:rPr lang="en-US" sz="2100" kern="0" spc="113" dirty="0">
                <a:solidFill>
                  <a:srgbClr val="9EFF6E"/>
                </a:solidFill>
                <a:latin typeface="Courier New" pitchFamily="34" charset="0"/>
                <a:ea typeface="Courier New" pitchFamily="34" charset="-122"/>
                <a:cs typeface="Courier New" pitchFamily="34" charset="-120"/>
              </a:rPr>
              <a:t>planner · generator · evaluator · guides · sensors · harness</a:t>
            </a:r>
            <a:endParaRPr lang="en-US" sz="2100" dirty="0"/>
          </a:p>
        </p:txBody>
      </p:sp>
      <p:sp>
        <p:nvSpPr>
          <p:cNvPr id="68" name="Text 65"/>
          <p:cNvSpPr/>
          <p:nvPr/>
        </p:nvSpPr>
        <p:spPr>
          <a:xfrm>
            <a:off x="13930759" y="8928497"/>
            <a:ext cx="3232182" cy="333375"/>
          </a:xfrm>
          <a:prstGeom prst="rect">
            <a:avLst/>
          </a:prstGeom>
          <a:noFill/>
          <a:ln/>
        </p:spPr>
        <p:txBody>
          <a:bodyPr wrap="square" lIns="25400" tIns="25400" rIns="25400" bIns="25400" rtlCol="0" anchor="t">
            <a:normAutofit/>
          </a:bodyPr>
          <a:lstStyle/>
          <a:p>
            <a:pPr marL="0" indent="0" algn="l">
              <a:buNone/>
            </a:pPr>
            <a:r>
              <a:rPr lang="en-US" sz="2100" kern="0" spc="113" dirty="0">
                <a:solidFill>
                  <a:srgbClr val="FAFAF7"/>
                </a:solidFill>
                <a:latin typeface="Courier New" pitchFamily="34" charset="0"/>
                <a:ea typeface="Courier New" pitchFamily="34" charset="-122"/>
                <a:cs typeface="Courier New" pitchFamily="34" charset="-120"/>
              </a:rPr>
              <a:t>PATTERN · NOT HYPE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§06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WHY AIR² IS THE LEAP PAD</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07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2563EB"/>
                </a:solidFill>
                <a:latin typeface="Courier New" pitchFamily="34" charset="0"/>
                <a:ea typeface="Courier New" pitchFamily="34" charset="-122"/>
                <a:cs typeface="Courier New" pitchFamily="34" charset="-120"/>
              </a:rPr>
              <a:t>THE HOST</a:t>
            </a:r>
            <a:endParaRPr lang="en-US" sz="2100" dirty="0"/>
          </a:p>
        </p:txBody>
      </p:sp>
      <p:sp>
        <p:nvSpPr>
          <p:cNvPr id="10" name="Text 7"/>
          <p:cNvSpPr/>
          <p:nvPr/>
        </p:nvSpPr>
        <p:spPr>
          <a:xfrm>
            <a:off x="952500" y="2105025"/>
            <a:ext cx="16678275" cy="1318022"/>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171717"/>
                </a:solidFill>
                <a:latin typeface="Arial" pitchFamily="34" charset="0"/>
                <a:ea typeface="Arial" pitchFamily="34" charset="-122"/>
                <a:cs typeface="Arial" pitchFamily="34" charset="-120"/>
              </a:rPr>
              <a:t>AIR²'s charter removes the three things that force teams back to augmented.</a:t>
            </a:r>
            <a:endParaRPr lang="en-US" sz="4800" dirty="0"/>
          </a:p>
        </p:txBody>
      </p:sp>
      <p:sp>
        <p:nvSpPr>
          <p:cNvPr id="11" name="Shape 8"/>
          <p:cNvSpPr/>
          <p:nvPr/>
        </p:nvSpPr>
        <p:spPr>
          <a:xfrm>
            <a:off x="952500" y="3842147"/>
            <a:ext cx="5283101" cy="3114377"/>
          </a:xfrm>
          <a:prstGeom prst="rect">
            <a:avLst/>
          </a:prstGeom>
          <a:solidFill>
            <a:srgbClr val="FFFFFF"/>
          </a:solidFill>
          <a:ln w="9525">
            <a:solidFill>
              <a:srgbClr val="D4D4D0"/>
            </a:solidFill>
            <a:prstDash val="solid"/>
          </a:ln>
        </p:spPr>
        <p:txBody>
          <a:bodyPr/>
          <a:lstStyle/>
          <a:p>
            <a:endParaRPr lang="en-IL"/>
          </a:p>
        </p:txBody>
      </p:sp>
      <p:sp>
        <p:nvSpPr>
          <p:cNvPr id="12" name="Shape 9"/>
          <p:cNvSpPr/>
          <p:nvPr/>
        </p:nvSpPr>
        <p:spPr>
          <a:xfrm>
            <a:off x="942975" y="3832622"/>
            <a:ext cx="541139" cy="409575"/>
          </a:xfrm>
          <a:prstGeom prst="rect">
            <a:avLst/>
          </a:prstGeom>
          <a:solidFill>
            <a:srgbClr val="171717"/>
          </a:solidFill>
          <a:ln/>
        </p:spPr>
        <p:txBody>
          <a:bodyPr/>
          <a:lstStyle/>
          <a:p>
            <a:endParaRPr lang="en-IL"/>
          </a:p>
        </p:txBody>
      </p:sp>
      <p:sp>
        <p:nvSpPr>
          <p:cNvPr id="13" name="Text 10"/>
          <p:cNvSpPr/>
          <p:nvPr/>
        </p:nvSpPr>
        <p:spPr>
          <a:xfrm>
            <a:off x="1057275" y="3889772"/>
            <a:ext cx="388739"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AFAF7"/>
                </a:solidFill>
                <a:latin typeface="Courier New" pitchFamily="34" charset="0"/>
                <a:ea typeface="Courier New" pitchFamily="34" charset="-122"/>
                <a:cs typeface="Courier New" pitchFamily="34" charset="-120"/>
              </a:rPr>
              <a:t>0 1</a:t>
            </a:r>
            <a:endParaRPr lang="en-US" sz="1800" dirty="0"/>
          </a:p>
        </p:txBody>
      </p:sp>
      <p:sp>
        <p:nvSpPr>
          <p:cNvPr id="14" name="Text 11"/>
          <p:cNvSpPr/>
          <p:nvPr/>
        </p:nvSpPr>
        <p:spPr>
          <a:xfrm>
            <a:off x="1266825" y="4308872"/>
            <a:ext cx="4794084"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LEGACY</a:t>
            </a:r>
            <a:endParaRPr lang="en-US" sz="2100" dirty="0"/>
          </a:p>
        </p:txBody>
      </p:sp>
      <p:sp>
        <p:nvSpPr>
          <p:cNvPr id="15" name="Text 12"/>
          <p:cNvSpPr/>
          <p:nvPr/>
        </p:nvSpPr>
        <p:spPr>
          <a:xfrm>
            <a:off x="1266825" y="4756547"/>
            <a:ext cx="4794084" cy="1001911"/>
          </a:xfrm>
          <a:prstGeom prst="rect">
            <a:avLst/>
          </a:prstGeom>
          <a:noFill/>
          <a:ln/>
        </p:spPr>
        <p:txBody>
          <a:bodyPr wrap="square" lIns="25400" tIns="25400" rIns="25400" bIns="25400" rtlCol="0" anchor="t">
            <a:normAutofit/>
          </a:bodyPr>
          <a:lstStyle/>
          <a:p>
            <a:pPr marL="0" indent="0" algn="l">
              <a:lnSpc>
                <a:spcPct val="115000"/>
              </a:lnSpc>
              <a:buNone/>
            </a:pPr>
            <a:r>
              <a:rPr lang="en-US" sz="3300" b="1" dirty="0">
                <a:solidFill>
                  <a:srgbClr val="171717"/>
                </a:solidFill>
                <a:latin typeface="Arial" pitchFamily="34" charset="0"/>
                <a:ea typeface="Arial" pitchFamily="34" charset="-122"/>
                <a:cs typeface="Arial" pitchFamily="34" charset="-120"/>
              </a:rPr>
              <a:t>No Payoneer-stack dependency</a:t>
            </a:r>
            <a:endParaRPr lang="en-US" sz="3300" dirty="0"/>
          </a:p>
        </p:txBody>
      </p:sp>
      <p:sp>
        <p:nvSpPr>
          <p:cNvPr id="16" name="Text 13"/>
          <p:cNvSpPr/>
          <p:nvPr/>
        </p:nvSpPr>
        <p:spPr>
          <a:xfrm>
            <a:off x="1266825" y="5853708"/>
            <a:ext cx="4794084" cy="86469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Agents can redesign the environment without blockers.</a:t>
            </a:r>
            <a:endParaRPr lang="en-US" sz="2100" dirty="0"/>
          </a:p>
        </p:txBody>
      </p:sp>
      <p:sp>
        <p:nvSpPr>
          <p:cNvPr id="17" name="Shape 14"/>
          <p:cNvSpPr/>
          <p:nvPr/>
        </p:nvSpPr>
        <p:spPr>
          <a:xfrm>
            <a:off x="6502301" y="3842147"/>
            <a:ext cx="5283250" cy="3114377"/>
          </a:xfrm>
          <a:prstGeom prst="rect">
            <a:avLst/>
          </a:prstGeom>
          <a:solidFill>
            <a:srgbClr val="FFFFFF"/>
          </a:solidFill>
          <a:ln w="9525">
            <a:solidFill>
              <a:srgbClr val="D4D4D0"/>
            </a:solidFill>
            <a:prstDash val="solid"/>
          </a:ln>
        </p:spPr>
        <p:txBody>
          <a:bodyPr/>
          <a:lstStyle/>
          <a:p>
            <a:endParaRPr lang="en-IL"/>
          </a:p>
        </p:txBody>
      </p:sp>
      <p:sp>
        <p:nvSpPr>
          <p:cNvPr id="18" name="Shape 15"/>
          <p:cNvSpPr/>
          <p:nvPr/>
        </p:nvSpPr>
        <p:spPr>
          <a:xfrm>
            <a:off x="6492776" y="3832622"/>
            <a:ext cx="541139" cy="409575"/>
          </a:xfrm>
          <a:prstGeom prst="rect">
            <a:avLst/>
          </a:prstGeom>
          <a:solidFill>
            <a:srgbClr val="171717"/>
          </a:solidFill>
          <a:ln/>
        </p:spPr>
        <p:txBody>
          <a:bodyPr/>
          <a:lstStyle/>
          <a:p>
            <a:endParaRPr lang="en-IL"/>
          </a:p>
        </p:txBody>
      </p:sp>
      <p:sp>
        <p:nvSpPr>
          <p:cNvPr id="19" name="Text 16"/>
          <p:cNvSpPr/>
          <p:nvPr/>
        </p:nvSpPr>
        <p:spPr>
          <a:xfrm>
            <a:off x="6607076" y="3889772"/>
            <a:ext cx="388739"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AFAF7"/>
                </a:solidFill>
                <a:latin typeface="Courier New" pitchFamily="34" charset="0"/>
                <a:ea typeface="Courier New" pitchFamily="34" charset="-122"/>
                <a:cs typeface="Courier New" pitchFamily="34" charset="-120"/>
              </a:rPr>
              <a:t>0 2</a:t>
            </a:r>
            <a:endParaRPr lang="en-US" sz="1800" dirty="0"/>
          </a:p>
        </p:txBody>
      </p:sp>
      <p:sp>
        <p:nvSpPr>
          <p:cNvPr id="20" name="Text 17"/>
          <p:cNvSpPr/>
          <p:nvPr/>
        </p:nvSpPr>
        <p:spPr>
          <a:xfrm>
            <a:off x="6816626" y="4308872"/>
            <a:ext cx="4794238"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BLAST RADIUS</a:t>
            </a:r>
            <a:endParaRPr lang="en-US" sz="2100" dirty="0"/>
          </a:p>
        </p:txBody>
      </p:sp>
      <p:sp>
        <p:nvSpPr>
          <p:cNvPr id="21" name="Text 18"/>
          <p:cNvSpPr/>
          <p:nvPr/>
        </p:nvSpPr>
        <p:spPr>
          <a:xfrm>
            <a:off x="6816626" y="4756547"/>
            <a:ext cx="4794238" cy="520005"/>
          </a:xfrm>
          <a:prstGeom prst="rect">
            <a:avLst/>
          </a:prstGeom>
          <a:noFill/>
          <a:ln/>
        </p:spPr>
        <p:txBody>
          <a:bodyPr wrap="square" lIns="25400" tIns="25400" rIns="25400" bIns="25400" rtlCol="0" anchor="t">
            <a:normAutofit/>
          </a:bodyPr>
          <a:lstStyle/>
          <a:p>
            <a:pPr marL="0" indent="0" algn="l">
              <a:lnSpc>
                <a:spcPct val="115000"/>
              </a:lnSpc>
              <a:buNone/>
            </a:pPr>
            <a:r>
              <a:rPr lang="en-US" sz="3300" b="1" dirty="0">
                <a:solidFill>
                  <a:srgbClr val="171717"/>
                </a:solidFill>
                <a:latin typeface="Arial" pitchFamily="34" charset="0"/>
                <a:ea typeface="Arial" pitchFamily="34" charset="-122"/>
                <a:cs typeface="Arial" pitchFamily="34" charset="-120"/>
              </a:rPr>
              <a:t>Bounded by charter</a:t>
            </a:r>
            <a:endParaRPr lang="en-US" sz="3300" dirty="0"/>
          </a:p>
        </p:txBody>
      </p:sp>
      <p:sp>
        <p:nvSpPr>
          <p:cNvPr id="22" name="Text 19"/>
          <p:cNvSpPr/>
          <p:nvPr/>
        </p:nvSpPr>
        <p:spPr>
          <a:xfrm>
            <a:off x="6816626" y="5371802"/>
            <a:ext cx="4794238" cy="86469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Fast Keep/Toss cycles tolerate the unavoidable agent-led mistakes.</a:t>
            </a:r>
            <a:endParaRPr lang="en-US" sz="2100" dirty="0"/>
          </a:p>
        </p:txBody>
      </p:sp>
      <p:sp>
        <p:nvSpPr>
          <p:cNvPr id="23" name="Shape 20"/>
          <p:cNvSpPr/>
          <p:nvPr/>
        </p:nvSpPr>
        <p:spPr>
          <a:xfrm>
            <a:off x="12052250" y="3842147"/>
            <a:ext cx="5283250" cy="3114377"/>
          </a:xfrm>
          <a:prstGeom prst="rect">
            <a:avLst/>
          </a:prstGeom>
          <a:solidFill>
            <a:srgbClr val="FFFFFF"/>
          </a:solidFill>
          <a:ln w="9525">
            <a:solidFill>
              <a:srgbClr val="D4D4D0"/>
            </a:solidFill>
            <a:prstDash val="solid"/>
          </a:ln>
        </p:spPr>
        <p:txBody>
          <a:bodyPr/>
          <a:lstStyle/>
          <a:p>
            <a:endParaRPr lang="en-IL"/>
          </a:p>
        </p:txBody>
      </p:sp>
      <p:sp>
        <p:nvSpPr>
          <p:cNvPr id="24" name="Shape 21"/>
          <p:cNvSpPr/>
          <p:nvPr/>
        </p:nvSpPr>
        <p:spPr>
          <a:xfrm>
            <a:off x="12042725" y="3832622"/>
            <a:ext cx="541139" cy="409575"/>
          </a:xfrm>
          <a:prstGeom prst="rect">
            <a:avLst/>
          </a:prstGeom>
          <a:solidFill>
            <a:srgbClr val="171717"/>
          </a:solidFill>
          <a:ln/>
        </p:spPr>
        <p:txBody>
          <a:bodyPr/>
          <a:lstStyle/>
          <a:p>
            <a:endParaRPr lang="en-IL"/>
          </a:p>
        </p:txBody>
      </p:sp>
      <p:sp>
        <p:nvSpPr>
          <p:cNvPr id="25" name="Text 22"/>
          <p:cNvSpPr/>
          <p:nvPr/>
        </p:nvSpPr>
        <p:spPr>
          <a:xfrm>
            <a:off x="12157025" y="3889772"/>
            <a:ext cx="388739" cy="333375"/>
          </a:xfrm>
          <a:prstGeom prst="rect">
            <a:avLst/>
          </a:prstGeom>
          <a:noFill/>
          <a:ln/>
        </p:spPr>
        <p:txBody>
          <a:bodyPr wrap="square" lIns="25400" tIns="25400" rIns="25400" bIns="25400" rtlCol="0" anchor="t">
            <a:normAutofit/>
          </a:bodyPr>
          <a:lstStyle/>
          <a:p>
            <a:pPr marL="0" indent="0" algn="l">
              <a:buNone/>
            </a:pPr>
            <a:r>
              <a:rPr lang="en-US" sz="1800" b="1" kern="0" spc="150" dirty="0">
                <a:solidFill>
                  <a:srgbClr val="FAFAF7"/>
                </a:solidFill>
                <a:latin typeface="Courier New" pitchFamily="34" charset="0"/>
                <a:ea typeface="Courier New" pitchFamily="34" charset="-122"/>
                <a:cs typeface="Courier New" pitchFamily="34" charset="-120"/>
              </a:rPr>
              <a:t>0 3</a:t>
            </a:r>
            <a:endParaRPr lang="en-US" sz="1800" dirty="0"/>
          </a:p>
        </p:txBody>
      </p:sp>
      <p:sp>
        <p:nvSpPr>
          <p:cNvPr id="26" name="Text 23"/>
          <p:cNvSpPr/>
          <p:nvPr/>
        </p:nvSpPr>
        <p:spPr>
          <a:xfrm>
            <a:off x="12366575" y="4308872"/>
            <a:ext cx="4794238"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SHIPPING</a:t>
            </a:r>
            <a:endParaRPr lang="en-US" sz="2100" dirty="0"/>
          </a:p>
        </p:txBody>
      </p:sp>
      <p:sp>
        <p:nvSpPr>
          <p:cNvPr id="27" name="Text 24"/>
          <p:cNvSpPr/>
          <p:nvPr/>
        </p:nvSpPr>
        <p:spPr>
          <a:xfrm>
            <a:off x="12366575" y="4756547"/>
            <a:ext cx="4794238" cy="1001911"/>
          </a:xfrm>
          <a:prstGeom prst="rect">
            <a:avLst/>
          </a:prstGeom>
          <a:noFill/>
          <a:ln/>
        </p:spPr>
        <p:txBody>
          <a:bodyPr wrap="square" lIns="25400" tIns="25400" rIns="25400" bIns="25400" rtlCol="0" anchor="t">
            <a:normAutofit/>
          </a:bodyPr>
          <a:lstStyle/>
          <a:p>
            <a:pPr marL="0" indent="0" algn="l">
              <a:lnSpc>
                <a:spcPct val="115000"/>
              </a:lnSpc>
              <a:buNone/>
            </a:pPr>
            <a:r>
              <a:rPr lang="en-US" sz="3300" b="1" dirty="0">
                <a:solidFill>
                  <a:srgbClr val="171717"/>
                </a:solidFill>
                <a:latin typeface="Arial" pitchFamily="34" charset="0"/>
                <a:ea typeface="Arial" pitchFamily="34" charset="-122"/>
                <a:cs typeface="Arial" pitchFamily="34" charset="-120"/>
              </a:rPr>
              <a:t>Real production, real cycles</a:t>
            </a:r>
            <a:endParaRPr lang="en-US" sz="3300" dirty="0"/>
          </a:p>
        </p:txBody>
      </p:sp>
      <p:sp>
        <p:nvSpPr>
          <p:cNvPr id="28" name="Text 25"/>
          <p:cNvSpPr/>
          <p:nvPr/>
        </p:nvSpPr>
        <p:spPr>
          <a:xfrm>
            <a:off x="12366575" y="5853708"/>
            <a:ext cx="4794238" cy="864691"/>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The forcing function only bites if code actually ships.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AFAF7"/>
          </a:solidFill>
          <a:ln/>
        </p:spPr>
        <p:txBody>
          <a:bodyPr/>
          <a:lstStyle/>
          <a:p>
            <a:endParaRPr lang="en-IL"/>
          </a:p>
        </p:txBody>
      </p:sp>
      <p:sp>
        <p:nvSpPr>
          <p:cNvPr id="3" name="Shape 1"/>
          <p:cNvSpPr/>
          <p:nvPr/>
        </p:nvSpPr>
        <p:spPr>
          <a:xfrm>
            <a:off x="0" y="0"/>
            <a:ext cx="18288000" cy="800100"/>
          </a:xfrm>
          <a:prstGeom prst="rect">
            <a:avLst/>
          </a:prstGeom>
          <a:solidFill>
            <a:srgbClr val="FAFAF7"/>
          </a:solidFill>
          <a:ln/>
        </p:spPr>
        <p:txBody>
          <a:bodyPr/>
          <a:lstStyle/>
          <a:p>
            <a:endParaRPr lang="en-IL"/>
          </a:p>
        </p:txBody>
      </p:sp>
      <p:sp>
        <p:nvSpPr>
          <p:cNvPr id="4" name="Shape 2"/>
          <p:cNvSpPr/>
          <p:nvPr/>
        </p:nvSpPr>
        <p:spPr>
          <a:xfrm>
            <a:off x="0" y="790575"/>
            <a:ext cx="18288000" cy="9525"/>
          </a:xfrm>
          <a:prstGeom prst="rect">
            <a:avLst/>
          </a:prstGeom>
          <a:solidFill>
            <a:srgbClr val="D4D4D0"/>
          </a:solidFill>
          <a:ln/>
        </p:spPr>
        <p:txBody>
          <a:bodyPr/>
          <a:lstStyle/>
          <a:p>
            <a:endParaRPr lang="en-IL"/>
          </a:p>
        </p:txBody>
      </p:sp>
      <p:pic>
        <p:nvPicPr>
          <p:cNvPr id="5" name="Image 0" descr="preencoded.png"/>
          <p:cNvPicPr>
            <a:picLocks noChangeAspect="1"/>
          </p:cNvPicPr>
          <p:nvPr/>
        </p:nvPicPr>
        <p:blipFill>
          <a:blip r:embed="rId3"/>
          <a:stretch>
            <a:fillRect/>
          </a:stretch>
        </p:blipFill>
        <p:spPr>
          <a:xfrm>
            <a:off x="952500" y="261937"/>
            <a:ext cx="1373386" cy="266700"/>
          </a:xfrm>
          <a:prstGeom prst="rect">
            <a:avLst/>
          </a:prstGeom>
        </p:spPr>
      </p:pic>
      <p:sp>
        <p:nvSpPr>
          <p:cNvPr id="6" name="Text 3"/>
          <p:cNvSpPr/>
          <p:nvPr/>
        </p:nvSpPr>
        <p:spPr>
          <a:xfrm>
            <a:off x="2497336" y="266700"/>
            <a:ext cx="3120278" cy="295275"/>
          </a:xfrm>
          <a:prstGeom prst="rect">
            <a:avLst/>
          </a:prstGeom>
          <a:noFill/>
          <a:ln/>
        </p:spPr>
        <p:txBody>
          <a:bodyPr wrap="square" lIns="25400" tIns="25400" rIns="25400" bIns="25400" rtlCol="0" anchor="t">
            <a:normAutofit/>
          </a:bodyPr>
          <a:lstStyle/>
          <a:p>
            <a:pPr marL="0" indent="0" algn="l">
              <a:buNone/>
            </a:pPr>
            <a:r>
              <a:rPr lang="en-US" sz="1800" kern="0" spc="113" dirty="0">
                <a:solidFill>
                  <a:srgbClr val="9A9A97"/>
                </a:solidFill>
                <a:latin typeface="Courier New" pitchFamily="34" charset="0"/>
                <a:ea typeface="Courier New" pitchFamily="34" charset="-122"/>
                <a:cs typeface="Courier New" pitchFamily="34" charset="-120"/>
              </a:rPr>
              <a:t>/ AI-NATIVE PROPOSAL</a:t>
            </a:r>
            <a:endParaRPr lang="en-US" sz="1800" dirty="0"/>
          </a:p>
        </p:txBody>
      </p:sp>
      <p:sp>
        <p:nvSpPr>
          <p:cNvPr id="7" name="Text 4"/>
          <p:cNvSpPr/>
          <p:nvPr/>
        </p:nvSpPr>
        <p:spPr>
          <a:xfrm>
            <a:off x="5404956" y="247650"/>
            <a:ext cx="8361978" cy="333375"/>
          </a:xfrm>
          <a:prstGeom prst="rect">
            <a:avLst/>
          </a:prstGeom>
          <a:noFill/>
          <a:ln/>
        </p:spPr>
        <p:txBody>
          <a:bodyPr wrap="square" lIns="25400" tIns="25400" rIns="25400" bIns="25400" rtlCol="0" anchor="t">
            <a:normAutofit/>
          </a:bodyPr>
          <a:lstStyle/>
          <a:p>
            <a:pPr marL="0" indent="0" algn="ctr">
              <a:buNone/>
            </a:pPr>
            <a:r>
              <a:rPr lang="en-US" sz="1800" b="1" kern="0" spc="113" dirty="0">
                <a:solidFill>
                  <a:srgbClr val="2563EB"/>
                </a:solidFill>
                <a:latin typeface="Courier New" pitchFamily="34" charset="0"/>
                <a:ea typeface="Courier New" pitchFamily="34" charset="-122"/>
                <a:cs typeface="Courier New" pitchFamily="34" charset="-120"/>
              </a:rPr>
              <a:t>§07 </a:t>
            </a:r>
            <a:r>
              <a:rPr lang="en-US" sz="1800" kern="0" spc="113" dirty="0">
                <a:solidFill>
                  <a:srgbClr val="6B7280"/>
                </a:solidFill>
                <a:latin typeface="Courier New" pitchFamily="34" charset="0"/>
                <a:ea typeface="Courier New" pitchFamily="34" charset="-122"/>
                <a:cs typeface="Courier New" pitchFamily="34" charset="-120"/>
              </a:rPr>
              <a:t>— </a:t>
            </a:r>
            <a:r>
              <a:rPr lang="en-US" sz="1800" kern="0" spc="113" dirty="0">
                <a:solidFill>
                  <a:srgbClr val="171717"/>
                </a:solidFill>
                <a:latin typeface="Courier New" pitchFamily="34" charset="0"/>
                <a:ea typeface="Courier New" pitchFamily="34" charset="-122"/>
                <a:cs typeface="Courier New" pitchFamily="34" charset="-120"/>
              </a:rPr>
              <a:t>WHAT IS ALSO TRUE</a:t>
            </a:r>
            <a:endParaRPr lang="en-US" sz="1800" dirty="0"/>
          </a:p>
        </p:txBody>
      </p:sp>
      <p:sp>
        <p:nvSpPr>
          <p:cNvPr id="8" name="Text 5"/>
          <p:cNvSpPr/>
          <p:nvPr/>
        </p:nvSpPr>
        <p:spPr>
          <a:xfrm>
            <a:off x="13534448" y="266700"/>
            <a:ext cx="3801052" cy="295275"/>
          </a:xfrm>
          <a:prstGeom prst="rect">
            <a:avLst/>
          </a:prstGeom>
          <a:noFill/>
          <a:ln/>
        </p:spPr>
        <p:txBody>
          <a:bodyPr wrap="square" lIns="25400" tIns="25400" rIns="25400" bIns="25400" rtlCol="0" anchor="t">
            <a:normAutofit/>
          </a:bodyPr>
          <a:lstStyle/>
          <a:p>
            <a:pPr marL="0" indent="0" algn="r">
              <a:buNone/>
            </a:pPr>
            <a:r>
              <a:rPr lang="en-US" sz="1800" kern="0" spc="113" dirty="0">
                <a:solidFill>
                  <a:srgbClr val="6B7280"/>
                </a:solidFill>
                <a:latin typeface="Courier New" pitchFamily="34" charset="0"/>
                <a:ea typeface="Courier New" pitchFamily="34" charset="-122"/>
                <a:cs typeface="Courier New" pitchFamily="34" charset="-120"/>
              </a:rPr>
              <a:t>08 / 08</a:t>
            </a:r>
            <a:endParaRPr lang="en-US" sz="1800" dirty="0"/>
          </a:p>
        </p:txBody>
      </p:sp>
      <p:sp>
        <p:nvSpPr>
          <p:cNvPr id="9" name="Text 6"/>
          <p:cNvSpPr/>
          <p:nvPr/>
        </p:nvSpPr>
        <p:spPr>
          <a:xfrm>
            <a:off x="952500" y="1562100"/>
            <a:ext cx="16874490" cy="390525"/>
          </a:xfrm>
          <a:prstGeom prst="rect">
            <a:avLst/>
          </a:prstGeom>
          <a:noFill/>
          <a:ln/>
        </p:spPr>
        <p:txBody>
          <a:bodyPr wrap="square" lIns="25400" tIns="25400" rIns="25400" bIns="25400" rtlCol="0" anchor="t">
            <a:normAutofit/>
          </a:bodyPr>
          <a:lstStyle/>
          <a:p>
            <a:pPr marL="0" indent="0" algn="l">
              <a:buNone/>
            </a:pPr>
            <a:r>
              <a:rPr lang="en-US" sz="2100" kern="0" spc="225" dirty="0">
                <a:solidFill>
                  <a:srgbClr val="171717"/>
                </a:solidFill>
                <a:latin typeface="Courier New" pitchFamily="34" charset="0"/>
                <a:ea typeface="Courier New" pitchFamily="34" charset="-122"/>
                <a:cs typeface="Courier New" pitchFamily="34" charset="-120"/>
              </a:rPr>
              <a:t>HONEST DISCLOSURE</a:t>
            </a:r>
            <a:endParaRPr lang="en-US" sz="2100" dirty="0"/>
          </a:p>
        </p:txBody>
      </p:sp>
      <p:sp>
        <p:nvSpPr>
          <p:cNvPr id="10" name="Text 7"/>
          <p:cNvSpPr/>
          <p:nvPr/>
        </p:nvSpPr>
        <p:spPr>
          <a:xfrm>
            <a:off x="952500" y="2105025"/>
            <a:ext cx="16678275" cy="1318022"/>
          </a:xfrm>
          <a:prstGeom prst="rect">
            <a:avLst/>
          </a:prstGeom>
          <a:noFill/>
          <a:ln/>
        </p:spPr>
        <p:txBody>
          <a:bodyPr wrap="square" lIns="25400" tIns="25400" rIns="25400" bIns="25400" rtlCol="0" anchor="t">
            <a:normAutofit/>
          </a:bodyPr>
          <a:lstStyle/>
          <a:p>
            <a:pPr marL="0" indent="0" algn="l">
              <a:lnSpc>
                <a:spcPct val="105000"/>
              </a:lnSpc>
              <a:buNone/>
            </a:pPr>
            <a:r>
              <a:rPr lang="en-US" sz="4800" b="1" kern="0" spc="-112" dirty="0">
                <a:solidFill>
                  <a:srgbClr val="171717"/>
                </a:solidFill>
                <a:latin typeface="Arial" pitchFamily="34" charset="0"/>
                <a:ea typeface="Arial" pitchFamily="34" charset="-122"/>
                <a:cs typeface="Arial" pitchFamily="34" charset="-120"/>
              </a:rPr>
              <a:t>This is a bet. AIR² is the cheapest place to run it.</a:t>
            </a:r>
            <a:endParaRPr lang="en-US" sz="4800" dirty="0"/>
          </a:p>
        </p:txBody>
      </p:sp>
      <p:sp>
        <p:nvSpPr>
          <p:cNvPr id="11" name="Shape 8"/>
          <p:cNvSpPr/>
          <p:nvPr/>
        </p:nvSpPr>
        <p:spPr>
          <a:xfrm>
            <a:off x="952500" y="3842147"/>
            <a:ext cx="8759130" cy="4144714"/>
          </a:xfrm>
          <a:prstGeom prst="rect">
            <a:avLst/>
          </a:prstGeom>
          <a:solidFill>
            <a:srgbClr val="FFFFFF"/>
          </a:solidFill>
          <a:ln w="9525">
            <a:solidFill>
              <a:srgbClr val="D4D4D0"/>
            </a:solidFill>
            <a:prstDash val="solid"/>
          </a:ln>
        </p:spPr>
        <p:txBody>
          <a:bodyPr/>
          <a:lstStyle/>
          <a:p>
            <a:endParaRPr lang="en-IL"/>
          </a:p>
        </p:txBody>
      </p:sp>
      <p:sp>
        <p:nvSpPr>
          <p:cNvPr id="12" name="Text 9"/>
          <p:cNvSpPr/>
          <p:nvPr/>
        </p:nvSpPr>
        <p:spPr>
          <a:xfrm>
            <a:off x="1304925" y="4156472"/>
            <a:ext cx="8295909"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6B7280"/>
                </a:solidFill>
                <a:latin typeface="Courier New" pitchFamily="34" charset="0"/>
                <a:ea typeface="Courier New" pitchFamily="34" charset="-122"/>
                <a:cs typeface="Courier New" pitchFamily="34" charset="-120"/>
              </a:rPr>
              <a:t>CAVEAT — THE EVIDENCE IS FROM LABS</a:t>
            </a:r>
            <a:endParaRPr lang="en-US" sz="2100" dirty="0"/>
          </a:p>
        </p:txBody>
      </p:sp>
      <p:sp>
        <p:nvSpPr>
          <p:cNvPr id="13" name="Text 10"/>
          <p:cNvSpPr/>
          <p:nvPr/>
        </p:nvSpPr>
        <p:spPr>
          <a:xfrm>
            <a:off x="1304925" y="4661297"/>
            <a:ext cx="8295909" cy="1277987"/>
          </a:xfrm>
          <a:prstGeom prst="rect">
            <a:avLst/>
          </a:prstGeom>
          <a:noFill/>
          <a:ln/>
        </p:spPr>
        <p:txBody>
          <a:bodyPr wrap="square" lIns="25400" tIns="25400" rIns="25400" bIns="25400" rtlCol="0" anchor="t">
            <a:normAutofit/>
          </a:bodyPr>
          <a:lstStyle/>
          <a:p>
            <a:pPr marL="0" indent="0" algn="l">
              <a:lnSpc>
                <a:spcPct val="155000"/>
              </a:lnSpc>
              <a:buNone/>
            </a:pPr>
            <a:r>
              <a:rPr lang="en-US" sz="2100" dirty="0">
                <a:solidFill>
                  <a:srgbClr val="3A3A38"/>
                </a:solidFill>
                <a:latin typeface="Arial" pitchFamily="34" charset="0"/>
                <a:ea typeface="Arial" pitchFamily="34" charset="-122"/>
                <a:cs typeface="Arial" pitchFamily="34" charset="-120"/>
              </a:rPr>
              <a:t>Frontier signal comes from AI labs building AI products. Payoneer is neither. The pattern may not transfer cleanly to a regulated payments domain.</a:t>
            </a:r>
            <a:endParaRPr lang="en-US" sz="2100" dirty="0"/>
          </a:p>
        </p:txBody>
      </p:sp>
      <p:sp>
        <p:nvSpPr>
          <p:cNvPr id="14" name="Shape 11"/>
          <p:cNvSpPr/>
          <p:nvPr/>
        </p:nvSpPr>
        <p:spPr>
          <a:xfrm>
            <a:off x="1304925" y="6091684"/>
            <a:ext cx="8054280" cy="1580852"/>
          </a:xfrm>
          <a:prstGeom prst="rect">
            <a:avLst/>
          </a:prstGeom>
          <a:solidFill>
            <a:srgbClr val="F0EFE9"/>
          </a:solidFill>
          <a:ln/>
        </p:spPr>
        <p:txBody>
          <a:bodyPr/>
          <a:lstStyle/>
          <a:p>
            <a:endParaRPr lang="en-IL"/>
          </a:p>
        </p:txBody>
      </p:sp>
      <p:sp>
        <p:nvSpPr>
          <p:cNvPr id="15" name="Shape 12"/>
          <p:cNvSpPr/>
          <p:nvPr/>
        </p:nvSpPr>
        <p:spPr>
          <a:xfrm>
            <a:off x="1304925" y="6091684"/>
            <a:ext cx="38100" cy="1580852"/>
          </a:xfrm>
          <a:prstGeom prst="rect">
            <a:avLst/>
          </a:prstGeom>
          <a:solidFill>
            <a:srgbClr val="171717"/>
          </a:solidFill>
          <a:ln/>
        </p:spPr>
        <p:txBody>
          <a:bodyPr/>
          <a:lstStyle/>
          <a:p>
            <a:endParaRPr lang="en-IL"/>
          </a:p>
        </p:txBody>
      </p:sp>
      <p:sp>
        <p:nvSpPr>
          <p:cNvPr id="16" name="Text 13"/>
          <p:cNvSpPr/>
          <p:nvPr/>
        </p:nvSpPr>
        <p:spPr>
          <a:xfrm>
            <a:off x="1552575" y="6263134"/>
            <a:ext cx="7824993" cy="392311"/>
          </a:xfrm>
          <a:prstGeom prst="rect">
            <a:avLst/>
          </a:prstGeom>
          <a:noFill/>
          <a:ln/>
        </p:spPr>
        <p:txBody>
          <a:bodyPr wrap="square" lIns="25400" tIns="25400" rIns="25400" bIns="25400" rtlCol="0" anchor="t">
            <a:normAutofit/>
          </a:bodyPr>
          <a:lstStyle/>
          <a:p>
            <a:pPr marL="0" indent="0" algn="l">
              <a:lnSpc>
                <a:spcPct val="155000"/>
              </a:lnSpc>
              <a:buNone/>
            </a:pPr>
            <a:r>
              <a:rPr lang="en-US" sz="1800" kern="0" spc="150" dirty="0">
                <a:solidFill>
                  <a:srgbClr val="6B7280"/>
                </a:solidFill>
                <a:latin typeface="Courier New" pitchFamily="34" charset="0"/>
                <a:ea typeface="Courier New" pitchFamily="34" charset="-122"/>
                <a:cs typeface="Courier New" pitchFamily="34" charset="-120"/>
              </a:rPr>
              <a:t>OUR COMMITMENT</a:t>
            </a:r>
            <a:endParaRPr lang="en-US" sz="1800" dirty="0"/>
          </a:p>
        </p:txBody>
      </p:sp>
      <p:sp>
        <p:nvSpPr>
          <p:cNvPr id="17" name="Text 14"/>
          <p:cNvSpPr/>
          <p:nvPr/>
        </p:nvSpPr>
        <p:spPr>
          <a:xfrm>
            <a:off x="1552575" y="6731645"/>
            <a:ext cx="7589228" cy="746671"/>
          </a:xfrm>
          <a:prstGeom prst="rect">
            <a:avLst/>
          </a:prstGeom>
          <a:noFill/>
          <a:ln/>
        </p:spPr>
        <p:txBody>
          <a:bodyPr wrap="square" lIns="0" tIns="0" rIns="0" bIns="0" rtlCol="0" anchor="t">
            <a:normAutofit/>
          </a:bodyPr>
          <a:lstStyle/>
          <a:p>
            <a:pPr marL="0" indent="0" algn="l">
              <a:lnSpc>
                <a:spcPct val="155000"/>
              </a:lnSpc>
              <a:buNone/>
            </a:pPr>
            <a:r>
              <a:rPr lang="en-US" sz="2100" dirty="0">
                <a:solidFill>
                  <a:srgbClr val="171717"/>
                </a:solidFill>
                <a:latin typeface="Arial" pitchFamily="34" charset="0"/>
                <a:ea typeface="Arial" pitchFamily="34" charset="-122"/>
                <a:cs typeface="Arial" pitchFamily="34" charset="-120"/>
              </a:rPr>
              <a:t>If the pattern breaks on a real Payoneer domain, we revise the thesis and say so — publicly.</a:t>
            </a:r>
            <a:endParaRPr lang="en-US" sz="2100" dirty="0"/>
          </a:p>
        </p:txBody>
      </p:sp>
      <p:sp>
        <p:nvSpPr>
          <p:cNvPr id="18" name="Text 15"/>
          <p:cNvSpPr/>
          <p:nvPr/>
        </p:nvSpPr>
        <p:spPr>
          <a:xfrm>
            <a:off x="10168830" y="3842147"/>
            <a:ext cx="7381670" cy="390525"/>
          </a:xfrm>
          <a:prstGeom prst="rect">
            <a:avLst/>
          </a:prstGeom>
          <a:noFill/>
          <a:ln/>
        </p:spPr>
        <p:txBody>
          <a:bodyPr wrap="square" lIns="25400" tIns="25400" rIns="25400" bIns="25400" rtlCol="0" anchor="t">
            <a:normAutofit/>
          </a:bodyPr>
          <a:lstStyle/>
          <a:p>
            <a:pPr marL="0" indent="0" algn="l">
              <a:buNone/>
            </a:pPr>
            <a:r>
              <a:rPr lang="en-US" sz="2100" b="1" kern="0" spc="225" dirty="0">
                <a:solidFill>
                  <a:srgbClr val="2563EB"/>
                </a:solidFill>
                <a:latin typeface="Courier New" pitchFamily="34" charset="0"/>
                <a:ea typeface="Courier New" pitchFamily="34" charset="-122"/>
                <a:cs typeface="Courier New" pitchFamily="34" charset="-120"/>
              </a:rPr>
              <a:t>THE STRUCTURE OF THE BET</a:t>
            </a:r>
            <a:endParaRPr lang="en-US" sz="2100" dirty="0"/>
          </a:p>
        </p:txBody>
      </p:sp>
      <p:sp>
        <p:nvSpPr>
          <p:cNvPr id="19" name="Shape 16"/>
          <p:cNvSpPr/>
          <p:nvPr/>
        </p:nvSpPr>
        <p:spPr>
          <a:xfrm>
            <a:off x="10168830" y="5004197"/>
            <a:ext cx="7166670" cy="9525"/>
          </a:xfrm>
          <a:prstGeom prst="rect">
            <a:avLst/>
          </a:prstGeom>
          <a:solidFill>
            <a:srgbClr val="D4D4D0"/>
          </a:solidFill>
          <a:ln/>
        </p:spPr>
        <p:txBody>
          <a:bodyPr/>
          <a:lstStyle/>
          <a:p>
            <a:endParaRPr lang="en-IL"/>
          </a:p>
        </p:txBody>
      </p:sp>
      <p:sp>
        <p:nvSpPr>
          <p:cNvPr id="20" name="Text 17"/>
          <p:cNvSpPr/>
          <p:nvPr/>
        </p:nvSpPr>
        <p:spPr>
          <a:xfrm>
            <a:off x="10168830" y="4499372"/>
            <a:ext cx="2171700" cy="390525"/>
          </a:xfrm>
          <a:prstGeom prst="rect">
            <a:avLst/>
          </a:prstGeom>
          <a:noFill/>
          <a:ln/>
        </p:spPr>
        <p:txBody>
          <a:bodyPr wrap="square" lIns="25400" tIns="25400" rIns="25400" bIns="25400" rtlCol="0" anchor="t">
            <a:normAutofit/>
          </a:bodyPr>
          <a:lstStyle/>
          <a:p>
            <a:pPr marL="0" indent="0" algn="l">
              <a:buNone/>
            </a:pPr>
            <a:r>
              <a:rPr lang="en-US" sz="2100" b="1" kern="0" spc="75" dirty="0">
                <a:solidFill>
                  <a:srgbClr val="171717"/>
                </a:solidFill>
                <a:latin typeface="Courier New" pitchFamily="34" charset="0"/>
                <a:ea typeface="Courier New" pitchFamily="34" charset="-122"/>
                <a:cs typeface="Courier New" pitchFamily="34" charset="-120"/>
              </a:rPr>
              <a:t>Cheapest</a:t>
            </a:r>
            <a:endParaRPr lang="en-US" sz="2100" dirty="0"/>
          </a:p>
        </p:txBody>
      </p:sp>
      <p:sp>
        <p:nvSpPr>
          <p:cNvPr id="21" name="Text 18"/>
          <p:cNvSpPr/>
          <p:nvPr/>
        </p:nvSpPr>
        <p:spPr>
          <a:xfrm>
            <a:off x="12454830" y="4537472"/>
            <a:ext cx="502709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3A3A38"/>
                </a:solidFill>
                <a:latin typeface="Arial" pitchFamily="34" charset="0"/>
                <a:ea typeface="Arial" pitchFamily="34" charset="-122"/>
                <a:cs typeface="Arial" pitchFamily="34" charset="-120"/>
              </a:rPr>
              <a:t>experiments would have run anyway</a:t>
            </a:r>
            <a:endParaRPr lang="en-US" sz="2100" dirty="0"/>
          </a:p>
        </p:txBody>
      </p:sp>
      <p:sp>
        <p:nvSpPr>
          <p:cNvPr id="22" name="Shape 19"/>
          <p:cNvSpPr/>
          <p:nvPr/>
        </p:nvSpPr>
        <p:spPr>
          <a:xfrm>
            <a:off x="10168830" y="5670947"/>
            <a:ext cx="7166670" cy="9525"/>
          </a:xfrm>
          <a:prstGeom prst="rect">
            <a:avLst/>
          </a:prstGeom>
          <a:solidFill>
            <a:srgbClr val="D4D4D0"/>
          </a:solidFill>
          <a:ln/>
        </p:spPr>
        <p:txBody>
          <a:bodyPr/>
          <a:lstStyle/>
          <a:p>
            <a:endParaRPr lang="en-IL"/>
          </a:p>
        </p:txBody>
      </p:sp>
      <p:sp>
        <p:nvSpPr>
          <p:cNvPr id="23" name="Text 20"/>
          <p:cNvSpPr/>
          <p:nvPr/>
        </p:nvSpPr>
        <p:spPr>
          <a:xfrm>
            <a:off x="10168830" y="5166122"/>
            <a:ext cx="2171700" cy="390525"/>
          </a:xfrm>
          <a:prstGeom prst="rect">
            <a:avLst/>
          </a:prstGeom>
          <a:noFill/>
          <a:ln/>
        </p:spPr>
        <p:txBody>
          <a:bodyPr wrap="square" lIns="25400" tIns="25400" rIns="25400" bIns="25400" rtlCol="0" anchor="t">
            <a:normAutofit/>
          </a:bodyPr>
          <a:lstStyle/>
          <a:p>
            <a:pPr marL="0" indent="0" algn="l">
              <a:buNone/>
            </a:pPr>
            <a:r>
              <a:rPr lang="en-US" sz="2100" b="1" kern="0" spc="75" dirty="0">
                <a:solidFill>
                  <a:srgbClr val="171717"/>
                </a:solidFill>
                <a:latin typeface="Courier New" pitchFamily="34" charset="0"/>
                <a:ea typeface="Courier New" pitchFamily="34" charset="-122"/>
                <a:cs typeface="Courier New" pitchFamily="34" charset="-120"/>
              </a:rPr>
              <a:t>Safest</a:t>
            </a:r>
            <a:endParaRPr lang="en-US" sz="2100" dirty="0"/>
          </a:p>
        </p:txBody>
      </p:sp>
      <p:sp>
        <p:nvSpPr>
          <p:cNvPr id="24" name="Text 21"/>
          <p:cNvSpPr/>
          <p:nvPr/>
        </p:nvSpPr>
        <p:spPr>
          <a:xfrm>
            <a:off x="12454830" y="5204222"/>
            <a:ext cx="502709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3A3A38"/>
                </a:solidFill>
                <a:latin typeface="Arial" pitchFamily="34" charset="0"/>
                <a:ea typeface="Arial" pitchFamily="34" charset="-122"/>
                <a:cs typeface="Arial" pitchFamily="34" charset="-120"/>
              </a:rPr>
              <a:t>no legacy coupling, bounded blast radius</a:t>
            </a:r>
            <a:endParaRPr lang="en-US" sz="2100" dirty="0"/>
          </a:p>
        </p:txBody>
      </p:sp>
      <p:sp>
        <p:nvSpPr>
          <p:cNvPr id="25" name="Shape 22"/>
          <p:cNvSpPr/>
          <p:nvPr/>
        </p:nvSpPr>
        <p:spPr>
          <a:xfrm>
            <a:off x="10168830" y="6690122"/>
            <a:ext cx="7166670" cy="9525"/>
          </a:xfrm>
          <a:prstGeom prst="rect">
            <a:avLst/>
          </a:prstGeom>
          <a:solidFill>
            <a:srgbClr val="D4D4D0"/>
          </a:solidFill>
          <a:ln/>
        </p:spPr>
        <p:txBody>
          <a:bodyPr/>
          <a:lstStyle/>
          <a:p>
            <a:endParaRPr lang="en-IL"/>
          </a:p>
        </p:txBody>
      </p:sp>
      <p:sp>
        <p:nvSpPr>
          <p:cNvPr id="26" name="Text 23"/>
          <p:cNvSpPr/>
          <p:nvPr/>
        </p:nvSpPr>
        <p:spPr>
          <a:xfrm>
            <a:off x="10168830" y="5832872"/>
            <a:ext cx="2171700" cy="742950"/>
          </a:xfrm>
          <a:prstGeom prst="rect">
            <a:avLst/>
          </a:prstGeom>
          <a:noFill/>
          <a:ln/>
        </p:spPr>
        <p:txBody>
          <a:bodyPr wrap="square" lIns="25400" tIns="25400" rIns="25400" bIns="25400" rtlCol="0" anchor="t">
            <a:normAutofit/>
          </a:bodyPr>
          <a:lstStyle/>
          <a:p>
            <a:pPr marL="0" indent="0" algn="l">
              <a:buNone/>
            </a:pPr>
            <a:r>
              <a:rPr lang="en-US" sz="2100" b="1" kern="0" spc="75" dirty="0">
                <a:solidFill>
                  <a:srgbClr val="171717"/>
                </a:solidFill>
                <a:latin typeface="Courier New" pitchFamily="34" charset="0"/>
                <a:ea typeface="Courier New" pitchFamily="34" charset="-122"/>
                <a:cs typeface="Courier New" pitchFamily="34" charset="-120"/>
              </a:rPr>
              <a:t>Fastest feedback</a:t>
            </a:r>
            <a:endParaRPr lang="en-US" sz="2100" dirty="0"/>
          </a:p>
        </p:txBody>
      </p:sp>
      <p:sp>
        <p:nvSpPr>
          <p:cNvPr id="27" name="Text 24"/>
          <p:cNvSpPr/>
          <p:nvPr/>
        </p:nvSpPr>
        <p:spPr>
          <a:xfrm>
            <a:off x="12454830" y="5870972"/>
            <a:ext cx="502709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3A3A38"/>
                </a:solidFill>
                <a:latin typeface="Arial" pitchFamily="34" charset="0"/>
                <a:ea typeface="Arial" pitchFamily="34" charset="-122"/>
                <a:cs typeface="Arial" pitchFamily="34" charset="-120"/>
              </a:rPr>
              <a:t>Keep/Toss cycle tells us quickly</a:t>
            </a:r>
            <a:endParaRPr lang="en-US" sz="2100" dirty="0"/>
          </a:p>
        </p:txBody>
      </p:sp>
      <p:sp>
        <p:nvSpPr>
          <p:cNvPr id="28" name="Shape 25"/>
          <p:cNvSpPr/>
          <p:nvPr/>
        </p:nvSpPr>
        <p:spPr>
          <a:xfrm>
            <a:off x="10168830" y="7356872"/>
            <a:ext cx="7166670" cy="9525"/>
          </a:xfrm>
          <a:prstGeom prst="rect">
            <a:avLst/>
          </a:prstGeom>
          <a:solidFill>
            <a:srgbClr val="D4D4D0"/>
          </a:solidFill>
          <a:ln/>
        </p:spPr>
        <p:txBody>
          <a:bodyPr/>
          <a:lstStyle/>
          <a:p>
            <a:endParaRPr lang="en-IL"/>
          </a:p>
        </p:txBody>
      </p:sp>
      <p:sp>
        <p:nvSpPr>
          <p:cNvPr id="29" name="Text 26"/>
          <p:cNvSpPr/>
          <p:nvPr/>
        </p:nvSpPr>
        <p:spPr>
          <a:xfrm>
            <a:off x="10168830" y="6852047"/>
            <a:ext cx="2171700" cy="390525"/>
          </a:xfrm>
          <a:prstGeom prst="rect">
            <a:avLst/>
          </a:prstGeom>
          <a:noFill/>
          <a:ln/>
        </p:spPr>
        <p:txBody>
          <a:bodyPr wrap="square" lIns="25400" tIns="25400" rIns="25400" bIns="25400" rtlCol="0" anchor="t">
            <a:normAutofit/>
          </a:bodyPr>
          <a:lstStyle/>
          <a:p>
            <a:pPr marL="0" indent="0" algn="l">
              <a:buNone/>
            </a:pPr>
            <a:r>
              <a:rPr lang="en-US" sz="2100" b="1" kern="0" spc="75" dirty="0">
                <a:solidFill>
                  <a:srgbClr val="171717"/>
                </a:solidFill>
                <a:latin typeface="Courier New" pitchFamily="34" charset="0"/>
                <a:ea typeface="Courier New" pitchFamily="34" charset="-122"/>
                <a:cs typeface="Courier New" pitchFamily="34" charset="-120"/>
              </a:rPr>
              <a:t>Reversible</a:t>
            </a:r>
            <a:endParaRPr lang="en-US" sz="2100" dirty="0"/>
          </a:p>
        </p:txBody>
      </p:sp>
      <p:sp>
        <p:nvSpPr>
          <p:cNvPr id="30" name="Text 27"/>
          <p:cNvSpPr/>
          <p:nvPr/>
        </p:nvSpPr>
        <p:spPr>
          <a:xfrm>
            <a:off x="12454830" y="6890147"/>
            <a:ext cx="502709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3A3A38"/>
                </a:solidFill>
                <a:latin typeface="Arial" pitchFamily="34" charset="0"/>
                <a:ea typeface="Arial" pitchFamily="34" charset="-122"/>
                <a:cs typeface="Arial" pitchFamily="34" charset="-120"/>
              </a:rPr>
              <a:t>if it breaks, we revise and say so</a:t>
            </a:r>
            <a:endParaRPr lang="en-US" sz="2100" dirty="0"/>
          </a:p>
        </p:txBody>
      </p:sp>
      <p:sp>
        <p:nvSpPr>
          <p:cNvPr id="31" name="Text 28"/>
          <p:cNvSpPr/>
          <p:nvPr/>
        </p:nvSpPr>
        <p:spPr>
          <a:xfrm>
            <a:off x="952500" y="9229725"/>
            <a:ext cx="3505044" cy="333375"/>
          </a:xfrm>
          <a:prstGeom prst="rect">
            <a:avLst/>
          </a:prstGeom>
          <a:noFill/>
          <a:ln/>
        </p:spPr>
        <p:txBody>
          <a:bodyPr wrap="square" lIns="25400" tIns="25400" rIns="25400" bIns="25400" rtlCol="0" anchor="t">
            <a:normAutofit/>
          </a:bodyPr>
          <a:lstStyle/>
          <a:p>
            <a:pPr marL="0" indent="0" algn="l">
              <a:buNone/>
            </a:pPr>
            <a:r>
              <a:rPr lang="en-US" sz="2100" kern="0" spc="150" dirty="0">
                <a:solidFill>
                  <a:srgbClr val="6B7280"/>
                </a:solidFill>
                <a:latin typeface="Courier New" pitchFamily="34" charset="0"/>
                <a:ea typeface="Courier New" pitchFamily="34" charset="-122"/>
                <a:cs typeface="Courier New" pitchFamily="34" charset="-120"/>
              </a:rPr>
              <a:t>— END OF PROPOSAL —</a:t>
            </a:r>
            <a:endParaRPr lang="en-US" sz="2100" dirty="0"/>
          </a:p>
        </p:txBody>
      </p:sp>
      <p:sp>
        <p:nvSpPr>
          <p:cNvPr id="32" name="Text 29"/>
          <p:cNvSpPr/>
          <p:nvPr/>
        </p:nvSpPr>
        <p:spPr>
          <a:xfrm>
            <a:off x="12499777" y="9229725"/>
            <a:ext cx="4980795" cy="333375"/>
          </a:xfrm>
          <a:prstGeom prst="rect">
            <a:avLst/>
          </a:prstGeom>
          <a:noFill/>
          <a:ln/>
        </p:spPr>
        <p:txBody>
          <a:bodyPr wrap="square" lIns="25400" tIns="25400" rIns="25400" bIns="25400" rtlCol="0" anchor="t">
            <a:normAutofit/>
          </a:bodyPr>
          <a:lstStyle/>
          <a:p>
            <a:pPr marL="0" indent="0" algn="l">
              <a:buNone/>
            </a:pPr>
            <a:r>
              <a:rPr lang="en-US" sz="2100" kern="0" spc="150" dirty="0">
                <a:solidFill>
                  <a:srgbClr val="6B7280"/>
                </a:solidFill>
                <a:latin typeface="Courier New" pitchFamily="34" charset="0"/>
                <a:ea typeface="Courier New" pitchFamily="34" charset="-122"/>
                <a:cs typeface="Courier New" pitchFamily="34" charset="-120"/>
              </a:rPr>
              <a:t>YONATAN ORPELI · APRIL 2026</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cee90c-ce03-461e-8c21-dd538e181c75}" enabled="0" method="" siteId="{decee90c-ce03-461e-8c21-dd538e181c75}" removed="1"/>
</clbl:labelList>
</file>

<file path=docProps/app.xml><?xml version="1.0" encoding="utf-8"?>
<Properties xmlns="http://schemas.openxmlformats.org/officeDocument/2006/extended-properties" xmlns:vt="http://schemas.openxmlformats.org/officeDocument/2006/docPropsVTypes">
  <TotalTime>13</TotalTime>
  <Words>843</Words>
  <Application>Microsoft Macintosh PowerPoint</Application>
  <PresentationFormat>Custom</PresentationFormat>
  <Paragraphs>194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Yonatan Orpeli</cp:lastModifiedBy>
  <cp:revision>1</cp:revision>
  <dcterms:created xsi:type="dcterms:W3CDTF">2026-04-20T04:35:14Z</dcterms:created>
  <dcterms:modified xsi:type="dcterms:W3CDTF">2026-05-29T09:06:01Z</dcterms:modified>
</cp:coreProperties>
</file>